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1FA6B-4206-42A7-96C1-E0191236FE7C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839E7-13EE-4E38-8476-80EB99054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2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표지</a:t>
            </a:r>
            <a:r>
              <a:rPr lang="en-US" altLang="ko-KR"/>
              <a:t>. </a:t>
            </a:r>
            <a:r>
              <a:rPr lang="ko-KR" altLang="en-US"/>
              <a:t>팀 나무</a:t>
            </a:r>
            <a:r>
              <a:rPr lang="en-US" altLang="ko-KR"/>
              <a:t>: </a:t>
            </a:r>
            <a:r>
              <a:rPr lang="ko-KR" altLang="en-US"/>
              <a:t>김동훈</a:t>
            </a:r>
            <a:r>
              <a:rPr lang="en-US" altLang="ko-KR"/>
              <a:t>·</a:t>
            </a:r>
            <a:r>
              <a:rPr lang="ko-KR" altLang="en-US"/>
              <a:t>나선엽</a:t>
            </a:r>
            <a:r>
              <a:rPr lang="en-US" altLang="ko-KR"/>
              <a:t>·</a:t>
            </a:r>
            <a:r>
              <a:rPr lang="ko-KR" altLang="en-US"/>
              <a:t>이승혁</a:t>
            </a:r>
            <a:r>
              <a:rPr lang="en-US" altLang="ko-KR"/>
              <a:t>·</a:t>
            </a:r>
            <a:r>
              <a:rPr lang="ko-KR" altLang="en-US"/>
              <a:t>정다현</a:t>
            </a:r>
            <a:r>
              <a:rPr lang="en-US" altLang="ko-KR"/>
              <a:t>.
</a:t>
            </a:r>
            <a:r>
              <a:rPr lang="ko-KR" altLang="en-US"/>
              <a:t>오른쪽 그래프는 실제 월별 급식카드 결제 건수</a:t>
            </a:r>
            <a:r>
              <a:rPr lang="en-US" altLang="ko-KR"/>
              <a:t>(2</a:t>
            </a:r>
            <a:r>
              <a:rPr lang="ko-KR" altLang="en-US"/>
              <a:t>차 반출</a:t>
            </a:r>
            <a:r>
              <a:rPr lang="en-US" altLang="ko-KR"/>
              <a:t>). </a:t>
            </a:r>
            <a:r>
              <a:rPr lang="ko-KR" altLang="en-US"/>
              <a:t>레드 </a:t>
            </a:r>
            <a:r>
              <a:rPr lang="en-US" altLang="ko-KR"/>
              <a:t>= </a:t>
            </a:r>
            <a:r>
              <a:rPr lang="ko-KR" altLang="en-US"/>
              <a:t>방학 달</a:t>
            </a:r>
            <a:r>
              <a:rPr lang="en-US" altLang="ko-KR"/>
              <a:t>. </a:t>
            </a:r>
            <a:r>
              <a:rPr lang="ko-KR" altLang="en-US"/>
              <a:t>첫 발견</a:t>
            </a:r>
            <a:r>
              <a:rPr lang="en-US" altLang="ko-KR"/>
              <a:t>: </a:t>
            </a:r>
            <a:r>
              <a:rPr lang="ko-KR" altLang="en-US"/>
              <a:t>결제가 방학에 몰림</a:t>
            </a:r>
            <a:r>
              <a:rPr lang="en-US" altLang="ko-KR"/>
              <a:t>.
</a:t>
            </a:r>
            <a:r>
              <a:rPr lang="ko-KR" altLang="en-US"/>
              <a:t>분석 코드와 문서</a:t>
            </a:r>
            <a:r>
              <a:rPr lang="en-US" altLang="ko-KR"/>
              <a:t>, </a:t>
            </a:r>
            <a:r>
              <a:rPr lang="ko-KR" altLang="en-US"/>
              <a:t>작업 기록은 모두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288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 장 요약</a:t>
            </a:r>
            <a:r>
              <a:rPr lang="en-US" altLang="ko-KR"/>
              <a:t>. </a:t>
            </a:r>
            <a:r>
              <a:rPr lang="ko-KR" altLang="en-US"/>
              <a:t>결론</a:t>
            </a:r>
            <a:r>
              <a:rPr lang="en-US" altLang="ko-KR"/>
              <a:t>: </a:t>
            </a:r>
            <a:r>
              <a:rPr lang="ko-KR" altLang="en-US"/>
              <a:t>가게를 더 모으는 것보다 방학마다 덜 쓰는 동을 판정해 필요한 몇 곳에 해결방안을 모으는 장치</a:t>
            </a:r>
            <a:r>
              <a:rPr lang="en-US" altLang="ko-KR"/>
              <a:t>.
</a:t>
            </a:r>
            <a:r>
              <a:rPr lang="ko-KR" altLang="en-US"/>
              <a:t>숫자 셋</a:t>
            </a:r>
            <a:r>
              <a:rPr lang="en-US" altLang="ko-KR"/>
              <a:t>: </a:t>
            </a:r>
            <a:r>
              <a:rPr lang="ko-KR" altLang="en-US"/>
              <a:t>가게는 이미 </a:t>
            </a:r>
            <a:r>
              <a:rPr lang="en-US" altLang="ko-KR"/>
              <a:t>99.9%</a:t>
            </a:r>
            <a:r>
              <a:rPr lang="ko-KR" altLang="en-US"/>
              <a:t>의 아이에게 닿음</a:t>
            </a:r>
            <a:r>
              <a:rPr lang="en-US" altLang="ko-KR"/>
              <a:t>(</a:t>
            </a:r>
            <a:r>
              <a:rPr lang="ko-KR" altLang="en-US"/>
              <a:t>모집 효과 </a:t>
            </a:r>
            <a:r>
              <a:rPr lang="en-US" altLang="ko-KR"/>
              <a:t>0), </a:t>
            </a:r>
            <a:r>
              <a:rPr lang="ko-KR" altLang="en-US"/>
              <a:t>겉보기 부족분의 </a:t>
            </a:r>
            <a:r>
              <a:rPr lang="en-US" altLang="ko-KR"/>
              <a:t>65%</a:t>
            </a:r>
            <a:r>
              <a:rPr lang="ko-KR" altLang="en-US"/>
              <a:t>는 사각지대가 아닌 곳</a:t>
            </a:r>
            <a:r>
              <a:rPr lang="en-US" altLang="ko-KR"/>
              <a:t>, </a:t>
            </a:r>
            <a:r>
              <a:rPr lang="ko-KR" altLang="en-US"/>
              <a:t>개선이 필요한 곳은 </a:t>
            </a:r>
            <a:r>
              <a:rPr lang="en-US" altLang="ko-KR"/>
              <a:t>4</a:t>
            </a:r>
            <a:r>
              <a:rPr lang="ko-KR" altLang="en-US"/>
              <a:t>개 동</a:t>
            </a:r>
            <a:r>
              <a:rPr lang="en-US" altLang="ko-KR"/>
              <a:t>.
</a:t>
            </a:r>
            <a:r>
              <a:rPr lang="ko-KR" altLang="en-US"/>
              <a:t>해결방안 셋</a:t>
            </a:r>
            <a:r>
              <a:rPr lang="en-US" altLang="ko-KR"/>
              <a:t>: </a:t>
            </a:r>
            <a:r>
              <a:rPr lang="ko-KR" altLang="en-US"/>
              <a:t>방학 정기 배달편</a:t>
            </a:r>
            <a:r>
              <a:rPr lang="en-US" altLang="ko-KR"/>
              <a:t>, </a:t>
            </a:r>
            <a:r>
              <a:rPr lang="ko-KR" altLang="en-US"/>
              <a:t>앱 목록 면제 표시</a:t>
            </a:r>
            <a:r>
              <a:rPr lang="en-US" altLang="ko-KR"/>
              <a:t>, </a:t>
            </a:r>
            <a:r>
              <a:rPr lang="ko-KR" altLang="en-US"/>
              <a:t>운영사 협약에 점검표 조항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069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배경</a:t>
            </a:r>
            <a:r>
              <a:rPr lang="en-US" altLang="ko-KR"/>
              <a:t>. 2023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월부터 대구로 앱에서 급식카드 배달 결제가 된다</a:t>
            </a:r>
            <a:r>
              <a:rPr lang="en-US" altLang="ko-KR"/>
              <a:t>.
</a:t>
            </a:r>
            <a:r>
              <a:rPr lang="ko-KR" altLang="en-US"/>
              <a:t>지원 구조</a:t>
            </a:r>
            <a:r>
              <a:rPr lang="en-US" altLang="ko-KR"/>
              <a:t>: </a:t>
            </a:r>
            <a:r>
              <a:rPr lang="ko-KR" altLang="en-US"/>
              <a:t>끼니를 골라 신청</a:t>
            </a:r>
            <a:r>
              <a:rPr lang="en-US" altLang="ko-KR"/>
              <a:t>, </a:t>
            </a:r>
            <a:r>
              <a:rPr lang="ko-KR" altLang="en-US"/>
              <a:t>결제는 하루 한도로만 막힘</a:t>
            </a:r>
            <a:r>
              <a:rPr lang="en-US" altLang="ko-KR"/>
              <a:t>, 2026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끼 </a:t>
            </a:r>
            <a:r>
              <a:rPr lang="en-US" altLang="ko-KR"/>
              <a:t>1</a:t>
            </a:r>
            <a:r>
              <a:rPr lang="ko-KR" altLang="en-US"/>
              <a:t>만 원</a:t>
            </a:r>
            <a:r>
              <a:rPr lang="en-US" altLang="ko-KR"/>
              <a:t>(</a:t>
            </a:r>
            <a:r>
              <a:rPr lang="ko-KR" altLang="en-US"/>
              <a:t>구청</a:t>
            </a:r>
            <a:r>
              <a:rPr lang="en-US" altLang="ko-KR"/>
              <a:t>·</a:t>
            </a:r>
            <a:r>
              <a:rPr lang="ko-KR" altLang="en-US"/>
              <a:t>시청 확인</a:t>
            </a:r>
            <a:r>
              <a:rPr lang="en-US" altLang="ko-KR"/>
              <a:t>).
</a:t>
            </a:r>
            <a:r>
              <a:rPr lang="ko-KR" altLang="en-US"/>
              <a:t>기존 평가는 가맹점 수였다</a:t>
            </a:r>
            <a:r>
              <a:rPr lang="en-US" altLang="ko-KR"/>
              <a:t>. </a:t>
            </a:r>
            <a:r>
              <a:rPr lang="ko-KR" altLang="en-US"/>
              <a:t>우리는 결제 로그로 실제 주문이 일어나는지를 동 단위로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0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질문을 세 축으로 나눈다</a:t>
            </a:r>
            <a:r>
              <a:rPr lang="en-US" altLang="ko-KR"/>
              <a:t>. </a:t>
            </a:r>
            <a:r>
              <a:rPr lang="ko-KR" altLang="en-US"/>
              <a:t>시간</a:t>
            </a:r>
            <a:r>
              <a:rPr lang="en-US" altLang="ko-KR"/>
              <a:t>(</a:t>
            </a:r>
            <a:r>
              <a:rPr lang="ko-KR" altLang="en-US"/>
              <a:t>언제</a:t>
            </a:r>
            <a:r>
              <a:rPr lang="en-US" altLang="ko-KR"/>
              <a:t>), </a:t>
            </a:r>
            <a:r>
              <a:rPr lang="ko-KR" altLang="en-US"/>
              <a:t>공간</a:t>
            </a:r>
            <a:r>
              <a:rPr lang="en-US" altLang="ko-KR"/>
              <a:t>(</a:t>
            </a:r>
            <a:r>
              <a:rPr lang="ko-KR" altLang="en-US"/>
              <a:t>어디서</a:t>
            </a:r>
            <a:r>
              <a:rPr lang="en-US" altLang="ko-KR"/>
              <a:t>), </a:t>
            </a:r>
            <a:r>
              <a:rPr lang="ko-KR" altLang="en-US"/>
              <a:t>제도</a:t>
            </a:r>
            <a:r>
              <a:rPr lang="en-US" altLang="ko-KR"/>
              <a:t>(</a:t>
            </a:r>
            <a:r>
              <a:rPr lang="ko-KR" altLang="en-US"/>
              <a:t>무엇이 막나</a:t>
            </a:r>
            <a:r>
              <a:rPr lang="en-US" altLang="ko-KR"/>
              <a:t>).
</a:t>
            </a:r>
            <a:r>
              <a:rPr lang="ko-KR" altLang="en-US"/>
              <a:t>분석 질문은 넷</a:t>
            </a:r>
            <a:r>
              <a:rPr lang="en-US" altLang="ko-KR"/>
              <a:t>: </a:t>
            </a:r>
            <a:r>
              <a:rPr lang="ko-KR" altLang="en-US"/>
              <a:t>언제 쓰나</a:t>
            </a:r>
            <a:r>
              <a:rPr lang="en-US" altLang="ko-KR"/>
              <a:t>, </a:t>
            </a:r>
            <a:r>
              <a:rPr lang="ko-KR" altLang="en-US"/>
              <a:t>실제로 덜 쓰는 동은 어디인가</a:t>
            </a:r>
            <a:r>
              <a:rPr lang="en-US" altLang="ko-KR"/>
              <a:t>, </a:t>
            </a:r>
            <a:r>
              <a:rPr lang="ko-KR" altLang="en-US"/>
              <a:t>왜 덜 쓰나</a:t>
            </a:r>
            <a:r>
              <a:rPr lang="en-US" altLang="ko-KR"/>
              <a:t>, </a:t>
            </a:r>
            <a:r>
              <a:rPr lang="ko-KR" altLang="en-US"/>
              <a:t>무엇을 하면 더 쓰나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783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분석은 세 단계</a:t>
            </a:r>
            <a:r>
              <a:rPr lang="en-US" altLang="ko-KR"/>
              <a:t>. </a:t>
            </a:r>
            <a:r>
              <a:rPr lang="ko-KR" altLang="en-US"/>
              <a:t>진단에서 덜 쓰는 동을 고르고</a:t>
            </a:r>
            <a:r>
              <a:rPr lang="en-US" altLang="ko-KR"/>
              <a:t>, </a:t>
            </a:r>
            <a:r>
              <a:rPr lang="ko-KR" altLang="en-US"/>
              <a:t>이유 </a:t>
            </a:r>
            <a:r>
              <a:rPr lang="en-US" altLang="ko-KR"/>
              <a:t>7</a:t>
            </a:r>
            <a:r>
              <a:rPr lang="ko-KR" altLang="en-US"/>
              <a:t>가지를 판정하고</a:t>
            </a:r>
            <a:r>
              <a:rPr lang="en-US" altLang="ko-KR"/>
              <a:t>, </a:t>
            </a:r>
            <a:r>
              <a:rPr lang="ko-KR" altLang="en-US"/>
              <a:t>유형별로 해결방안과 효과를 낸다</a:t>
            </a:r>
            <a:r>
              <a:rPr lang="en-US" altLang="ko-KR"/>
              <a:t>.
</a:t>
            </a:r>
            <a:r>
              <a:rPr lang="ko-KR" altLang="en-US"/>
              <a:t>판정 규칙은 </a:t>
            </a:r>
            <a:r>
              <a:rPr lang="en-US" altLang="ko-KR"/>
              <a:t>4</a:t>
            </a:r>
            <a:r>
              <a:rPr lang="ko-KR" altLang="en-US"/>
              <a:t>차 반출물을 보기 전에 고정했다</a:t>
            </a:r>
            <a:r>
              <a:rPr lang="en-US" altLang="ko-KR"/>
              <a:t>. </a:t>
            </a:r>
            <a:r>
              <a:rPr lang="ko-KR" altLang="en-US"/>
              <a:t>시나리오 숫자는 가정 아래 계산이라 진단 결론과 섞지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594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 연계</a:t>
            </a:r>
            <a:r>
              <a:rPr lang="en-US" altLang="ko-KR"/>
              <a:t>. </a:t>
            </a:r>
            <a:r>
              <a:rPr lang="ko-KR" altLang="en-US"/>
              <a:t>안심구역의 미개방 상호제공 데이터</a:t>
            </a:r>
            <a:r>
              <a:rPr lang="en-US" altLang="ko-KR"/>
              <a:t>(</a:t>
            </a:r>
            <a:r>
              <a:rPr lang="ko-KR" altLang="en-US"/>
              <a:t>대구로 결제</a:t>
            </a:r>
            <a:r>
              <a:rPr lang="en-US" altLang="ko-KR"/>
              <a:t>·</a:t>
            </a:r>
            <a:r>
              <a:rPr lang="ko-KR" altLang="en-US"/>
              <a:t>가맹점</a:t>
            </a:r>
            <a:r>
              <a:rPr lang="en-US" altLang="ko-KR"/>
              <a:t>·</a:t>
            </a:r>
            <a:r>
              <a:rPr lang="ko-KR" altLang="en-US"/>
              <a:t>배달</a:t>
            </a:r>
            <a:r>
              <a:rPr lang="en-US" altLang="ko-KR"/>
              <a:t>·</a:t>
            </a:r>
            <a:r>
              <a:rPr lang="ko-KR" altLang="en-US"/>
              <a:t>고객</a:t>
            </a:r>
            <a:r>
              <a:rPr lang="en-US" altLang="ko-KR"/>
              <a:t>, KCB </a:t>
            </a:r>
            <a:r>
              <a:rPr lang="ko-KR" altLang="en-US"/>
              <a:t>소득</a:t>
            </a:r>
            <a:r>
              <a:rPr lang="en-US" altLang="ko-KR"/>
              <a:t>)</a:t>
            </a:r>
            <a:r>
              <a:rPr lang="ko-KR" altLang="en-US"/>
              <a:t>에
공개 데이터</a:t>
            </a:r>
            <a:r>
              <a:rPr lang="en-US" altLang="ko-KR"/>
              <a:t>(</a:t>
            </a:r>
            <a:r>
              <a:rPr lang="ko-KR" altLang="en-US"/>
              <a:t>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경계</a:t>
            </a:r>
            <a:r>
              <a:rPr lang="en-US" altLang="ko-KR"/>
              <a:t>)</a:t>
            </a:r>
            <a:r>
              <a:rPr lang="ko-KR" altLang="en-US"/>
              <a:t>와 현장 확인</a:t>
            </a:r>
            <a:r>
              <a:rPr lang="en-US" altLang="ko-KR"/>
              <a:t>(</a:t>
            </a:r>
            <a:r>
              <a:rPr lang="ko-KR" altLang="en-US"/>
              <a:t>앱 점검</a:t>
            </a:r>
            <a:r>
              <a:rPr lang="en-US" altLang="ko-KR"/>
              <a:t>, </a:t>
            </a:r>
            <a:r>
              <a:rPr lang="ko-KR" altLang="en-US"/>
              <a:t>구청</a:t>
            </a:r>
            <a:r>
              <a:rPr lang="en-US" altLang="ko-KR"/>
              <a:t>·</a:t>
            </a:r>
            <a:r>
              <a:rPr lang="ko-KR" altLang="en-US"/>
              <a:t>시청</a:t>
            </a:r>
            <a:r>
              <a:rPr lang="en-US" altLang="ko-KR"/>
              <a:t>)</a:t>
            </a:r>
            <a:r>
              <a:rPr lang="ko-KR" altLang="en-US"/>
              <a:t>을 붙였다</a:t>
            </a:r>
            <a:r>
              <a:rPr lang="en-US" altLang="ko-KR"/>
              <a:t>.
</a:t>
            </a:r>
            <a:r>
              <a:rPr lang="ko-KR" altLang="en-US"/>
              <a:t>가맹점은 법정동</a:t>
            </a:r>
            <a:r>
              <a:rPr lang="en-US" altLang="ko-KR"/>
              <a:t>, </a:t>
            </a:r>
            <a:r>
              <a:rPr lang="ko-KR" altLang="en-US"/>
              <a:t>인구</a:t>
            </a:r>
            <a:r>
              <a:rPr lang="en-US" altLang="ko-KR"/>
              <a:t>·</a:t>
            </a:r>
            <a:r>
              <a:rPr lang="ko-KR" altLang="en-US"/>
              <a:t>소득은 행정동이라 둘을 이은 동네 묶음 </a:t>
            </a:r>
            <a:r>
              <a:rPr lang="en-US" altLang="ko-KR"/>
              <a:t>71</a:t>
            </a:r>
            <a:r>
              <a:rPr lang="ko-KR" altLang="en-US"/>
              <a:t>곳을 연결 키로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79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전처리 다섯 단계</a:t>
            </a:r>
            <a:r>
              <a:rPr lang="en-US" altLang="ko-KR"/>
              <a:t>. </a:t>
            </a:r>
            <a:r>
              <a:rPr lang="ko-KR" altLang="en-US"/>
              <a:t>급식 결제 </a:t>
            </a:r>
            <a:r>
              <a:rPr lang="en-US" altLang="ko-KR"/>
              <a:t>= </a:t>
            </a:r>
            <a:r>
              <a:rPr lang="ko-KR" altLang="en-US"/>
              <a:t>결제수단이 아동급식카드이고 결제 완료된 건</a:t>
            </a:r>
            <a:r>
              <a:rPr lang="en-US" altLang="ko-KR"/>
              <a:t>, 2023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월부터 </a:t>
            </a:r>
            <a:r>
              <a:rPr lang="en-US" altLang="ko-KR"/>
              <a:t>25</a:t>
            </a:r>
            <a:r>
              <a:rPr lang="ko-KR" altLang="en-US"/>
              <a:t>개월</a:t>
            </a:r>
            <a:r>
              <a:rPr lang="en-US" altLang="ko-KR"/>
              <a:t>.
</a:t>
            </a:r>
            <a:r>
              <a:rPr lang="ko-KR" altLang="en-US"/>
              <a:t>시기는 방학</a:t>
            </a:r>
            <a:r>
              <a:rPr lang="en-US" altLang="ko-KR"/>
              <a:t>·</a:t>
            </a:r>
            <a:r>
              <a:rPr lang="ko-KR" altLang="en-US"/>
              <a:t>전환</a:t>
            </a:r>
            <a:r>
              <a:rPr lang="en-US" altLang="ko-KR"/>
              <a:t>·</a:t>
            </a:r>
            <a:r>
              <a:rPr lang="ko-KR" altLang="en-US"/>
              <a:t>학기</a:t>
            </a:r>
            <a:r>
              <a:rPr lang="en-US" altLang="ko-KR"/>
              <a:t>. </a:t>
            </a:r>
            <a:r>
              <a:rPr lang="ko-KR" altLang="en-US"/>
              <a:t>공간은 가맹점 법정동을 행정동과 이어 동네 묶음 </a:t>
            </a:r>
            <a:r>
              <a:rPr lang="en-US" altLang="ko-KR"/>
              <a:t>71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반출 때는 작은 칸과 역산되는 칸을 가리고</a:t>
            </a:r>
            <a:r>
              <a:rPr lang="en-US" altLang="ko-KR"/>
              <a:t>, </a:t>
            </a:r>
            <a:r>
              <a:rPr lang="ko-KR" altLang="en-US"/>
              <a:t>저장 파일을 다시 읽어 자동 검사했다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166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덜 쓰는 동은 두 기준으로 고른다</a:t>
            </a:r>
            <a:r>
              <a:rPr lang="en-US" altLang="ko-KR"/>
              <a:t>. </a:t>
            </a:r>
            <a:r>
              <a:rPr lang="ko-KR" altLang="en-US"/>
              <a:t>일반 배달 대비로만 보면 직장 배달이 많은 동이 낮게 나와서</a:t>
            </a:r>
            <a:r>
              <a:rPr lang="en-US" altLang="ko-KR"/>
              <a:t>, </a:t>
            </a:r>
            <a:r>
              <a:rPr lang="ko-KR" altLang="en-US"/>
              <a:t>아이 수 대비로도 낮은 곳만 우선 점검 동네로 본다</a:t>
            </a:r>
            <a:r>
              <a:rPr lang="en-US" altLang="ko-KR"/>
              <a:t>.
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곳의 이유를 </a:t>
            </a:r>
            <a:r>
              <a:rPr lang="en-US" altLang="ko-KR"/>
              <a:t>7</a:t>
            </a:r>
            <a:r>
              <a:rPr lang="ko-KR" altLang="en-US"/>
              <a:t>가지로 판정하고</a:t>
            </a:r>
            <a:r>
              <a:rPr lang="en-US" altLang="ko-KR"/>
              <a:t>, </a:t>
            </a:r>
            <a:r>
              <a:rPr lang="ko-KR" altLang="en-US"/>
              <a:t>옆 동네에서 시키거나 필요가 적은 곳을 먼저 뺀다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164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신뢰성 장치</a:t>
            </a:r>
            <a:r>
              <a:rPr lang="en-US" altLang="ko-KR"/>
              <a:t>. </a:t>
            </a:r>
            <a:r>
              <a:rPr lang="ko-KR" altLang="en-US"/>
              <a:t>판정 규칙을 </a:t>
            </a:r>
            <a:r>
              <a:rPr lang="en-US" altLang="ko-KR"/>
              <a:t>4</a:t>
            </a:r>
            <a:r>
              <a:rPr lang="ko-KR" altLang="en-US"/>
              <a:t>차 반출물을 보기 전에 고정해 버전 기록을 남겼다</a:t>
            </a:r>
            <a:r>
              <a:rPr lang="en-US" altLang="ko-KR"/>
              <a:t>.
</a:t>
            </a:r>
            <a:r>
              <a:rPr lang="ko-KR" altLang="en-US"/>
              <a:t>센터에서 입력할 코드를 가짜 자료로 끝까지 돌려 봤고</a:t>
            </a:r>
            <a:r>
              <a:rPr lang="en-US" altLang="ko-KR"/>
              <a:t>, </a:t>
            </a:r>
            <a:r>
              <a:rPr lang="ko-KR" altLang="en-US"/>
              <a:t>반출 전에 저장 파일을 다시 읽어 가림 누락을 자동 검사했다</a:t>
            </a:r>
            <a:r>
              <a:rPr lang="en-US" altLang="ko-KR"/>
              <a:t>.
</a:t>
            </a:r>
            <a:r>
              <a:rPr lang="ko-KR" altLang="en-US"/>
              <a:t>앱 점검 중 결과를 보고 바꾼 규칙 </a:t>
            </a:r>
            <a:r>
              <a:rPr lang="en-US" altLang="ko-KR"/>
              <a:t>2</a:t>
            </a:r>
            <a:r>
              <a:rPr lang="ko-KR" altLang="en-US"/>
              <a:t>건은 바꾸기 전 결과와 함께 공개한다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968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급식카드 배달 결제의 </a:t>
            </a:r>
            <a:r>
              <a:rPr lang="en-US" altLang="ko-KR"/>
              <a:t>55%</a:t>
            </a:r>
            <a:r>
              <a:rPr lang="ko-KR" altLang="en-US"/>
              <a:t>가 방학 </a:t>
            </a:r>
            <a:r>
              <a:rPr lang="en-US" altLang="ko-KR"/>
              <a:t>6</a:t>
            </a:r>
            <a:r>
              <a:rPr lang="ko-KR" altLang="en-US"/>
              <a:t>개월에 몰린다</a:t>
            </a:r>
            <a:r>
              <a:rPr lang="en-US" altLang="ko-KR"/>
              <a:t>. </a:t>
            </a:r>
            <a:r>
              <a:rPr lang="ko-KR" altLang="en-US"/>
              <a:t>방학 월평균 이용자는 학기의 약 </a:t>
            </a:r>
            <a:r>
              <a:rPr lang="en-US" altLang="ko-KR"/>
              <a:t>4.9</a:t>
            </a:r>
            <a:r>
              <a:rPr lang="ko-KR" altLang="en-US"/>
              <a:t>배</a:t>
            </a:r>
            <a:r>
              <a:rPr lang="en-US" altLang="ko-KR"/>
              <a:t>.
</a:t>
            </a:r>
            <a:r>
              <a:rPr lang="ko-KR" altLang="en-US"/>
              <a:t>같은 기간</a:t>
            </a:r>
            <a:r>
              <a:rPr lang="en-US" altLang="ko-KR"/>
              <a:t>(2024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 → </a:t>
            </a:r>
            <a:r>
              <a:rPr lang="en-US" altLang="ko-KR"/>
              <a:t>2025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</a:t>
            </a:r>
            <a:r>
              <a:rPr lang="en-US" altLang="ko-KR"/>
              <a:t>) </a:t>
            </a:r>
            <a:r>
              <a:rPr lang="ko-KR" altLang="en-US"/>
              <a:t>아동은 </a:t>
            </a:r>
            <a:r>
              <a:rPr lang="en-US" altLang="ko-KR"/>
              <a:t>1.7% </a:t>
            </a:r>
            <a:r>
              <a:rPr lang="ko-KR" altLang="en-US"/>
              <a:t>줄었는데 아동 </a:t>
            </a:r>
            <a:r>
              <a:rPr lang="en-US" altLang="ko-KR"/>
              <a:t>1</a:t>
            </a:r>
            <a:r>
              <a:rPr lang="ko-KR" altLang="en-US"/>
              <a:t>천 명당 </a:t>
            </a:r>
            <a:r>
              <a:rPr lang="en-US" altLang="ko-KR"/>
              <a:t>1</a:t>
            </a:r>
            <a:r>
              <a:rPr lang="ko-KR" altLang="en-US"/>
              <a:t>월 이용자 수는 </a:t>
            </a:r>
            <a:r>
              <a:rPr lang="en-US" altLang="ko-KR"/>
              <a:t>13.5</a:t>
            </a:r>
            <a:r>
              <a:rPr lang="ko-KR" altLang="en-US"/>
              <a:t>명에서 </a:t>
            </a:r>
            <a:r>
              <a:rPr lang="en-US" altLang="ko-KR"/>
              <a:t>16.3</a:t>
            </a:r>
            <a:r>
              <a:rPr lang="ko-KR" altLang="en-US"/>
              <a:t>명으로 늘었다</a:t>
            </a:r>
            <a:r>
              <a:rPr lang="en-US" altLang="ko-KR"/>
              <a:t>.
</a:t>
            </a:r>
            <a:r>
              <a:rPr lang="ko-KR" altLang="en-US"/>
              <a:t>학기 평일 점심이 얇은 것은 학교급식 시간이라 사각지대가 아니라 제도의 경계로 따로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360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시간대에서 두 가지</a:t>
            </a:r>
            <a:r>
              <a:rPr lang="en-US" altLang="ko-KR"/>
              <a:t>. </a:t>
            </a:r>
            <a:r>
              <a:rPr lang="ko-KR" altLang="en-US"/>
              <a:t>급식만 </a:t>
            </a:r>
            <a:r>
              <a:rPr lang="en-US" altLang="ko-KR"/>
              <a:t>23</a:t>
            </a:r>
            <a:r>
              <a:rPr lang="ko-KR" altLang="en-US"/>
              <a:t>시에 끊긴다</a:t>
            </a:r>
            <a:r>
              <a:rPr lang="en-US" altLang="ko-KR"/>
              <a:t>: 25</a:t>
            </a:r>
            <a:r>
              <a:rPr lang="ko-KR" altLang="en-US"/>
              <a:t>개월 동안 </a:t>
            </a:r>
            <a:r>
              <a:rPr lang="en-US" altLang="ko-KR"/>
              <a:t>23</a:t>
            </a:r>
            <a:r>
              <a:rPr lang="ko-KR" altLang="en-US"/>
              <a:t>시</a:t>
            </a:r>
            <a:r>
              <a:rPr lang="en-US" altLang="ko-KR"/>
              <a:t>~05</a:t>
            </a:r>
            <a:r>
              <a:rPr lang="ko-KR" altLang="en-US"/>
              <a:t>시 급식 결제는 </a:t>
            </a:r>
            <a:r>
              <a:rPr lang="en-US" altLang="ko-KR"/>
              <a:t>11</a:t>
            </a:r>
            <a:r>
              <a:rPr lang="ko-KR" altLang="en-US"/>
              <a:t>건</a:t>
            </a:r>
            <a:r>
              <a:rPr lang="en-US" altLang="ko-KR"/>
              <a:t>, </a:t>
            </a:r>
            <a:r>
              <a:rPr lang="ko-KR" altLang="en-US"/>
              <a:t>일반은 자정에도 계속</a:t>
            </a:r>
            <a:r>
              <a:rPr lang="en-US" altLang="ko-KR"/>
              <a:t>.
</a:t>
            </a:r>
            <a:r>
              <a:rPr lang="ko-KR" altLang="en-US"/>
              <a:t>방학에는 점심 비중이 학기 </a:t>
            </a:r>
            <a:r>
              <a:rPr lang="en-US" altLang="ko-KR"/>
              <a:t>12.4%</a:t>
            </a:r>
            <a:r>
              <a:rPr lang="ko-KR" altLang="en-US"/>
              <a:t>에서 </a:t>
            </a:r>
            <a:r>
              <a:rPr lang="en-US" altLang="ko-KR"/>
              <a:t>18.6%</a:t>
            </a:r>
            <a:r>
              <a:rPr lang="ko-KR" altLang="en-US"/>
              <a:t>로 오른다</a:t>
            </a:r>
            <a:r>
              <a:rPr lang="en-US" altLang="ko-KR"/>
              <a:t>. </a:t>
            </a:r>
            <a:r>
              <a:rPr lang="ko-KR" altLang="en-US"/>
              <a:t>저녁 피크는 일반보다 얇다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094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학기에는 어느 구나 덜 쓴다</a:t>
            </a:r>
            <a:r>
              <a:rPr lang="en-US" altLang="ko-KR"/>
              <a:t>. </a:t>
            </a:r>
            <a:r>
              <a:rPr lang="ko-KR" altLang="en-US"/>
              <a:t>학기 평일 점심은 학교급식이고</a:t>
            </a:r>
            <a:r>
              <a:rPr lang="en-US" altLang="ko-KR"/>
              <a:t>, </a:t>
            </a:r>
            <a:r>
              <a:rPr lang="ko-KR" altLang="en-US"/>
              <a:t>학기에 카드를 쓰는 끼니는 평일 저녁과 주말 점심이다</a:t>
            </a:r>
            <a:r>
              <a:rPr lang="en-US" altLang="ko-KR"/>
              <a:t>(</a:t>
            </a:r>
            <a:r>
              <a:rPr lang="ko-KR" altLang="en-US"/>
              <a:t>학기 주말 점심 급식 비중이 일반의 </a:t>
            </a:r>
            <a:r>
              <a:rPr lang="en-US" altLang="ko-KR"/>
              <a:t>1.2</a:t>
            </a:r>
            <a:r>
              <a:rPr lang="ko-KR" altLang="en-US"/>
              <a:t>배</a:t>
            </a:r>
            <a:r>
              <a:rPr lang="en-US" altLang="ko-KR"/>
              <a:t>).
</a:t>
            </a:r>
            <a:r>
              <a:rPr lang="ko-KR" altLang="en-US"/>
              <a:t>그런데 같은 학기끼리 비교해도 달성군은 아동 </a:t>
            </a:r>
            <a:r>
              <a:rPr lang="en-US" altLang="ko-KR"/>
              <a:t>1</a:t>
            </a:r>
            <a:r>
              <a:rPr lang="ko-KR" altLang="en-US"/>
              <a:t>천 명당 </a:t>
            </a:r>
            <a:r>
              <a:rPr lang="en-US" altLang="ko-KR"/>
              <a:t>2.6</a:t>
            </a:r>
            <a:r>
              <a:rPr lang="ko-KR" altLang="en-US"/>
              <a:t>건으로 다른 구</a:t>
            </a:r>
            <a:r>
              <a:rPr lang="en-US" altLang="ko-KR"/>
              <a:t>(12.7~89.0</a:t>
            </a:r>
            <a:r>
              <a:rPr lang="ko-KR" altLang="en-US"/>
              <a:t>건</a:t>
            </a:r>
            <a:r>
              <a:rPr lang="en-US" altLang="ko-KR"/>
              <a:t>)</a:t>
            </a:r>
            <a:r>
              <a:rPr lang="ko-KR" altLang="en-US"/>
              <a:t>보다 훨씬 적고</a:t>
            </a:r>
            <a:r>
              <a:rPr lang="en-US" altLang="ko-KR"/>
              <a:t>, </a:t>
            </a:r>
            <a:r>
              <a:rPr lang="ko-KR" altLang="en-US"/>
              <a:t>북부 읍</a:t>
            </a:r>
            <a:r>
              <a:rPr lang="en-US" altLang="ko-KR"/>
              <a:t>(</a:t>
            </a:r>
            <a:r>
              <a:rPr lang="ko-KR" altLang="en-US"/>
              <a:t>화원</a:t>
            </a:r>
            <a:r>
              <a:rPr lang="en-US" altLang="ko-KR"/>
              <a:t>·</a:t>
            </a:r>
            <a:r>
              <a:rPr lang="ko-KR" altLang="en-US"/>
              <a:t>다사</a:t>
            </a:r>
            <a:r>
              <a:rPr lang="en-US" altLang="ko-KR"/>
              <a:t>)</a:t>
            </a:r>
            <a:r>
              <a:rPr lang="ko-KR" altLang="en-US"/>
              <a:t>도 </a:t>
            </a:r>
            <a:r>
              <a:rPr lang="en-US" altLang="ko-KR"/>
              <a:t>3.9</a:t>
            </a:r>
            <a:r>
              <a:rPr lang="ko-KR" altLang="en-US"/>
              <a:t>건이다</a:t>
            </a:r>
            <a:r>
              <a:rPr lang="en-US" altLang="ko-KR"/>
              <a:t>. </a:t>
            </a:r>
            <a:r>
              <a:rPr lang="ko-KR" altLang="en-US"/>
              <a:t>남부 </a:t>
            </a:r>
            <a:r>
              <a:rPr lang="en-US" altLang="ko-KR"/>
              <a:t>5</a:t>
            </a:r>
            <a:r>
              <a:rPr lang="ko-KR" altLang="en-US"/>
              <a:t>개 읍면은 방학의 </a:t>
            </a:r>
            <a:r>
              <a:rPr lang="en-US" altLang="ko-KR"/>
              <a:t>66~85</a:t>
            </a:r>
            <a:r>
              <a:rPr lang="ko-KR" altLang="en-US"/>
              <a:t>분의 </a:t>
            </a:r>
            <a:r>
              <a:rPr lang="en-US" altLang="ko-KR"/>
              <a:t>1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학기에 쓰는 이용자 자체가 거의 없다</a:t>
            </a:r>
            <a:r>
              <a:rPr lang="en-US" altLang="ko-KR"/>
              <a:t>.
</a:t>
            </a:r>
            <a:r>
              <a:rPr lang="ko-KR" altLang="en-US"/>
              <a:t>학교 점심으로는 설명되지 않는 군 단위 차이다</a:t>
            </a:r>
            <a:r>
              <a:rPr lang="en-US" altLang="ko-KR"/>
              <a:t>. </a:t>
            </a:r>
            <a:r>
              <a:rPr lang="ko-KR" altLang="en-US"/>
              <a:t>달성군은 여름방학 지원 대상을 따로 정해 발표한다</a:t>
            </a:r>
            <a:r>
              <a:rPr lang="en-US" altLang="ko-KR"/>
              <a:t>(2024 </a:t>
            </a:r>
            <a:r>
              <a:rPr lang="ko-KR" altLang="en-US"/>
              <a:t>보도</a:t>
            </a:r>
            <a:r>
              <a:rPr lang="en-US" altLang="ko-KR"/>
              <a:t>). </a:t>
            </a:r>
            <a:r>
              <a:rPr lang="ko-KR" altLang="en-US"/>
              <a:t>학기에 다른 경로로 먹는지</a:t>
            </a:r>
            <a:r>
              <a:rPr lang="en-US" altLang="ko-KR"/>
              <a:t>, </a:t>
            </a:r>
            <a:r>
              <a:rPr lang="ko-KR" altLang="en-US"/>
              <a:t>학기 지원이 비어 있는지는 결제 로그로 가릴 수 없어 군청 확인 항목으로 둔다</a:t>
            </a:r>
            <a:r>
              <a:rPr lang="en-US" altLang="ko-KR"/>
              <a:t>.
</a:t>
            </a:r>
            <a:r>
              <a:rPr lang="ko-KR" altLang="en-US"/>
              <a:t>그래서 ‘학기 이용 회복’ 숫자는 효과로 쓰지 않는다</a:t>
            </a:r>
            <a:r>
              <a:rPr lang="en-US" altLang="ko-KR"/>
              <a:t>. </a:t>
            </a:r>
            <a:r>
              <a:rPr lang="ko-KR" altLang="en-US"/>
              <a:t>비교 기준에 따라 대구 중앙값이면 </a:t>
            </a:r>
            <a:r>
              <a:rPr lang="en-US" altLang="ko-KR"/>
              <a:t>+39.8</a:t>
            </a:r>
            <a:r>
              <a:rPr lang="ko-KR" altLang="en-US"/>
              <a:t>명</a:t>
            </a:r>
            <a:r>
              <a:rPr lang="en-US" altLang="ko-KR"/>
              <a:t>, </a:t>
            </a:r>
            <a:r>
              <a:rPr lang="ko-KR" altLang="en-US"/>
              <a:t>달성군 북부면 </a:t>
            </a:r>
            <a:r>
              <a:rPr lang="en-US" altLang="ko-KR"/>
              <a:t>+4.8</a:t>
            </a:r>
            <a:r>
              <a:rPr lang="ko-KR" altLang="en-US"/>
              <a:t>명으로 </a:t>
            </a:r>
            <a:r>
              <a:rPr lang="en-US" altLang="ko-KR"/>
              <a:t>8</a:t>
            </a:r>
            <a:r>
              <a:rPr lang="ko-KR" altLang="en-US"/>
              <a:t>배 차이가 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82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지도</a:t>
            </a:r>
            <a:r>
              <a:rPr lang="en-US" altLang="ko-KR"/>
              <a:t>. </a:t>
            </a:r>
            <a:r>
              <a:rPr lang="ko-KR" altLang="en-US"/>
              <a:t>학기 이용은 권역 단위로 강하게 뭉친다</a:t>
            </a:r>
            <a:r>
              <a:rPr lang="en-US" altLang="ko-KR"/>
              <a:t>(I 0.53). </a:t>
            </a:r>
            <a:r>
              <a:rPr lang="ko-KR" altLang="en-US"/>
              <a:t>방학은 뭉치지 않는다</a:t>
            </a:r>
            <a:r>
              <a:rPr lang="en-US" altLang="ko-KR"/>
              <a:t>(I −0.02).
</a:t>
            </a:r>
            <a:r>
              <a:rPr lang="ko-KR" altLang="en-US"/>
              <a:t>그래서 방학 사각지대는 권역 단위 해결방안이 아니라 동 하나씩 이유를 판정해야 한다</a:t>
            </a:r>
            <a:r>
              <a:rPr lang="en-US" altLang="ko-KR"/>
              <a:t>.
</a:t>
            </a:r>
            <a:r>
              <a:rPr lang="ko-KR" altLang="en-US"/>
              <a:t>일반 배달 대비로만 고르면 달서구 서부가 낮게 나오지만 아이 수 대비로는 많이 쓰는 곳이라 걸렀다</a:t>
            </a:r>
            <a:r>
              <a:rPr lang="en-US" altLang="ko-KR"/>
              <a:t>. </a:t>
            </a:r>
            <a:r>
              <a:rPr lang="ko-KR" altLang="en-US"/>
              <a:t>이렇게 두 번째 기준으로 거른 곳이 모두 </a:t>
            </a:r>
            <a:r>
              <a:rPr lang="en-US" altLang="ko-KR"/>
              <a:t>20</a:t>
            </a:r>
            <a:r>
              <a:rPr lang="ko-KR" altLang="en-US"/>
              <a:t>곳이다</a:t>
            </a:r>
            <a:r>
              <a:rPr lang="en-US" altLang="ko-KR"/>
              <a:t>(37</a:t>
            </a:r>
            <a:r>
              <a:rPr lang="ko-KR" altLang="en-US"/>
              <a:t>곳 → </a:t>
            </a:r>
            <a:r>
              <a:rPr lang="en-US" altLang="ko-KR"/>
              <a:t>17</a:t>
            </a:r>
            <a:r>
              <a:rPr lang="ko-KR" altLang="en-US"/>
              <a:t>곳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29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선정 단계</a:t>
            </a:r>
            <a:r>
              <a:rPr lang="en-US" altLang="ko-KR"/>
              <a:t>. </a:t>
            </a:r>
            <a:r>
              <a:rPr lang="ko-KR" altLang="en-US"/>
              <a:t>비교 가능한 법정동 </a:t>
            </a:r>
            <a:r>
              <a:rPr lang="en-US" altLang="ko-KR"/>
              <a:t>181</a:t>
            </a:r>
            <a:r>
              <a:rPr lang="ko-KR" altLang="en-US"/>
              <a:t>곳 → 방학 비중 하위 </a:t>
            </a:r>
            <a:r>
              <a:rPr lang="en-US" altLang="ko-KR"/>
              <a:t>25% 37</a:t>
            </a:r>
            <a:r>
              <a:rPr lang="ko-KR" altLang="en-US"/>
              <a:t>곳 → 아이 수로 봐도 적은 우선 점검 </a:t>
            </a:r>
            <a:r>
              <a:rPr lang="en-US" altLang="ko-KR"/>
              <a:t>17</a:t>
            </a:r>
            <a:r>
              <a:rPr lang="ko-KR" altLang="en-US"/>
              <a:t>곳 → 판정 후 개선 대상 </a:t>
            </a:r>
            <a:r>
              <a:rPr lang="en-US" altLang="ko-KR"/>
              <a:t>4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재현성</a:t>
            </a:r>
            <a:r>
              <a:rPr lang="en-US" altLang="ko-KR"/>
              <a:t>: </a:t>
            </a:r>
            <a:r>
              <a:rPr lang="ko-KR" altLang="en-US"/>
              <a:t>방학 앞</a:t>
            </a:r>
            <a:r>
              <a:rPr lang="en-US" altLang="ko-KR"/>
              <a:t>·</a:t>
            </a:r>
            <a:r>
              <a:rPr lang="ko-KR" altLang="en-US"/>
              <a:t>뒤 반기의 동 순위 상관 </a:t>
            </a:r>
            <a:r>
              <a:rPr lang="en-US" altLang="ko-KR"/>
              <a:t>0.785,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 중 </a:t>
            </a:r>
            <a:r>
              <a:rPr lang="en-US" altLang="ko-KR"/>
              <a:t>13</a:t>
            </a:r>
            <a:r>
              <a:rPr lang="ko-KR" altLang="en-US"/>
              <a:t>곳은 두 반기 모두 하위 </a:t>
            </a:r>
            <a:r>
              <a:rPr lang="en-US" altLang="ko-KR"/>
              <a:t>25%.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211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공급 점검</a:t>
            </a:r>
            <a:r>
              <a:rPr lang="en-US" altLang="ko-KR"/>
              <a:t>. </a:t>
            </a:r>
            <a:r>
              <a:rPr lang="ko-KR" altLang="en-US"/>
              <a:t>방학에 실제 급식 주문을 받은 가게가 이미 도움이 필요한 정도를 반영한 아이의 </a:t>
            </a:r>
            <a:r>
              <a:rPr lang="en-US" altLang="ko-KR"/>
              <a:t>99.9%</a:t>
            </a:r>
            <a:r>
              <a:rPr lang="ko-KR" altLang="en-US"/>
              <a:t>에 닿는다</a:t>
            </a:r>
            <a:r>
              <a:rPr lang="en-US" altLang="ko-KR"/>
              <a:t>.
</a:t>
            </a:r>
            <a:r>
              <a:rPr lang="ko-KR" altLang="en-US"/>
              <a:t>등록</a:t>
            </a:r>
            <a:r>
              <a:rPr lang="en-US" altLang="ko-KR"/>
              <a:t>·</a:t>
            </a:r>
            <a:r>
              <a:rPr lang="ko-KR" altLang="en-US"/>
              <a:t>영업 중인데 급식 결제가 없는 가게도 </a:t>
            </a:r>
            <a:r>
              <a:rPr lang="en-US" altLang="ko-KR"/>
              <a:t>631</a:t>
            </a:r>
            <a:r>
              <a:rPr lang="ko-KR" altLang="en-US"/>
              <a:t>곳 있다</a:t>
            </a:r>
            <a:r>
              <a:rPr lang="en-US" altLang="ko-KR"/>
              <a:t>. </a:t>
            </a:r>
            <a:r>
              <a:rPr lang="ko-KR" altLang="en-US"/>
              <a:t>공급 부족이 아니라 이용 쪽 문제</a:t>
            </a:r>
            <a:r>
              <a:rPr lang="en-US" altLang="ko-KR"/>
              <a:t>.
</a:t>
            </a:r>
            <a:r>
              <a:rPr lang="ko-KR" altLang="en-US"/>
              <a:t>그래서 가게를 더 모으는 시나리오 </a:t>
            </a:r>
            <a:r>
              <a:rPr lang="en-US" altLang="ko-KR"/>
              <a:t>A</a:t>
            </a:r>
            <a:r>
              <a:rPr lang="ko-KR" altLang="en-US"/>
              <a:t>의 효과는 </a:t>
            </a:r>
            <a:r>
              <a:rPr lang="en-US" altLang="ko-KR"/>
              <a:t>0(</a:t>
            </a:r>
            <a:r>
              <a:rPr lang="ko-KR" altLang="en-US"/>
              <a:t>가장 후한 가정에서도 </a:t>
            </a:r>
            <a:r>
              <a:rPr lang="en-US" altLang="ko-KR"/>
              <a:t>35</a:t>
            </a:r>
            <a:r>
              <a:rPr lang="ko-KR" altLang="en-US"/>
              <a:t>명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08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판정표</a:t>
            </a:r>
            <a:r>
              <a:rPr lang="en-US" altLang="ko-KR"/>
              <a:t>.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곳마다 이유 </a:t>
            </a:r>
            <a:r>
              <a:rPr lang="en-US" altLang="ko-KR"/>
              <a:t>7</a:t>
            </a:r>
            <a:r>
              <a:rPr lang="ko-KR" altLang="en-US"/>
              <a:t>가지를 해당</a:t>
            </a:r>
            <a:r>
              <a:rPr lang="en-US" altLang="ko-KR"/>
              <a:t>·</a:t>
            </a:r>
            <a:r>
              <a:rPr lang="ko-KR" altLang="en-US"/>
              <a:t>아님</a:t>
            </a:r>
            <a:r>
              <a:rPr lang="en-US" altLang="ko-KR"/>
              <a:t>·</a:t>
            </a:r>
            <a:r>
              <a:rPr lang="ko-KR" altLang="en-US"/>
              <a:t>판단 불가로 판정했다</a:t>
            </a:r>
            <a:r>
              <a:rPr lang="en-US" altLang="ko-KR"/>
              <a:t>.
</a:t>
            </a:r>
            <a:r>
              <a:rPr lang="ko-KR" altLang="en-US"/>
              <a:t>먼저 사각지대가 아닌 곳을 뺀다</a:t>
            </a:r>
            <a:r>
              <a:rPr lang="en-US" altLang="ko-KR"/>
              <a:t>: </a:t>
            </a:r>
            <a:r>
              <a:rPr lang="ko-KR" altLang="en-US"/>
              <a:t>옆 동네 가게에서 사 먹는 곳 </a:t>
            </a:r>
            <a:r>
              <a:rPr lang="en-US" altLang="ko-KR"/>
              <a:t>5</a:t>
            </a:r>
            <a:r>
              <a:rPr lang="ko-KR" altLang="en-US"/>
              <a:t>곳</a:t>
            </a:r>
            <a:r>
              <a:rPr lang="en-US" altLang="ko-KR"/>
              <a:t>, </a:t>
            </a:r>
            <a:r>
              <a:rPr lang="ko-KR" altLang="en-US"/>
              <a:t>도움이 필요한 집이 원래 적은 곳 </a:t>
            </a:r>
            <a:r>
              <a:rPr lang="en-US" altLang="ko-KR"/>
              <a:t>5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남은 </a:t>
            </a:r>
            <a:r>
              <a:rPr lang="en-US" altLang="ko-KR"/>
              <a:t>7</a:t>
            </a:r>
            <a:r>
              <a:rPr lang="ko-KR" altLang="en-US"/>
              <a:t>곳 중 </a:t>
            </a:r>
            <a:r>
              <a:rPr lang="en-US" altLang="ko-KR"/>
              <a:t>4</a:t>
            </a:r>
            <a:r>
              <a:rPr lang="ko-KR" altLang="en-US"/>
              <a:t>곳은 배달 여건이 걸려 개선 대상</a:t>
            </a:r>
            <a:r>
              <a:rPr lang="en-US" altLang="ko-KR"/>
              <a:t>(</a:t>
            </a:r>
            <a:r>
              <a:rPr lang="ko-KR" altLang="en-US"/>
              <a:t>배달형</a:t>
            </a:r>
            <a:r>
              <a:rPr lang="en-US" altLang="ko-KR"/>
              <a:t>), 3</a:t>
            </a:r>
            <a:r>
              <a:rPr lang="ko-KR" altLang="en-US"/>
              <a:t>곳은 이유를 확정하지 못해 구청 현장 확인으로 넘긴다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8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앱 점검</a:t>
            </a:r>
            <a:r>
              <a:rPr lang="en-US" altLang="ko-KR"/>
              <a:t>. </a:t>
            </a:r>
            <a:r>
              <a:rPr lang="ko-KR" altLang="en-US"/>
              <a:t>우선 점검 </a:t>
            </a:r>
            <a:r>
              <a:rPr lang="en-US" altLang="ko-KR"/>
              <a:t>13</a:t>
            </a:r>
            <a:r>
              <a:rPr lang="ko-KR" altLang="en-US"/>
              <a:t>곳과 대조 </a:t>
            </a:r>
            <a:r>
              <a:rPr lang="en-US" altLang="ko-KR"/>
              <a:t>3</a:t>
            </a:r>
            <a:r>
              <a:rPr lang="ko-KR" altLang="en-US"/>
              <a:t>곳의 실제 주소로 ‘</a:t>
            </a:r>
            <a:r>
              <a:rPr lang="en-US" altLang="ko-KR"/>
              <a:t>1</a:t>
            </a:r>
            <a:r>
              <a:rPr lang="ko-KR" altLang="en-US"/>
              <a:t>인분’ 목록 상위 </a:t>
            </a:r>
            <a:r>
              <a:rPr lang="en-US" altLang="ko-KR"/>
              <a:t>10</a:t>
            </a:r>
            <a:r>
              <a:rPr lang="ko-KR" altLang="en-US"/>
              <a:t>곳을 기록했다</a:t>
            </a:r>
            <a:r>
              <a:rPr lang="en-US" altLang="ko-KR"/>
              <a:t>.
</a:t>
            </a:r>
            <a:r>
              <a:rPr lang="ko-KR" altLang="en-US"/>
              <a:t>급식카드로 주문하면 최소주문을 면제하는 가게가 있지만</a:t>
            </a:r>
            <a:r>
              <a:rPr lang="en-US" altLang="ko-KR"/>
              <a:t>, </a:t>
            </a:r>
            <a:r>
              <a:rPr lang="ko-KR" altLang="en-US"/>
              <a:t>목록에는 표시되지 않고 상세 화면 문구로만 보인다</a:t>
            </a:r>
            <a:r>
              <a:rPr lang="en-US" altLang="ko-KR"/>
              <a:t>.
</a:t>
            </a:r>
            <a:r>
              <a:rPr lang="ko-KR" altLang="en-US"/>
              <a:t>가격 장벽은 특정 동이 아니라 구 단위로 깔려 있다</a:t>
            </a:r>
            <a:r>
              <a:rPr lang="en-US" altLang="ko-KR"/>
              <a:t>(</a:t>
            </a:r>
            <a:r>
              <a:rPr lang="ko-KR" altLang="en-US"/>
              <a:t>대조 동도 같음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030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결제 금액으로 본 한도</a:t>
            </a:r>
            <a:r>
              <a:rPr lang="en-US" altLang="ko-KR"/>
              <a:t>. </a:t>
            </a:r>
            <a:r>
              <a:rPr lang="ko-KR" altLang="en-US"/>
              <a:t>여기 금액은 급식카드 승인액이라 본인이 더 낸 돈은 들어 있지 않다</a:t>
            </a:r>
            <a:r>
              <a:rPr lang="en-US" altLang="ko-KR"/>
              <a:t>.
</a:t>
            </a:r>
            <a:r>
              <a:rPr lang="ko-KR" altLang="en-US"/>
              <a:t>방학에 쓴 이용자 </a:t>
            </a:r>
            <a:r>
              <a:rPr lang="en-US" altLang="ko-KR"/>
              <a:t>6,223</a:t>
            </a:r>
            <a:r>
              <a:rPr lang="ko-KR" altLang="en-US"/>
              <a:t>명 중 하루 최대 승인액이 </a:t>
            </a:r>
            <a:r>
              <a:rPr lang="en-US" altLang="ko-KR"/>
              <a:t>1</a:t>
            </a:r>
            <a:r>
              <a:rPr lang="ko-KR" altLang="en-US"/>
              <a:t>만 원 이하인 이용자는 </a:t>
            </a:r>
            <a:r>
              <a:rPr lang="en-US" altLang="ko-KR"/>
              <a:t>31</a:t>
            </a:r>
            <a:r>
              <a:rPr lang="ko-KR" altLang="en-US"/>
              <a:t>명</a:t>
            </a:r>
            <a:r>
              <a:rPr lang="en-US" altLang="ko-KR"/>
              <a:t>(0.5%). </a:t>
            </a:r>
            <a:r>
              <a:rPr lang="ko-KR" altLang="en-US"/>
              <a:t>하루 한도가 신청한 끼니 수만큼이라 여러 끼를 한 번에 주문하고</a:t>
            </a:r>
            <a:r>
              <a:rPr lang="en-US" altLang="ko-KR"/>
              <a:t>(</a:t>
            </a:r>
            <a:r>
              <a:rPr lang="ko-KR" altLang="en-US"/>
              <a:t>하루 </a:t>
            </a:r>
            <a:r>
              <a:rPr lang="en-US" altLang="ko-KR"/>
              <a:t>1</a:t>
            </a:r>
            <a:r>
              <a:rPr lang="ko-KR" altLang="en-US"/>
              <a:t>회 결제 </a:t>
            </a:r>
            <a:r>
              <a:rPr lang="en-US" altLang="ko-KR"/>
              <a:t>83%), 3</a:t>
            </a:r>
            <a:r>
              <a:rPr lang="ko-KR" altLang="en-US"/>
              <a:t>만 원을 넘는 날은 카드 한 장으로는 안 되는 금액이라 형제 카드를 함께 쓰는 것으로 보인다</a:t>
            </a:r>
            <a:r>
              <a:rPr lang="en-US" altLang="ko-KR"/>
              <a:t>(36.3%).
</a:t>
            </a:r>
            <a:r>
              <a:rPr lang="ko-KR" altLang="en-US"/>
              <a:t>돈을 더 얹어 시키는지는 승인액에 안 나온다</a:t>
            </a:r>
            <a:r>
              <a:rPr lang="en-US" altLang="ko-KR"/>
              <a:t>. </a:t>
            </a:r>
            <a:r>
              <a:rPr lang="ko-KR" altLang="en-US"/>
              <a:t>다만 주문 합계 분포가 </a:t>
            </a:r>
            <a:r>
              <a:rPr lang="en-US" altLang="ko-KR"/>
              <a:t>3</a:t>
            </a:r>
            <a:r>
              <a:rPr lang="ko-KR" altLang="en-US"/>
              <a:t>만 원에서 끊기고</a:t>
            </a:r>
            <a:r>
              <a:rPr lang="en-US" altLang="ko-KR"/>
              <a:t>(3</a:t>
            </a:r>
            <a:r>
              <a:rPr lang="ko-KR" altLang="en-US"/>
              <a:t>만 원 이상 급식 </a:t>
            </a:r>
            <a:r>
              <a:rPr lang="en-US" altLang="ko-KR"/>
              <a:t>8.4%, </a:t>
            </a:r>
            <a:r>
              <a:rPr lang="ko-KR" altLang="en-US"/>
              <a:t>일반 </a:t>
            </a:r>
            <a:r>
              <a:rPr lang="en-US" altLang="ko-KR"/>
              <a:t>24.4%), </a:t>
            </a:r>
            <a:r>
              <a:rPr lang="ko-KR" altLang="en-US"/>
              <a:t>평균 주문 합계 </a:t>
            </a:r>
            <a:r>
              <a:rPr lang="en-US" altLang="ko-KR"/>
              <a:t>21,794</a:t>
            </a:r>
            <a:r>
              <a:rPr lang="ko-KR" altLang="en-US"/>
              <a:t>원이 승인액 </a:t>
            </a:r>
            <a:r>
              <a:rPr lang="en-US" altLang="ko-KR"/>
              <a:t>18,626</a:t>
            </a:r>
            <a:r>
              <a:rPr lang="ko-KR" altLang="en-US"/>
              <a:t>원과 할인 </a:t>
            </a:r>
            <a:r>
              <a:rPr lang="en-US" altLang="ko-KR"/>
              <a:t>3,167</a:t>
            </a:r>
            <a:r>
              <a:rPr lang="ko-KR" altLang="en-US"/>
              <a:t>원의 합과 맞아 흔하지 않아 보인다</a:t>
            </a:r>
            <a:r>
              <a:rPr lang="en-US" altLang="ko-KR"/>
              <a:t>(</a:t>
            </a:r>
            <a:r>
              <a:rPr lang="ko-KR" altLang="en-US"/>
              <a:t>건별 확인은 못 함</a:t>
            </a:r>
            <a:r>
              <a:rPr lang="en-US" altLang="ko-KR"/>
              <a:t>).
</a:t>
            </a:r>
            <a:r>
              <a:rPr lang="ko-KR" altLang="en-US"/>
              <a:t>그래서 </a:t>
            </a:r>
            <a:r>
              <a:rPr lang="en-US" altLang="ko-KR"/>
              <a:t>1</a:t>
            </a:r>
            <a:r>
              <a:rPr lang="ko-KR" altLang="en-US"/>
              <a:t>끼 값 점검은 지금 쓰는 아이가 아니라 한 끼만 신청했거나 돈을 더 낼 수 없는 아이를 기준으로 한다</a:t>
            </a:r>
            <a:r>
              <a:rPr lang="en-US" altLang="ko-KR"/>
              <a:t>. </a:t>
            </a:r>
            <a:r>
              <a:rPr lang="ko-KR" altLang="en-US"/>
              <a:t>그런 아이는 로그에 안 나와서 운영 회차에서는 신규 이용자 수를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783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사례 세 묶음</a:t>
            </a:r>
            <a:r>
              <a:rPr lang="en-US" altLang="ko-KR"/>
              <a:t>. </a:t>
            </a:r>
            <a:r>
              <a:rPr lang="ko-KR" altLang="en-US"/>
              <a:t>화원읍 일대는 대상</a:t>
            </a:r>
            <a:r>
              <a:rPr lang="en-US" altLang="ko-KR"/>
              <a:t>·</a:t>
            </a:r>
            <a:r>
              <a:rPr lang="ko-KR" altLang="en-US"/>
              <a:t>대조 동 모두 </a:t>
            </a:r>
            <a:r>
              <a:rPr lang="en-US" altLang="ko-KR"/>
              <a:t>1</a:t>
            </a:r>
            <a:r>
              <a:rPr lang="ko-KR" altLang="en-US"/>
              <a:t>끼로 시킬 가게가 적어 구 단위 가격 장벽</a:t>
            </a:r>
            <a:r>
              <a:rPr lang="en-US" altLang="ko-KR"/>
              <a:t>(</a:t>
            </a:r>
            <a:r>
              <a:rPr lang="ko-KR" altLang="en-US"/>
              <a:t>시범 </a:t>
            </a:r>
            <a:r>
              <a:rPr lang="en-US" altLang="ko-KR"/>
              <a:t>B, </a:t>
            </a:r>
            <a:r>
              <a:rPr lang="ko-KR" altLang="en-US"/>
              <a:t>탐색</a:t>
            </a:r>
            <a:r>
              <a:rPr lang="en-US" altLang="ko-KR"/>
              <a:t>).
</a:t>
            </a:r>
            <a:r>
              <a:rPr lang="ko-KR" altLang="en-US"/>
              <a:t>북구 검단동</a:t>
            </a:r>
            <a:r>
              <a:rPr lang="en-US" altLang="ko-KR"/>
              <a:t>·</a:t>
            </a:r>
            <a:r>
              <a:rPr lang="ko-KR" altLang="en-US"/>
              <a:t>학정동</a:t>
            </a:r>
            <a:r>
              <a:rPr lang="en-US" altLang="ko-KR"/>
              <a:t>, </a:t>
            </a:r>
            <a:r>
              <a:rPr lang="ko-KR" altLang="en-US"/>
              <a:t>논공 금포리는 배달 자체가 적거나 오래 걸리는 배달형</a:t>
            </a:r>
            <a:r>
              <a:rPr lang="en-US" altLang="ko-KR"/>
              <a:t>(</a:t>
            </a:r>
            <a:r>
              <a:rPr lang="ko-KR" altLang="en-US"/>
              <a:t>시범 </a:t>
            </a:r>
            <a:r>
              <a:rPr lang="en-US" altLang="ko-KR"/>
              <a:t>A). </a:t>
            </a:r>
            <a:r>
              <a:rPr lang="ko-KR" altLang="en-US"/>
              <a:t>배달형 </a:t>
            </a:r>
            <a:r>
              <a:rPr lang="en-US" altLang="ko-KR"/>
              <a:t>4</a:t>
            </a:r>
            <a:r>
              <a:rPr lang="ko-KR" altLang="en-US"/>
              <a:t>곳 중 화원 본리리는 시범 </a:t>
            </a:r>
            <a:r>
              <a:rPr lang="en-US" altLang="ko-KR"/>
              <a:t>B </a:t>
            </a:r>
            <a:r>
              <a:rPr lang="ko-KR" altLang="en-US"/>
              <a:t>지역 안이라 두 처방이 겹쳐 </a:t>
            </a:r>
            <a:r>
              <a:rPr lang="en-US" altLang="ko-KR"/>
              <a:t>B</a:t>
            </a:r>
            <a:r>
              <a:rPr lang="ko-KR" altLang="en-US"/>
              <a:t>로 평가한다</a:t>
            </a:r>
            <a:r>
              <a:rPr lang="en-US" altLang="ko-KR"/>
              <a:t>.
</a:t>
            </a:r>
            <a:r>
              <a:rPr lang="ko-KR" altLang="en-US"/>
              <a:t>지묘동은 여러 이유가 걸리지만 옆 동네에서 주문하는 곳이라 해결방안 대상에서 뺐다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998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해결방안은 판정 유형에 고정한다</a:t>
            </a:r>
            <a:r>
              <a:rPr lang="en-US" altLang="ko-KR"/>
              <a:t>. </a:t>
            </a:r>
            <a:r>
              <a:rPr lang="ko-KR" altLang="en-US"/>
              <a:t>배달형은 운영사가 방학 정기 배달편으로</a:t>
            </a:r>
            <a:r>
              <a:rPr lang="en-US" altLang="ko-KR"/>
              <a:t>, </a:t>
            </a:r>
            <a:r>
              <a:rPr lang="ko-KR" altLang="en-US"/>
              <a:t>가격형은 시</a:t>
            </a:r>
            <a:r>
              <a:rPr lang="en-US" altLang="ko-KR"/>
              <a:t>·</a:t>
            </a:r>
            <a:r>
              <a:rPr lang="ko-KR" altLang="en-US"/>
              <a:t>구와 운영사가 면제 가게와 </a:t>
            </a:r>
            <a:r>
              <a:rPr lang="en-US" altLang="ko-KR"/>
              <a:t>1</a:t>
            </a:r>
            <a:r>
              <a:rPr lang="ko-KR" altLang="en-US"/>
              <a:t>인 메뉴로</a:t>
            </a:r>
            <a:r>
              <a:rPr lang="en-US" altLang="ko-KR"/>
              <a:t>.
</a:t>
            </a:r>
            <a:r>
              <a:rPr lang="ko-KR" altLang="en-US"/>
              <a:t>배달비는 이미 지원 중이라 배달형의 문제는 비용이 아니라 배달이 오느냐다</a:t>
            </a:r>
            <a:r>
              <a:rPr lang="en-US" altLang="ko-KR"/>
              <a:t>.
</a:t>
            </a:r>
            <a:r>
              <a:rPr lang="ko-KR" altLang="en-US"/>
              <a:t>사각지대가 아닌 </a:t>
            </a:r>
            <a:r>
              <a:rPr lang="en-US" altLang="ko-KR"/>
              <a:t>10</a:t>
            </a:r>
            <a:r>
              <a:rPr lang="ko-KR" altLang="en-US"/>
              <a:t>곳은 조치하지 않고 다음 회차에 관찰한다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75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숫자가 작은 것이 결론이다</a:t>
            </a:r>
            <a:r>
              <a:rPr lang="en-US" altLang="ko-KR"/>
              <a:t>. </a:t>
            </a:r>
            <a:r>
              <a:rPr lang="ko-KR" altLang="en-US"/>
              <a:t>같은 단위</a:t>
            </a:r>
            <a:r>
              <a:rPr lang="en-US" altLang="ko-KR"/>
              <a:t>(</a:t>
            </a:r>
            <a:r>
              <a:rPr lang="ko-KR" altLang="en-US"/>
              <a:t>방학 한 달 이용자 수</a:t>
            </a:r>
            <a:r>
              <a:rPr lang="en-US" altLang="ko-KR"/>
              <a:t>)</a:t>
            </a:r>
            <a:r>
              <a:rPr lang="ko-KR" altLang="en-US"/>
              <a:t>로 비교했다</a:t>
            </a:r>
            <a:r>
              <a:rPr lang="en-US" altLang="ko-KR"/>
              <a:t>.
</a:t>
            </a:r>
            <a:r>
              <a:rPr lang="ko-KR" altLang="en-US"/>
              <a:t>가게를 더 모으는 사업은 </a:t>
            </a:r>
            <a:r>
              <a:rPr lang="en-US" altLang="ko-KR"/>
              <a:t>0</a:t>
            </a:r>
            <a:r>
              <a:rPr lang="ko-KR" altLang="en-US"/>
              <a:t>명</a:t>
            </a:r>
            <a:r>
              <a:rPr lang="en-US" altLang="ko-KR"/>
              <a:t>(</a:t>
            </a:r>
            <a:r>
              <a:rPr lang="ko-KR" altLang="en-US"/>
              <a:t>가장 후한 가정에서도 </a:t>
            </a:r>
            <a:r>
              <a:rPr lang="en-US" altLang="ko-KR"/>
              <a:t>35</a:t>
            </a:r>
            <a:r>
              <a:rPr lang="ko-KR" altLang="en-US"/>
              <a:t>명</a:t>
            </a:r>
            <a:r>
              <a:rPr lang="en-US" altLang="ko-KR"/>
              <a:t>).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곳의 겉보기 부족분 월 </a:t>
            </a:r>
            <a:r>
              <a:rPr lang="en-US" altLang="ko-KR"/>
              <a:t>1,337</a:t>
            </a:r>
            <a:r>
              <a:rPr lang="ko-KR" altLang="en-US"/>
              <a:t>건 중 판정으로 확정한 공백은 개선 대상 </a:t>
            </a:r>
            <a:r>
              <a:rPr lang="en-US" altLang="ko-KR"/>
              <a:t>4</a:t>
            </a:r>
            <a:r>
              <a:rPr lang="ko-KR" altLang="en-US"/>
              <a:t>곳의 </a:t>
            </a:r>
            <a:r>
              <a:rPr lang="en-US" altLang="ko-KR"/>
              <a:t>98</a:t>
            </a:r>
            <a:r>
              <a:rPr lang="ko-KR" altLang="en-US"/>
              <a:t>건뿐이고</a:t>
            </a:r>
            <a:r>
              <a:rPr lang="en-US" altLang="ko-KR"/>
              <a:t>, 870</a:t>
            </a:r>
            <a:r>
              <a:rPr lang="ko-KR" altLang="en-US"/>
              <a:t>건</a:t>
            </a:r>
            <a:r>
              <a:rPr lang="en-US" altLang="ko-KR"/>
              <a:t>(65%)</a:t>
            </a:r>
            <a:r>
              <a:rPr lang="ko-KR" altLang="en-US"/>
              <a:t>은 사각지대가 아닌 곳의 몫</a:t>
            </a:r>
            <a:r>
              <a:rPr lang="en-US" altLang="ko-KR"/>
              <a:t>, 369</a:t>
            </a:r>
            <a:r>
              <a:rPr lang="ko-KR" altLang="en-US"/>
              <a:t>건은 확인 필요다</a:t>
            </a:r>
            <a:r>
              <a:rPr lang="en-US" altLang="ko-KR"/>
              <a:t>.
</a:t>
            </a:r>
            <a:r>
              <a:rPr lang="ko-KR" altLang="en-US"/>
              <a:t>그 </a:t>
            </a:r>
            <a:r>
              <a:rPr lang="en-US" altLang="ko-KR"/>
              <a:t>4</a:t>
            </a:r>
            <a:r>
              <a:rPr lang="ko-KR" altLang="en-US"/>
              <a:t>곳만 보면 방학 월 이용자가 약 </a:t>
            </a:r>
            <a:r>
              <a:rPr lang="en-US" altLang="ko-KR"/>
              <a:t>10</a:t>
            </a:r>
            <a:r>
              <a:rPr lang="ko-KR" altLang="en-US"/>
              <a:t>명에서 </a:t>
            </a:r>
            <a:r>
              <a:rPr lang="en-US" altLang="ko-KR"/>
              <a:t>16~22</a:t>
            </a:r>
            <a:r>
              <a:rPr lang="ko-KR" altLang="en-US"/>
              <a:t>명으로 는다</a:t>
            </a:r>
            <a:r>
              <a:rPr lang="en-US" altLang="ko-KR"/>
              <a:t>(+5.9~11.8</a:t>
            </a:r>
            <a:r>
              <a:rPr lang="ko-KR" altLang="en-US"/>
              <a:t>명</a:t>
            </a:r>
            <a:r>
              <a:rPr lang="en-US" altLang="ko-KR"/>
              <a:t>, +57~114%). </a:t>
            </a:r>
            <a:r>
              <a:rPr lang="ko-KR" altLang="en-US"/>
              <a:t>기대 이용을 가장 작게 잡는 주 모형 기준이고</a:t>
            </a:r>
            <a:r>
              <a:rPr lang="en-US" altLang="ko-KR"/>
              <a:t>, </a:t>
            </a:r>
            <a:r>
              <a:rPr lang="ko-KR" altLang="en-US"/>
              <a:t>다른 모형</a:t>
            </a:r>
            <a:r>
              <a:rPr lang="en-US" altLang="ko-KR"/>
              <a:t>(</a:t>
            </a:r>
            <a:r>
              <a:rPr lang="ko-KR" altLang="en-US"/>
              <a:t>가까운 </a:t>
            </a:r>
            <a:r>
              <a:rPr lang="en-US" altLang="ko-KR"/>
              <a:t>10</a:t>
            </a:r>
            <a:r>
              <a:rPr lang="ko-KR" altLang="en-US"/>
              <a:t>개 단위</a:t>
            </a:r>
            <a:r>
              <a:rPr lang="en-US" altLang="ko-KR"/>
              <a:t>, </a:t>
            </a:r>
            <a:r>
              <a:rPr lang="ko-KR" altLang="en-US"/>
              <a:t>일반 배달 뺀 모형</a:t>
            </a:r>
            <a:r>
              <a:rPr lang="en-US" altLang="ko-KR"/>
              <a:t>)</a:t>
            </a:r>
            <a:r>
              <a:rPr lang="ko-KR" altLang="en-US"/>
              <a:t>으로는 최대 </a:t>
            </a:r>
            <a:r>
              <a:rPr lang="en-US" altLang="ko-KR"/>
              <a:t>+26.7~40.8</a:t>
            </a:r>
            <a:r>
              <a:rPr lang="ko-KR" altLang="en-US"/>
              <a:t>명이다</a:t>
            </a:r>
            <a:r>
              <a:rPr lang="en-US" altLang="ko-KR"/>
              <a:t>.
</a:t>
            </a:r>
            <a:r>
              <a:rPr lang="ko-KR" altLang="en-US"/>
              <a:t>판정 없이 </a:t>
            </a:r>
            <a:r>
              <a:rPr lang="en-US" altLang="ko-KR"/>
              <a:t>17</a:t>
            </a:r>
            <a:r>
              <a:rPr lang="ko-KR" altLang="en-US"/>
              <a:t>곳 전체에 사업하면 부족분의 약 </a:t>
            </a:r>
            <a:r>
              <a:rPr lang="en-US" altLang="ko-KR"/>
              <a:t>3</a:t>
            </a:r>
            <a:r>
              <a:rPr lang="ko-KR" altLang="en-US"/>
              <a:t>분의 </a:t>
            </a:r>
            <a:r>
              <a:rPr lang="en-US" altLang="ko-KR"/>
              <a:t>2</a:t>
            </a:r>
            <a:r>
              <a:rPr lang="ko-KR" altLang="en-US"/>
              <a:t>를 사각지대가 아닌 곳에서 쫓게 된다</a:t>
            </a:r>
            <a:r>
              <a:rPr lang="en-US" altLang="ko-KR"/>
              <a:t>. </a:t>
            </a:r>
            <a:r>
              <a:rPr lang="ko-KR" altLang="en-US"/>
              <a:t>그래서 큰 사업 대신 매 방학 같은 로그로 다시 판정해 몇 곳에 정확히 쓰는 점검표를 제안한다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489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실행</a:t>
            </a:r>
            <a:r>
              <a:rPr lang="en-US" altLang="ko-KR"/>
              <a:t>. </a:t>
            </a:r>
            <a:r>
              <a:rPr lang="ko-KR" altLang="en-US"/>
              <a:t>현 운영사 협약이 </a:t>
            </a:r>
            <a:r>
              <a:rPr lang="en-US" altLang="ko-KR"/>
              <a:t>2026</a:t>
            </a:r>
            <a:r>
              <a:rPr lang="ko-KR" altLang="en-US"/>
              <a:t>년 말 끝나고 새 운영사가 </a:t>
            </a:r>
            <a:r>
              <a:rPr lang="en-US" altLang="ko-KR"/>
              <a:t>2027</a:t>
            </a:r>
            <a:r>
              <a:rPr lang="ko-KR" altLang="en-US"/>
              <a:t>년부터 </a:t>
            </a:r>
            <a:r>
              <a:rPr lang="en-US" altLang="ko-KR"/>
              <a:t>3</a:t>
            </a:r>
            <a:r>
              <a:rPr lang="ko-KR" altLang="en-US"/>
              <a:t>년 운영한다</a:t>
            </a:r>
            <a:r>
              <a:rPr lang="en-US" altLang="ko-KR"/>
              <a:t>. </a:t>
            </a:r>
            <a:r>
              <a:rPr lang="ko-KR" altLang="en-US"/>
              <a:t>협약에 점검표 제출 한 줄을 넣자</a:t>
            </a:r>
            <a:r>
              <a:rPr lang="en-US" altLang="ko-KR"/>
              <a:t>.
</a:t>
            </a:r>
            <a:r>
              <a:rPr lang="ko-KR" altLang="en-US"/>
              <a:t>매 방학 끝나고 </a:t>
            </a:r>
            <a:r>
              <a:rPr lang="en-US" altLang="ko-KR"/>
              <a:t>30</a:t>
            </a:r>
            <a:r>
              <a:rPr lang="ko-KR" altLang="en-US"/>
              <a:t>일 안에 같은 로그로 덜 쓰는 동</a:t>
            </a:r>
            <a:r>
              <a:rPr lang="en-US" altLang="ko-KR"/>
              <a:t>, </a:t>
            </a:r>
            <a:r>
              <a:rPr lang="ko-KR" altLang="en-US"/>
              <a:t>이유</a:t>
            </a:r>
            <a:r>
              <a:rPr lang="en-US" altLang="ko-KR"/>
              <a:t>, </a:t>
            </a:r>
            <a:r>
              <a:rPr lang="ko-KR" altLang="en-US"/>
              <a:t>개선 대상을 뽑아 시에 낸다</a:t>
            </a:r>
            <a:r>
              <a:rPr lang="en-US" altLang="ko-KR"/>
              <a:t>.
</a:t>
            </a:r>
            <a:r>
              <a:rPr lang="ko-KR" altLang="en-US"/>
              <a:t>시범 </a:t>
            </a:r>
            <a:r>
              <a:rPr lang="en-US" altLang="ko-KR"/>
              <a:t>A(</a:t>
            </a:r>
            <a:r>
              <a:rPr lang="ko-KR" altLang="en-US"/>
              <a:t>배달형 </a:t>
            </a:r>
            <a:r>
              <a:rPr lang="en-US" altLang="ko-KR"/>
              <a:t>3</a:t>
            </a:r>
            <a:r>
              <a:rPr lang="ko-KR" altLang="en-US"/>
              <a:t>곳</a:t>
            </a:r>
            <a:r>
              <a:rPr lang="en-US" altLang="ko-KR"/>
              <a:t>)</a:t>
            </a:r>
            <a:r>
              <a:rPr lang="ko-KR" altLang="en-US"/>
              <a:t>는 효과가 작을 수 있어 처음부터 </a:t>
            </a:r>
            <a:r>
              <a:rPr lang="en-US" altLang="ko-KR"/>
              <a:t>2</a:t>
            </a:r>
            <a:r>
              <a:rPr lang="ko-KR" altLang="en-US"/>
              <a:t>년 판정으로 설계했다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010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한계</a:t>
            </a:r>
            <a:r>
              <a:rPr lang="en-US" altLang="ko-KR"/>
              <a:t>. </a:t>
            </a:r>
            <a:r>
              <a:rPr lang="ko-KR" altLang="en-US"/>
              <a:t>가장 큰 것은 대구로가 급식카드 사용처 중 하나라는 점</a:t>
            </a:r>
            <a:r>
              <a:rPr lang="en-US" altLang="ko-KR"/>
              <a:t>. </a:t>
            </a:r>
            <a:r>
              <a:rPr lang="ko-KR" altLang="en-US"/>
              <a:t>편의점</a:t>
            </a:r>
            <a:r>
              <a:rPr lang="en-US" altLang="ko-KR"/>
              <a:t>·</a:t>
            </a:r>
            <a:r>
              <a:rPr lang="ko-KR" altLang="en-US"/>
              <a:t>일반음식점 매장 결제는 보지 못했다</a:t>
            </a:r>
            <a:r>
              <a:rPr lang="en-US" altLang="ko-KR"/>
              <a:t>.
</a:t>
            </a:r>
            <a:r>
              <a:rPr lang="ko-KR" altLang="en-US"/>
              <a:t>그래서 지표는 배달 경로 접근성의 하한이고</a:t>
            </a:r>
            <a:r>
              <a:rPr lang="en-US" altLang="ko-KR"/>
              <a:t>, </a:t>
            </a:r>
            <a:r>
              <a:rPr lang="ko-KR" altLang="en-US"/>
              <a:t>기대효과는 결식 감소가 아니라 식당 한 끼로 가는 경로 회복으로 말한다</a:t>
            </a:r>
            <a:r>
              <a:rPr lang="en-US" altLang="ko-KR"/>
              <a:t>.
</a:t>
            </a:r>
            <a:r>
              <a:rPr lang="ko-KR" altLang="en-US"/>
              <a:t>배달형 </a:t>
            </a:r>
            <a:r>
              <a:rPr lang="en-US" altLang="ko-KR"/>
              <a:t>4</a:t>
            </a:r>
            <a:r>
              <a:rPr lang="ko-KR" altLang="en-US"/>
              <a:t>곳의 배달 여건은 아동 수 대비 이용이 적은 이유는 설명하지만</a:t>
            </a:r>
            <a:r>
              <a:rPr lang="en-US" altLang="ko-KR"/>
              <a:t>, </a:t>
            </a:r>
            <a:r>
              <a:rPr lang="ko-KR" altLang="en-US"/>
              <a:t>배달이 나쁘면 일반 배달도 함께 줄어 급식 비중 지수가 낮은 이유까지는 설명하지 못한다</a:t>
            </a:r>
            <a:r>
              <a:rPr lang="en-US" altLang="ko-KR"/>
              <a:t>. </a:t>
            </a:r>
            <a:r>
              <a:rPr lang="ko-KR" altLang="en-US"/>
              <a:t>그래서 판정 규칙대로 ‘부분 설명’으로 두고 시범 </a:t>
            </a:r>
            <a:r>
              <a:rPr lang="en-US" altLang="ko-KR"/>
              <a:t>A</a:t>
            </a:r>
            <a:r>
              <a:rPr lang="ko-KR" altLang="en-US"/>
              <a:t>로 확인한다</a:t>
            </a:r>
            <a:r>
              <a:rPr lang="en-US" altLang="ko-KR"/>
              <a:t>.
</a:t>
            </a:r>
            <a:r>
              <a:rPr lang="ko-KR" altLang="en-US"/>
              <a:t>판단 불가와 사후 개정은 숨기지 않고 기록했다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3888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1. </a:t>
            </a:r>
            <a:r>
              <a:rPr lang="ko-KR" altLang="en-US"/>
              <a:t>활용 데이터 목록</a:t>
            </a:r>
            <a:r>
              <a:rPr lang="en-US" altLang="ko-KR"/>
              <a:t>. </a:t>
            </a:r>
            <a:r>
              <a:rPr lang="ko-KR" altLang="en-US"/>
              <a:t>미개방 상호제공은 대구로 플랫폼</a:t>
            </a:r>
            <a:r>
              <a:rPr lang="en-US" altLang="ko-KR"/>
              <a:t>(</a:t>
            </a:r>
            <a:r>
              <a:rPr lang="ko-KR" altLang="en-US"/>
              <a:t>결제</a:t>
            </a:r>
            <a:r>
              <a:rPr lang="en-US" altLang="ko-KR"/>
              <a:t>·</a:t>
            </a:r>
            <a:r>
              <a:rPr lang="ko-KR" altLang="en-US"/>
              <a:t>가맹점</a:t>
            </a:r>
            <a:r>
              <a:rPr lang="en-US" altLang="ko-KR"/>
              <a:t>·</a:t>
            </a:r>
            <a:r>
              <a:rPr lang="ko-KR" altLang="en-US"/>
              <a:t>배달</a:t>
            </a:r>
            <a:r>
              <a:rPr lang="en-US" altLang="ko-KR"/>
              <a:t>·</a:t>
            </a:r>
            <a:r>
              <a:rPr lang="ko-KR" altLang="en-US"/>
              <a:t>고객</a:t>
            </a:r>
            <a:r>
              <a:rPr lang="en-US" altLang="ko-KR"/>
              <a:t>)</a:t>
            </a:r>
            <a:r>
              <a:rPr lang="ko-KR" altLang="en-US"/>
              <a:t>과 </a:t>
            </a:r>
            <a:r>
              <a:rPr lang="en-US" altLang="ko-KR"/>
              <a:t>KCB </a:t>
            </a:r>
            <a:r>
              <a:rPr lang="ko-KR" altLang="en-US"/>
              <a:t>소득</a:t>
            </a:r>
            <a:r>
              <a:rPr lang="en-US" altLang="ko-KR"/>
              <a:t>.
</a:t>
            </a:r>
            <a:r>
              <a:rPr lang="ko-KR" altLang="en-US"/>
              <a:t>공개는 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경계</a:t>
            </a:r>
            <a:r>
              <a:rPr lang="en-US" altLang="ko-KR"/>
              <a:t>. </a:t>
            </a:r>
            <a:r>
              <a:rPr lang="ko-KR" altLang="en-US"/>
              <a:t>현장은 구청</a:t>
            </a:r>
            <a:r>
              <a:rPr lang="en-US" altLang="ko-KR"/>
              <a:t>·</a:t>
            </a:r>
            <a:r>
              <a:rPr lang="ko-KR" altLang="en-US"/>
              <a:t>시청 확인과 앱 점검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1567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2. </a:t>
            </a:r>
            <a:r>
              <a:rPr lang="ko-KR" altLang="en-US"/>
              <a:t>방문은 </a:t>
            </a:r>
            <a:r>
              <a:rPr lang="en-US" altLang="ko-KR"/>
              <a:t>9</a:t>
            </a:r>
            <a:r>
              <a:rPr lang="ko-KR" altLang="en-US"/>
              <a:t>월 </a:t>
            </a:r>
            <a:r>
              <a:rPr lang="en-US" altLang="ko-KR"/>
              <a:t>11</a:t>
            </a:r>
            <a:r>
              <a:rPr lang="ko-KR" altLang="en-US"/>
              <a:t>일</a:t>
            </a:r>
            <a:r>
              <a:rPr lang="en-US" altLang="ko-KR"/>
              <a:t>, 9</a:t>
            </a:r>
            <a:r>
              <a:rPr lang="ko-KR" altLang="en-US"/>
              <a:t>월 </a:t>
            </a:r>
            <a:r>
              <a:rPr lang="en-US" altLang="ko-KR"/>
              <a:t>18</a:t>
            </a:r>
            <a:r>
              <a:rPr lang="ko-KR" altLang="en-US"/>
              <a:t>일</a:t>
            </a:r>
            <a:r>
              <a:rPr lang="en-US" altLang="ko-KR"/>
              <a:t>, 10</a:t>
            </a:r>
            <a:r>
              <a:rPr lang="ko-KR" altLang="en-US"/>
              <a:t>월 </a:t>
            </a:r>
            <a:r>
              <a:rPr lang="en-US" altLang="ko-KR"/>
              <a:t>2</a:t>
            </a:r>
            <a:r>
              <a:rPr lang="ko-KR" altLang="en-US"/>
              <a:t>일</a:t>
            </a:r>
            <a:r>
              <a:rPr lang="en-US" altLang="ko-KR"/>
              <a:t>, 10</a:t>
            </a:r>
            <a:r>
              <a:rPr lang="ko-KR" altLang="en-US"/>
              <a:t>월 </a:t>
            </a:r>
            <a:r>
              <a:rPr lang="en-US" altLang="ko-KR"/>
              <a:t>16</a:t>
            </a:r>
            <a:r>
              <a:rPr lang="ko-KR" altLang="en-US"/>
              <a:t>일 네 번</a:t>
            </a:r>
            <a:r>
              <a:rPr lang="en-US" altLang="ko-KR"/>
              <a:t>. </a:t>
            </a:r>
            <a:r>
              <a:rPr lang="ko-KR" altLang="en-US"/>
              <a:t>반출도 네 번</a:t>
            </a:r>
            <a:r>
              <a:rPr lang="en-US" altLang="ko-KR"/>
              <a:t>.
4</a:t>
            </a:r>
            <a:r>
              <a:rPr lang="ko-KR" altLang="en-US"/>
              <a:t>차 반출에는 현장 손입력 오류 </a:t>
            </a:r>
            <a:r>
              <a:rPr lang="en-US" altLang="ko-KR"/>
              <a:t>3</a:t>
            </a:r>
            <a:r>
              <a:rPr lang="ko-KR" altLang="en-US"/>
              <a:t>건이 있었고</a:t>
            </a:r>
            <a:r>
              <a:rPr lang="en-US" altLang="ko-KR"/>
              <a:t>, </a:t>
            </a:r>
            <a:r>
              <a:rPr lang="ko-KR" altLang="en-US"/>
              <a:t>미리 정한 대체 규칙으로 처리했다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616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3. </a:t>
            </a:r>
            <a:r>
              <a:rPr lang="ko-KR" altLang="en-US"/>
              <a:t>센터 안에서 실행한 코드</a:t>
            </a:r>
            <a:r>
              <a:rPr lang="en-US" altLang="ko-KR"/>
              <a:t>. </a:t>
            </a:r>
            <a:r>
              <a:rPr lang="ko-KR" altLang="en-US"/>
              <a:t>급식 결제 정의와 반출 전 가림</a:t>
            </a:r>
            <a:r>
              <a:rPr lang="en-US" altLang="ko-KR"/>
              <a:t>·</a:t>
            </a:r>
            <a:r>
              <a:rPr lang="ko-KR" altLang="en-US"/>
              <a:t>자동 검사</a:t>
            </a:r>
            <a:r>
              <a:rPr lang="en-US" altLang="ko-KR"/>
              <a:t>.
4</a:t>
            </a:r>
            <a:r>
              <a:rPr lang="ko-KR" altLang="en-US"/>
              <a:t>차 현장에서 급식 결제 정의 코드 한 줄 들여쓰기 오류가 있었고</a:t>
            </a:r>
            <a:r>
              <a:rPr lang="en-US" altLang="ko-KR"/>
              <a:t>, </a:t>
            </a:r>
            <a:r>
              <a:rPr lang="ko-KR" altLang="en-US"/>
              <a:t>이를 점검표의 자동 점검 항목으로 바꿨다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844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4. </a:t>
            </a:r>
            <a:r>
              <a:rPr lang="ko-KR" altLang="en-US"/>
              <a:t>센터 밖 분석 과정</a:t>
            </a:r>
            <a:r>
              <a:rPr lang="en-US" altLang="ko-KR"/>
              <a:t>. </a:t>
            </a:r>
            <a:r>
              <a:rPr lang="ko-KR" altLang="en-US"/>
              <a:t>반출 집계에서 출발해 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진단</a:t>
            </a:r>
            <a:r>
              <a:rPr lang="en-US" altLang="ko-KR"/>
              <a:t>, </a:t>
            </a:r>
            <a:r>
              <a:rPr lang="ko-KR" altLang="en-US"/>
              <a:t>지도</a:t>
            </a:r>
            <a:r>
              <a:rPr lang="en-US" altLang="ko-KR"/>
              <a:t>·</a:t>
            </a:r>
            <a:r>
              <a:rPr lang="ko-KR" altLang="en-US"/>
              <a:t>군집</a:t>
            </a:r>
            <a:r>
              <a:rPr lang="en-US" altLang="ko-KR"/>
              <a:t>, </a:t>
            </a:r>
            <a:r>
              <a:rPr lang="ko-KR" altLang="en-US"/>
              <a:t>이웃 점검</a:t>
            </a:r>
            <a:r>
              <a:rPr lang="en-US" altLang="ko-KR"/>
              <a:t>, </a:t>
            </a:r>
            <a:r>
              <a:rPr lang="ko-KR" altLang="en-US"/>
              <a:t>공급 점검</a:t>
            </a:r>
            <a:r>
              <a:rPr lang="en-US" altLang="ko-KR"/>
              <a:t>, </a:t>
            </a:r>
            <a:r>
              <a:rPr lang="ko-KR" altLang="en-US"/>
              <a:t>시나리오</a:t>
            </a:r>
            <a:r>
              <a:rPr lang="en-US" altLang="ko-KR"/>
              <a:t>, </a:t>
            </a:r>
            <a:r>
              <a:rPr lang="ko-KR" altLang="en-US"/>
              <a:t>판정표까지 번호 순서로 이어진다</a:t>
            </a:r>
            <a:r>
              <a:rPr lang="en-US" altLang="ko-KR"/>
              <a:t>.
</a:t>
            </a:r>
            <a:r>
              <a:rPr lang="ko-KR" altLang="en-US"/>
              <a:t>집계 표에서 판정</a:t>
            </a:r>
            <a:r>
              <a:rPr lang="en-US" altLang="ko-KR"/>
              <a:t>·</a:t>
            </a:r>
            <a:r>
              <a:rPr lang="ko-KR" altLang="en-US"/>
              <a:t>시나리오</a:t>
            </a:r>
            <a:r>
              <a:rPr lang="en-US" altLang="ko-KR"/>
              <a:t>·</a:t>
            </a:r>
            <a:r>
              <a:rPr lang="ko-KR" altLang="en-US"/>
              <a:t>지도까지 노트북 </a:t>
            </a:r>
            <a:r>
              <a:rPr lang="en-US" altLang="ko-KR"/>
              <a:t>PC</a:t>
            </a:r>
            <a:r>
              <a:rPr lang="ko-KR" altLang="en-US"/>
              <a:t>로 약 </a:t>
            </a:r>
            <a:r>
              <a:rPr lang="en-US" altLang="ko-KR"/>
              <a:t>1</a:t>
            </a:r>
            <a:r>
              <a:rPr lang="ko-KR" altLang="en-US"/>
              <a:t>분</a:t>
            </a:r>
            <a:r>
              <a:rPr lang="en-US" altLang="ko-KR"/>
              <a:t>. </a:t>
            </a:r>
            <a:r>
              <a:rPr lang="ko-KR" altLang="en-US"/>
              <a:t>코드와 문서</a:t>
            </a:r>
            <a:r>
              <a:rPr lang="en-US" altLang="ko-KR"/>
              <a:t>, </a:t>
            </a:r>
            <a:r>
              <a:rPr lang="ko-KR" altLang="en-US"/>
              <a:t>작업 기록은 모두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6129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5. </a:t>
            </a:r>
            <a:r>
              <a:rPr lang="ko-KR" altLang="en-US"/>
              <a:t>판정 코드의 핵심</a:t>
            </a:r>
            <a:r>
              <a:rPr lang="en-US" altLang="ko-KR"/>
              <a:t>. </a:t>
            </a:r>
            <a:r>
              <a:rPr lang="ko-KR" altLang="en-US"/>
              <a:t>반출 자료에는 작은 칸이 가려져 있다</a:t>
            </a:r>
            <a:r>
              <a:rPr lang="en-US" altLang="ko-KR"/>
              <a:t>.
</a:t>
            </a:r>
            <a:r>
              <a:rPr lang="ko-KR" altLang="en-US"/>
              <a:t>가린 칸을 가장 불리한 값과 가장 유리한 값으로 채워 두 번 판정하고</a:t>
            </a:r>
            <a:r>
              <a:rPr lang="en-US" altLang="ko-KR"/>
              <a:t>, </a:t>
            </a:r>
            <a:r>
              <a:rPr lang="ko-KR" altLang="en-US"/>
              <a:t>두 판정이 같을 때만 확정한다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4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6. </a:t>
            </a:r>
            <a:r>
              <a:rPr lang="ko-KR" altLang="en-US"/>
              <a:t>분석 기술</a:t>
            </a:r>
            <a:r>
              <a:rPr lang="en-US" altLang="ko-KR"/>
              <a:t>. </a:t>
            </a:r>
            <a:r>
              <a:rPr lang="ko-KR" altLang="en-US"/>
              <a:t>이용 비중은 입지계수</a:t>
            </a:r>
            <a:r>
              <a:rPr lang="en-US" altLang="ko-KR"/>
              <a:t>, </a:t>
            </a:r>
            <a:r>
              <a:rPr lang="ko-KR" altLang="en-US"/>
              <a:t>공간 군집은 </a:t>
            </a:r>
            <a:r>
              <a:rPr lang="en-US" altLang="ko-KR"/>
              <a:t>Moran</a:t>
            </a:r>
            <a:r>
              <a:rPr lang="ko-KR" altLang="en-US"/>
              <a:t>과 </a:t>
            </a:r>
            <a:r>
              <a:rPr lang="en-US" altLang="ko-KR"/>
              <a:t>LISA, </a:t>
            </a:r>
            <a:r>
              <a:rPr lang="ko-KR" altLang="en-US"/>
              <a:t>이웃은 퍼지 인접</a:t>
            </a:r>
            <a:r>
              <a:rPr lang="en-US" altLang="ko-KR"/>
              <a:t>.
</a:t>
            </a:r>
            <a:r>
              <a:rPr lang="ko-KR" altLang="en-US"/>
              <a:t>시나리오는 </a:t>
            </a:r>
            <a:r>
              <a:rPr lang="en-US" altLang="ko-KR"/>
              <a:t>MCLP </a:t>
            </a:r>
            <a:r>
              <a:rPr lang="ko-KR" altLang="en-US"/>
              <a:t>부분 커버 탐욕 선택과 로그 선형 기대 모형</a:t>
            </a:r>
            <a:r>
              <a:rPr lang="en-US" altLang="ko-KR"/>
              <a:t>, </a:t>
            </a:r>
            <a:r>
              <a:rPr lang="ko-KR" altLang="en-US"/>
              <a:t>시범 판정은 반기 자연 변동으로 설계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1584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7. </a:t>
            </a:r>
            <a:r>
              <a:rPr lang="ko-KR" altLang="en-US"/>
              <a:t>출처</a:t>
            </a:r>
            <a:r>
              <a:rPr lang="en-US" altLang="ko-KR"/>
              <a:t>. </a:t>
            </a:r>
            <a:r>
              <a:rPr lang="ko-KR" altLang="en-US"/>
              <a:t>데이터 출처와 전화</a:t>
            </a:r>
            <a:r>
              <a:rPr lang="en-US" altLang="ko-KR"/>
              <a:t>·</a:t>
            </a:r>
            <a:r>
              <a:rPr lang="ko-KR" altLang="en-US"/>
              <a:t>문의 확인 기록</a:t>
            </a:r>
            <a:r>
              <a:rPr lang="en-US" altLang="ko-KR"/>
              <a:t>, </a:t>
            </a:r>
            <a:r>
              <a:rPr lang="ko-KR" altLang="en-US"/>
              <a:t>보도</a:t>
            </a:r>
            <a:r>
              <a:rPr lang="en-US" altLang="ko-KR"/>
              <a:t>, </a:t>
            </a:r>
            <a:r>
              <a:rPr lang="ko-KR" altLang="en-US"/>
              <a:t>앱 점검 일시</a:t>
            </a:r>
            <a:r>
              <a:rPr lang="en-US" altLang="ko-KR"/>
              <a:t>.
</a:t>
            </a:r>
            <a:r>
              <a:rPr lang="ko-KR" altLang="en-US"/>
              <a:t>분석 코드</a:t>
            </a:r>
            <a:r>
              <a:rPr lang="en-US" altLang="ko-KR"/>
              <a:t>·</a:t>
            </a:r>
            <a:r>
              <a:rPr lang="ko-KR" altLang="en-US"/>
              <a:t>센터 입력 코드</a:t>
            </a:r>
            <a:r>
              <a:rPr lang="en-US" altLang="ko-KR"/>
              <a:t>·</a:t>
            </a:r>
            <a:r>
              <a:rPr lang="ko-KR" altLang="en-US"/>
              <a:t>결정 기록</a:t>
            </a:r>
            <a:r>
              <a:rPr lang="en-US" altLang="ko-KR"/>
              <a:t>·</a:t>
            </a:r>
            <a:r>
              <a:rPr lang="ko-KR" altLang="en-US"/>
              <a:t>반출 결과 문서</a:t>
            </a:r>
            <a:r>
              <a:rPr lang="en-US" altLang="ko-KR"/>
              <a:t>·</a:t>
            </a:r>
            <a:r>
              <a:rPr lang="ko-KR" altLang="en-US"/>
              <a:t>작업 기록 전체를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39E7-13EE-4E38-8476-80EB99054E4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4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C8BC3-A431-7145-36C2-9A5C74970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764AEF-B86D-B66C-5897-359AF5F87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9F94A-A680-BB87-F9BD-1BB1CCAD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9EBF4-BC84-6D30-6E03-47760014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263DC2-9706-CD6C-0E01-8B6D437B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1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43FA4-C1C1-9C9A-8309-19B0ED66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D11AF-0A1A-8D77-7B8F-8CC00BDA0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6F214E-2A30-2BB6-E1C8-7551AC10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C5D5F8-2A6F-BBF5-E4D0-13113128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97C74-A5A6-6771-ED11-8C123396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30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81BBC-AEBB-5425-D6C6-48C11875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621AA7-FD37-8A9B-DFA1-37FBB1351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61F21-F6C2-9FD6-80A1-E3E8DBE6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1D6052-572E-C267-6A61-F7DA6E8C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A939A-B984-B972-900B-67CBD081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0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2E543-4AA3-0967-7776-EE55147C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107BBB-1249-DD14-12A4-7037C5D2C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48687-6ADF-0DF6-296A-203E68CCA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F473BA-D00D-5458-14DE-3A5E5D67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570EC9-7087-91DB-B66D-AA43A3A3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8347BD-EAE3-6AFD-2378-CC218B96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05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82A3C-C8D4-FE66-8C40-C3D67C83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99D9D2-B0C8-CFA3-F15B-136D9A4B4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E53BE1-D0E1-E972-1661-08975E14A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FEFCA9-42CC-DB3C-8226-100B26B47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574A93-EB23-8DEC-E79B-B46975AAC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E4E948-3EC5-DE33-F896-31AEB412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B883E8-8244-BDCE-8956-94C6CD797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DAFB23-7C8F-09BC-60ED-1882038A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51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D8752-C9C7-61A8-DBBB-AAE868F7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ACB62F-B9A4-FEA4-97F8-AA771D2B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383CB4-1093-170B-E7B0-5CA78D67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DCAA5B-972B-FE95-3553-2C95B349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0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A6ED22-0B50-C6B0-DA7D-F450920E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94EB64-BDE2-C99B-6CF4-1E6467CD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55619-C329-F921-A666-74FBB7BB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9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3D4CD-A87E-DA81-C645-EB2BC603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3515CC-4FD5-2F76-BA6F-ED32FDEC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235BF4-7768-07C5-5EE6-8E1BB40C2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EE0C05-6934-81E5-F0FB-AE24012E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6CB2B-7303-61B8-9F2F-04BF6E16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4346E1-EBB4-6776-38FB-A25FC7CA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66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92FD5-2863-7630-E514-0EBD5C4C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D7567C-69EF-FB2C-D71A-18E89E54D5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A04085-CF64-FEBC-F76D-D292B6C4E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40F787-19DF-4BCF-ACB0-8C3BEDE9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3EA7D8-A784-5743-F135-05D70F29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2F004-F0FD-B0B3-9BBD-0791BF3D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96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82CF5-53C9-A9DB-FF02-9B5B117F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305208-0CE4-A963-4168-ADE5D4560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A43A7-6309-1052-F52B-4B1A4E94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A239C-9F58-B2B0-A4FE-5B5529F6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D0136-92C0-AF5C-CBFC-124204BE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27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DD7C1D-4991-5AFC-D9FF-90CC5C403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AB771E-A9DA-6C8B-9753-767255DA2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0DC204-CCAB-0EC0-4C85-10814EA8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42029-15A4-71B0-3CB1-0B2401A2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FAE4A7-0698-B09C-2F9C-BEF13ED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5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869620-ABD1-108B-0BAC-167F039F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5A9850-9CF3-EED2-44A3-1C5E6A225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D420C-2EEE-D56F-B9D8-4769AC25F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98627-2DCB-4596-AA3D-530950CE651F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41FD7-BA52-9252-3EBE-120763AB5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653A2-B34B-C50D-2714-6C8CE1D56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32A9B-BED7-40FD-8DEA-FF489022F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95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941B77-2FB9-EA70-CA4B-E6954567A356}"/>
              </a:ext>
            </a:extLst>
          </p:cNvPr>
          <p:cNvSpPr txBox="1"/>
          <p:nvPr/>
        </p:nvSpPr>
        <p:spPr>
          <a:xfrm>
            <a:off x="1524000" y="2247900"/>
            <a:ext cx="1009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 </a:t>
            </a:r>
            <a:r>
              <a:rPr lang="ko-KR" altLang="en-US" sz="15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데이터안심구역 경진대회 </a:t>
            </a:r>
            <a:r>
              <a:rPr lang="en-US" altLang="ko-KR" sz="15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아이디어 기획서 겸 발표자료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D44E0-DBB2-C825-D732-185422AEF9CA}"/>
              </a:ext>
            </a:extLst>
          </p:cNvPr>
          <p:cNvSpPr txBox="1"/>
          <p:nvPr/>
        </p:nvSpPr>
        <p:spPr>
          <a:xfrm>
            <a:off x="1524000" y="302895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ko-KR" altLang="en-US" sz="78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아동급식카드는</a:t>
            </a:r>
          </a:p>
          <a:p>
            <a:pPr>
              <a:lnSpc>
                <a:spcPct val="108000"/>
              </a:lnSpc>
            </a:pPr>
            <a:r>
              <a:rPr lang="ko-KR" altLang="en-US" sz="78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어디서 멈추는가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5FDB5-5B70-A56C-702B-8E6F21B01301}"/>
              </a:ext>
            </a:extLst>
          </p:cNvPr>
          <p:cNvSpPr txBox="1"/>
          <p:nvPr/>
        </p:nvSpPr>
        <p:spPr>
          <a:xfrm>
            <a:off x="1524000" y="596265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공공배달앱 ‘대구로’ 급식카드 결제 </a:t>
            </a:r>
            <a:r>
              <a:rPr lang="en-US" altLang="ko-KR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341,216</a:t>
            </a:r>
            <a:r>
              <a:rPr lang="ko-KR" altLang="en-US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건으로 본</a:t>
            </a:r>
          </a:p>
          <a:p>
            <a:pPr>
              <a:lnSpc>
                <a:spcPct val="135000"/>
              </a:lnSpc>
            </a:pPr>
            <a:r>
              <a:rPr lang="ko-KR" altLang="en-US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  <a:r>
              <a:rPr lang="en-US" altLang="ko-KR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  <a:r>
              <a:rPr lang="en-US" altLang="ko-KR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22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제도의 공백과 방학 점검표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67705DB-AB1F-676F-927A-8B4A64635846}"/>
              </a:ext>
            </a:extLst>
          </p:cNvPr>
          <p:cNvCxnSpPr/>
          <p:nvPr/>
        </p:nvCxnSpPr>
        <p:spPr>
          <a:xfrm>
            <a:off x="1524000" y="7962900"/>
            <a:ext cx="857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EB01C1-DCCD-67C4-2B28-C5C03722D645}"/>
              </a:ext>
            </a:extLst>
          </p:cNvPr>
          <p:cNvSpPr txBox="1"/>
          <p:nvPr/>
        </p:nvSpPr>
        <p:spPr>
          <a:xfrm>
            <a:off x="1524000" y="81915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2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7D47E-0402-2991-F836-8ECD812976FB}"/>
              </a:ext>
            </a:extLst>
          </p:cNvPr>
          <p:cNvSpPr txBox="1"/>
          <p:nvPr/>
        </p:nvSpPr>
        <p:spPr>
          <a:xfrm>
            <a:off x="3143250" y="82296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김동훈 </a:t>
            </a:r>
            <a:r>
              <a:rPr lang="en-US" altLang="ko-KR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나선엽 </a:t>
            </a:r>
            <a:r>
              <a:rPr lang="en-US" altLang="ko-KR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이승혁 </a:t>
            </a:r>
            <a:r>
              <a:rPr lang="en-US" altLang="ko-KR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정다현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CF7CC-00FD-CC1F-B40F-9BBBF562FE23}"/>
              </a:ext>
            </a:extLst>
          </p:cNvPr>
          <p:cNvSpPr txBox="1"/>
          <p:nvPr/>
        </p:nvSpPr>
        <p:spPr>
          <a:xfrm>
            <a:off x="1524000" y="874395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기간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2023-06~2025-06 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데이터안심구역 방문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 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|  2026. 10.</a:t>
            </a:r>
            <a:endParaRPr lang="ko-KR" altLang="en-US" sz="14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7AFE1-EC3F-86D2-498A-9DB4691DE5EF}"/>
              </a:ext>
            </a:extLst>
          </p:cNvPr>
          <p:cNvSpPr txBox="1"/>
          <p:nvPr/>
        </p:nvSpPr>
        <p:spPr>
          <a:xfrm>
            <a:off x="1524000" y="90678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코드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문서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작업 기록 전체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GitHub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github.com/________</a:t>
            </a:r>
            <a:endParaRPr lang="ko-KR" altLang="en-US" sz="14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71F9E-30B2-3393-44FF-615A4D3BE476}"/>
              </a:ext>
            </a:extLst>
          </p:cNvPr>
          <p:cNvSpPr txBox="1"/>
          <p:nvPr/>
        </p:nvSpPr>
        <p:spPr>
          <a:xfrm>
            <a:off x="12287250" y="2247900"/>
            <a:ext cx="4476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월별 급식카드 결제 건수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41D21F-C6AD-48F5-CF6C-0AFEAD21B047}"/>
              </a:ext>
            </a:extLst>
          </p:cNvPr>
          <p:cNvSpPr/>
          <p:nvPr/>
        </p:nvSpPr>
        <p:spPr>
          <a:xfrm>
            <a:off x="12306300" y="7105662"/>
            <a:ext cx="140970" cy="22858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CDAEE4-EFB4-CAE3-2B4B-17AC7A2D8945}"/>
              </a:ext>
            </a:extLst>
          </p:cNvPr>
          <p:cNvSpPr/>
          <p:nvPr/>
        </p:nvSpPr>
        <p:spPr>
          <a:xfrm>
            <a:off x="12485370" y="6256825"/>
            <a:ext cx="140969" cy="1077425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C4ABCD-A635-26D9-F945-1E1708413AAC}"/>
              </a:ext>
            </a:extLst>
          </p:cNvPr>
          <p:cNvSpPr/>
          <p:nvPr/>
        </p:nvSpPr>
        <p:spPr>
          <a:xfrm>
            <a:off x="12664440" y="5208567"/>
            <a:ext cx="140970" cy="2125683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B71D8F-48C4-A345-F6B1-011420AE7A34}"/>
              </a:ext>
            </a:extLst>
          </p:cNvPr>
          <p:cNvSpPr/>
          <p:nvPr/>
        </p:nvSpPr>
        <p:spPr>
          <a:xfrm>
            <a:off x="12843510" y="6814872"/>
            <a:ext cx="140970" cy="51937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169A20-0804-5274-E765-A440A22210E5}"/>
              </a:ext>
            </a:extLst>
          </p:cNvPr>
          <p:cNvSpPr/>
          <p:nvPr/>
        </p:nvSpPr>
        <p:spPr>
          <a:xfrm>
            <a:off x="13022580" y="6770900"/>
            <a:ext cx="140970" cy="56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38AC67-27D9-89D1-17BD-E6EEFC2B2350}"/>
              </a:ext>
            </a:extLst>
          </p:cNvPr>
          <p:cNvSpPr/>
          <p:nvPr/>
        </p:nvSpPr>
        <p:spPr>
          <a:xfrm>
            <a:off x="13201650" y="6761840"/>
            <a:ext cx="140970" cy="57241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8F3C87-3E99-CA03-8476-F06E2C08AD49}"/>
              </a:ext>
            </a:extLst>
          </p:cNvPr>
          <p:cNvSpPr/>
          <p:nvPr/>
        </p:nvSpPr>
        <p:spPr>
          <a:xfrm>
            <a:off x="13380720" y="6382554"/>
            <a:ext cx="140969" cy="951696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C21CF2-1A89-2E63-4532-A5959BB360FF}"/>
              </a:ext>
            </a:extLst>
          </p:cNvPr>
          <p:cNvSpPr/>
          <p:nvPr/>
        </p:nvSpPr>
        <p:spPr>
          <a:xfrm>
            <a:off x="13559789" y="3798700"/>
            <a:ext cx="140970" cy="3535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1CF124-7CE3-60A8-8E3C-2C63C91AC295}"/>
              </a:ext>
            </a:extLst>
          </p:cNvPr>
          <p:cNvSpPr/>
          <p:nvPr/>
        </p:nvSpPr>
        <p:spPr>
          <a:xfrm>
            <a:off x="13738861" y="3874712"/>
            <a:ext cx="140969" cy="345953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A912788-2FA7-9D76-1290-A03428FBE8A6}"/>
              </a:ext>
            </a:extLst>
          </p:cNvPr>
          <p:cNvSpPr/>
          <p:nvPr/>
        </p:nvSpPr>
        <p:spPr>
          <a:xfrm>
            <a:off x="13917930" y="6577998"/>
            <a:ext cx="140970" cy="75625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6018C6-F611-F290-1EBC-1767E6EE4BBF}"/>
              </a:ext>
            </a:extLst>
          </p:cNvPr>
          <p:cNvSpPr/>
          <p:nvPr/>
        </p:nvSpPr>
        <p:spPr>
          <a:xfrm>
            <a:off x="14097000" y="6578660"/>
            <a:ext cx="140970" cy="75559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5923A2-99E7-818D-5418-AE63B919D0A2}"/>
              </a:ext>
            </a:extLst>
          </p:cNvPr>
          <p:cNvSpPr/>
          <p:nvPr/>
        </p:nvSpPr>
        <p:spPr>
          <a:xfrm>
            <a:off x="14276070" y="6502870"/>
            <a:ext cx="140969" cy="83138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45B8BD-96E3-1B95-6687-D3374AFF0B5C}"/>
              </a:ext>
            </a:extLst>
          </p:cNvPr>
          <p:cNvSpPr/>
          <p:nvPr/>
        </p:nvSpPr>
        <p:spPr>
          <a:xfrm>
            <a:off x="14455139" y="6491490"/>
            <a:ext cx="140970" cy="84276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621681-E0F6-3767-9647-C367CEDF0900}"/>
              </a:ext>
            </a:extLst>
          </p:cNvPr>
          <p:cNvSpPr/>
          <p:nvPr/>
        </p:nvSpPr>
        <p:spPr>
          <a:xfrm>
            <a:off x="14634211" y="5337390"/>
            <a:ext cx="140969" cy="199686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2A52F7-82E8-1D34-6B14-DC936384CB23}"/>
              </a:ext>
            </a:extLst>
          </p:cNvPr>
          <p:cNvSpPr/>
          <p:nvPr/>
        </p:nvSpPr>
        <p:spPr>
          <a:xfrm>
            <a:off x="14813280" y="4293220"/>
            <a:ext cx="140970" cy="304103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684230-1E9E-5475-D00A-608BBA7F3F7D}"/>
              </a:ext>
            </a:extLst>
          </p:cNvPr>
          <p:cNvSpPr/>
          <p:nvPr/>
        </p:nvSpPr>
        <p:spPr>
          <a:xfrm>
            <a:off x="14992350" y="6422438"/>
            <a:ext cx="140970" cy="9118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5B3343-EA5B-D955-9E97-74E462691FCC}"/>
              </a:ext>
            </a:extLst>
          </p:cNvPr>
          <p:cNvSpPr/>
          <p:nvPr/>
        </p:nvSpPr>
        <p:spPr>
          <a:xfrm>
            <a:off x="15171420" y="6370401"/>
            <a:ext cx="140969" cy="96384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193576-6E4E-0DDA-CB07-BF4AD035FD1B}"/>
              </a:ext>
            </a:extLst>
          </p:cNvPr>
          <p:cNvSpPr/>
          <p:nvPr/>
        </p:nvSpPr>
        <p:spPr>
          <a:xfrm>
            <a:off x="15350489" y="6441773"/>
            <a:ext cx="140970" cy="89247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648C469-8AE7-3578-111D-15E5B00DE895}"/>
              </a:ext>
            </a:extLst>
          </p:cNvPr>
          <p:cNvSpPr/>
          <p:nvPr/>
        </p:nvSpPr>
        <p:spPr>
          <a:xfrm>
            <a:off x="15529561" y="6099608"/>
            <a:ext cx="140969" cy="1234642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1B420FA-5D5D-3D6D-D92A-A72777993F28}"/>
              </a:ext>
            </a:extLst>
          </p:cNvPr>
          <p:cNvSpPr/>
          <p:nvPr/>
        </p:nvSpPr>
        <p:spPr>
          <a:xfrm>
            <a:off x="15708630" y="3121995"/>
            <a:ext cx="140970" cy="421225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92088C-6764-A643-C394-8E2FADF8C77F}"/>
              </a:ext>
            </a:extLst>
          </p:cNvPr>
          <p:cNvSpPr/>
          <p:nvPr/>
        </p:nvSpPr>
        <p:spPr>
          <a:xfrm>
            <a:off x="15887700" y="2857500"/>
            <a:ext cx="140970" cy="44767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9B1AC6-F832-E1A5-1D6E-42EC13E8B614}"/>
              </a:ext>
            </a:extLst>
          </p:cNvPr>
          <p:cNvSpPr/>
          <p:nvPr/>
        </p:nvSpPr>
        <p:spPr>
          <a:xfrm>
            <a:off x="16066770" y="6402441"/>
            <a:ext cx="140969" cy="93180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2F6DE5-30B2-EC1C-23B8-536C4DF9A845}"/>
              </a:ext>
            </a:extLst>
          </p:cNvPr>
          <p:cNvSpPr/>
          <p:nvPr/>
        </p:nvSpPr>
        <p:spPr>
          <a:xfrm>
            <a:off x="16245839" y="6441773"/>
            <a:ext cx="140970" cy="89247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DD92E3-E005-7EDA-F36A-C6B224C37732}"/>
              </a:ext>
            </a:extLst>
          </p:cNvPr>
          <p:cNvSpPr/>
          <p:nvPr/>
        </p:nvSpPr>
        <p:spPr>
          <a:xfrm>
            <a:off x="16424911" y="6350403"/>
            <a:ext cx="140969" cy="98384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3393F1-A9C8-1E8B-6167-FB6D0C9668A5}"/>
              </a:ext>
            </a:extLst>
          </p:cNvPr>
          <p:cNvSpPr/>
          <p:nvPr/>
        </p:nvSpPr>
        <p:spPr>
          <a:xfrm>
            <a:off x="16603980" y="6393271"/>
            <a:ext cx="140970" cy="94097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27ECA03-1A44-5783-AE8C-C73957B2063B}"/>
              </a:ext>
            </a:extLst>
          </p:cNvPr>
          <p:cNvCxnSpPr/>
          <p:nvPr/>
        </p:nvCxnSpPr>
        <p:spPr>
          <a:xfrm>
            <a:off x="12287250" y="7334250"/>
            <a:ext cx="447675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5387ACF-0C5A-1DA7-454B-B1DC29636392}"/>
              </a:ext>
            </a:extLst>
          </p:cNvPr>
          <p:cNvSpPr txBox="1"/>
          <p:nvPr/>
        </p:nvSpPr>
        <p:spPr>
          <a:xfrm>
            <a:off x="12287250" y="7429500"/>
            <a:ext cx="1428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75A0EE-9B7E-1973-ECB5-57BAFDF9F54B}"/>
              </a:ext>
            </a:extLst>
          </p:cNvPr>
          <p:cNvSpPr txBox="1"/>
          <p:nvPr/>
        </p:nvSpPr>
        <p:spPr>
          <a:xfrm>
            <a:off x="15335250" y="7429500"/>
            <a:ext cx="1428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2025-06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CB4533-2281-1207-A44D-F61A6FB3A918}"/>
              </a:ext>
            </a:extLst>
          </p:cNvPr>
          <p:cNvSpPr/>
          <p:nvPr/>
        </p:nvSpPr>
        <p:spPr>
          <a:xfrm>
            <a:off x="12287250" y="7839075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2E1CA3-84D2-F409-71C2-F47523824676}"/>
              </a:ext>
            </a:extLst>
          </p:cNvPr>
          <p:cNvSpPr txBox="1"/>
          <p:nvPr/>
        </p:nvSpPr>
        <p:spPr>
          <a:xfrm>
            <a:off x="12496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1·2·8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EC70C5F-B233-DD67-9BE8-849223C5F440}"/>
              </a:ext>
            </a:extLst>
          </p:cNvPr>
          <p:cNvSpPr/>
          <p:nvPr/>
        </p:nvSpPr>
        <p:spPr>
          <a:xfrm>
            <a:off x="13811250" y="7839075"/>
            <a:ext cx="133350" cy="1333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DFAC51-39CF-A99F-1CB2-5EDFD50A3D2D}"/>
              </a:ext>
            </a:extLst>
          </p:cNvPr>
          <p:cNvSpPr txBox="1"/>
          <p:nvPr/>
        </p:nvSpPr>
        <p:spPr>
          <a:xfrm>
            <a:off x="14020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전환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7·12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25245C-08A1-B3BB-2670-53A5352E927A}"/>
              </a:ext>
            </a:extLst>
          </p:cNvPr>
          <p:cNvSpPr/>
          <p:nvPr/>
        </p:nvSpPr>
        <p:spPr>
          <a:xfrm>
            <a:off x="15335250" y="7839075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2ABE82-02B1-CF72-192A-0268AD2A2399}"/>
              </a:ext>
            </a:extLst>
          </p:cNvPr>
          <p:cNvSpPr txBox="1"/>
          <p:nvPr/>
        </p:nvSpPr>
        <p:spPr>
          <a:xfrm>
            <a:off x="15544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A8315E-E9C7-2764-0378-D04A696924DC}"/>
              </a:ext>
            </a:extLst>
          </p:cNvPr>
          <p:cNvSpPr txBox="1"/>
          <p:nvPr/>
        </p:nvSpPr>
        <p:spPr>
          <a:xfrm>
            <a:off x="12287250" y="8153400"/>
            <a:ext cx="4476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전체 결제의 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55.3%</a:t>
            </a:r>
            <a:endParaRPr lang="ko-KR" altLang="en-US" sz="1275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30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F0F252E-1D07-BBF3-A798-F4DA697B6463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DA689C-E03A-AC49-499E-00FBF08DF3EC}"/>
              </a:ext>
            </a:extLst>
          </p:cNvPr>
          <p:cNvSpPr/>
          <p:nvPr/>
        </p:nvSpPr>
        <p:spPr>
          <a:xfrm>
            <a:off x="381000" y="97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F2D45-0507-4EEF-97A2-AF930ED63850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02CB2-D075-1FA6-EEB4-E9E198DBB6B0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0002F-7638-7FBA-D1BD-150CE2CED479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E8C5C-2CE5-B424-373E-6A226E943C8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25E74-6D9F-0B73-EE00-9D8BBC8F193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F8BCA-317E-21F9-6665-038B8D04EB34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CAFB2E-2191-EABD-F67B-E17B26A5F12D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4B8BC-C5D5-7E6E-9BD1-0F29437A7600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CCE82-C356-1678-4A75-63CE882B3A63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FE7781-5BFA-5550-CCED-D8194B2A910C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1070B-B729-9ED1-0AF9-351371C3B45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00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한 장 요약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93657-87CE-701F-8294-08C2B556401F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멈추는 곳은 가게 없는 동이 아니라 판정으로 걸러낸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개 동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C1A65C1-9755-E710-CE9D-499DC3F1EEBF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B5D73C-EE33-86EC-7AF5-13661E86007F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B0FF02-B3E0-72FD-F9FB-9E2393E9B605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숫자 출처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2~4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결과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숫자는 가정 아래 계산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8F3799-1496-A110-FD16-372771F83CA3}"/>
              </a:ext>
            </a:extLst>
          </p:cNvPr>
          <p:cNvSpPr txBox="1"/>
          <p:nvPr/>
        </p:nvSpPr>
        <p:spPr>
          <a:xfrm>
            <a:off x="3314700" y="22479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이야기 한 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4B2417-6B80-1AD4-3B80-71339C4B73D2}"/>
              </a:ext>
            </a:extLst>
          </p:cNvPr>
          <p:cNvSpPr txBox="1"/>
          <p:nvPr/>
        </p:nvSpPr>
        <p:spPr>
          <a:xfrm>
            <a:off x="3314700" y="257175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가게를 더 모으는 사업보다</a:t>
            </a:r>
            <a:r>
              <a:rPr lang="en-US" altLang="ko-KR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방학마다 같은 로그로 덜 쓰는 동을 다시 판정해 필요한 몇 곳에 해결방안 집중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57EABD-2EA1-62DF-AEE6-5CD07B8A40A0}"/>
              </a:ext>
            </a:extLst>
          </p:cNvPr>
          <p:cNvCxnSpPr/>
          <p:nvPr/>
        </p:nvCxnSpPr>
        <p:spPr>
          <a:xfrm>
            <a:off x="3314700" y="35052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543CA6-E79E-9206-7109-A328D7EC1A19}"/>
              </a:ext>
            </a:extLst>
          </p:cNvPr>
          <p:cNvSpPr txBox="1"/>
          <p:nvPr/>
        </p:nvSpPr>
        <p:spPr>
          <a:xfrm>
            <a:off x="3314700" y="37528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99.9%</a:t>
            </a:r>
            <a:endParaRPr lang="ko-KR" altLang="en-US" sz="45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E8F398-999C-096E-AEAF-7F8007D98DD2}"/>
              </a:ext>
            </a:extLst>
          </p:cNvPr>
          <p:cNvSpPr txBox="1"/>
          <p:nvPr/>
        </p:nvSpPr>
        <p:spPr>
          <a:xfrm>
            <a:off x="3314700" y="44767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주문 가게가 이미 닿는 아이 비율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E60DD-C7E1-14B2-23F1-622E7D0891AC}"/>
              </a:ext>
            </a:extLst>
          </p:cNvPr>
          <p:cNvSpPr txBox="1"/>
          <p:nvPr/>
        </p:nvSpPr>
        <p:spPr>
          <a:xfrm>
            <a:off x="3314700" y="50482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모집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활성화 효과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월 이용자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가장 후한 가정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+35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4193317-D3BB-7B76-D206-3FA6F2061A4E}"/>
              </a:ext>
            </a:extLst>
          </p:cNvPr>
          <p:cNvCxnSpPr/>
          <p:nvPr/>
        </p:nvCxnSpPr>
        <p:spPr>
          <a:xfrm>
            <a:off x="6124575" y="37528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19DD1E-8CC1-FC75-90A9-52CF95F33082}"/>
              </a:ext>
            </a:extLst>
          </p:cNvPr>
          <p:cNvSpPr txBox="1"/>
          <p:nvPr/>
        </p:nvSpPr>
        <p:spPr>
          <a:xfrm>
            <a:off x="6267450" y="37528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65%</a:t>
            </a:r>
            <a:endParaRPr lang="ko-KR" altLang="en-US" sz="45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B30B0-05DC-5D08-EC40-9DB46DADDC90}"/>
              </a:ext>
            </a:extLst>
          </p:cNvPr>
          <p:cNvSpPr txBox="1"/>
          <p:nvPr/>
        </p:nvSpPr>
        <p:spPr>
          <a:xfrm>
            <a:off x="6267450" y="44767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겉보기 부족분 중 사각지대 아닌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몫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F53ED-BFCF-A4E8-AA4C-AD89E2B01C2D}"/>
              </a:ext>
            </a:extLst>
          </p:cNvPr>
          <p:cNvSpPr txBox="1"/>
          <p:nvPr/>
        </p:nvSpPr>
        <p:spPr>
          <a:xfrm>
            <a:off x="6267450" y="50482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부족분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1,337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중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870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CB53FCD-2687-CB9D-34D8-320A15816E04}"/>
              </a:ext>
            </a:extLst>
          </p:cNvPr>
          <p:cNvCxnSpPr/>
          <p:nvPr/>
        </p:nvCxnSpPr>
        <p:spPr>
          <a:xfrm>
            <a:off x="9077325" y="37528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A77B53-6098-0BC5-6D65-6C68113F3FB9}"/>
              </a:ext>
            </a:extLst>
          </p:cNvPr>
          <p:cNvSpPr txBox="1"/>
          <p:nvPr/>
        </p:nvSpPr>
        <p:spPr>
          <a:xfrm>
            <a:off x="9220200" y="37528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486A4C-0F1D-BD2E-2585-812EDCC199D9}"/>
              </a:ext>
            </a:extLst>
          </p:cNvPr>
          <p:cNvSpPr txBox="1"/>
          <p:nvPr/>
        </p:nvSpPr>
        <p:spPr>
          <a:xfrm>
            <a:off x="9220200" y="44767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모두 배달형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31E220-2B9D-C6AD-A109-27863AB9D86D}"/>
              </a:ext>
            </a:extLst>
          </p:cNvPr>
          <p:cNvSpPr txBox="1"/>
          <p:nvPr/>
        </p:nvSpPr>
        <p:spPr>
          <a:xfrm>
            <a:off x="9220200" y="50482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회복 시 그 동네 이용자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약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→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16~22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가정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2336A73-8832-193E-EE9E-05979BE67003}"/>
              </a:ext>
            </a:extLst>
          </p:cNvPr>
          <p:cNvCxnSpPr/>
          <p:nvPr/>
        </p:nvCxnSpPr>
        <p:spPr>
          <a:xfrm>
            <a:off x="3314700" y="60960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1D4038A4-9DE4-69CE-1DBB-1F12A4995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44268"/>
              </p:ext>
            </p:extLst>
          </p:nvPr>
        </p:nvGraphicFramePr>
        <p:xfrm>
          <a:off x="3314700" y="6096000"/>
          <a:ext cx="8382000" cy="35433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43928610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1674685541"/>
                    </a:ext>
                  </a:extLst>
                </a:gridCol>
              </a:tblGrid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</a:t>
                      </a:r>
                    </a:p>
                  </a:txBody>
                  <a:tcPr marL="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(1·2·8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55.3%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이용자 수 학기의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4.9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23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 이후 급식 결제 사실상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307251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→ 사각지대 아님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 (13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곳은 두 방학 연속 하위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25%)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651339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이용자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99.5%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 하루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 넘게 카드 결제한 날이 있음</a:t>
                      </a:r>
                      <a:b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</a:b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최소주문 면제 가게가 앱 목록에 표시 안 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09283"/>
                  </a:ext>
                </a:extLst>
              </a:tr>
            </a:tbl>
          </a:graphicData>
        </a:graphic>
      </p:graphicFrame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4F213F0-EEA8-FD96-C6EF-1A716BD5EE2E}"/>
              </a:ext>
            </a:extLst>
          </p:cNvPr>
          <p:cNvCxnSpPr/>
          <p:nvPr/>
        </p:nvCxnSpPr>
        <p:spPr>
          <a:xfrm>
            <a:off x="119824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836602E-7440-2032-D820-E0BF87E2BA7E}"/>
              </a:ext>
            </a:extLst>
          </p:cNvPr>
          <p:cNvSpPr txBox="1"/>
          <p:nvPr/>
        </p:nvSpPr>
        <p:spPr>
          <a:xfrm>
            <a:off x="12268200" y="22479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E465CC-B340-71DC-F40E-F525FC8FDDFC}"/>
              </a:ext>
            </a:extLst>
          </p:cNvPr>
          <p:cNvSpPr txBox="1"/>
          <p:nvPr/>
        </p:nvSpPr>
        <p:spPr>
          <a:xfrm>
            <a:off x="14820900" y="2276475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담당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C5514-B0AB-4FED-FF41-4A239A45C924}"/>
              </a:ext>
            </a:extLst>
          </p:cNvPr>
          <p:cNvSpPr txBox="1"/>
          <p:nvPr/>
        </p:nvSpPr>
        <p:spPr>
          <a:xfrm>
            <a:off x="12268200" y="28003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endParaRPr lang="ko-KR" altLang="en-US" sz="16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B06C78-B687-C0AE-50C5-2B5FDA8344EA}"/>
              </a:ext>
            </a:extLst>
          </p:cNvPr>
          <p:cNvSpPr txBox="1"/>
          <p:nvPr/>
        </p:nvSpPr>
        <p:spPr>
          <a:xfrm>
            <a:off x="12611100" y="28098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정기 배달편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가능 급식 가게 우선 노출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CC8CF-21BC-D1B0-586F-1EB8CB65AC4B}"/>
              </a:ext>
            </a:extLst>
          </p:cNvPr>
          <p:cNvSpPr txBox="1"/>
          <p:nvPr/>
        </p:nvSpPr>
        <p:spPr>
          <a:xfrm>
            <a:off x="12611100" y="31242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시범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 학정동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검단동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논공 금포리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DE138-89FC-0EF2-8DBD-853ADA71A786}"/>
              </a:ext>
            </a:extLst>
          </p:cNvPr>
          <p:cNvSpPr txBox="1"/>
          <p:nvPr/>
        </p:nvSpPr>
        <p:spPr>
          <a:xfrm>
            <a:off x="12268200" y="40576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endParaRPr lang="ko-KR" altLang="en-US" sz="16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22A742-78DB-279D-0806-38B13C09C461}"/>
              </a:ext>
            </a:extLst>
          </p:cNvPr>
          <p:cNvSpPr txBox="1"/>
          <p:nvPr/>
        </p:nvSpPr>
        <p:spPr>
          <a:xfrm>
            <a:off x="12611100" y="40671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목록에 ‘급식카드 최소주문 면제’ 표시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384798-26B2-BD0A-9E53-340A211B9A13}"/>
              </a:ext>
            </a:extLst>
          </p:cNvPr>
          <p:cNvSpPr txBox="1"/>
          <p:nvPr/>
        </p:nvSpPr>
        <p:spPr>
          <a:xfrm>
            <a:off x="12611100" y="43815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대구시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전역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없이 시행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62DACF-0178-AC3A-2662-3460F650848A}"/>
              </a:ext>
            </a:extLst>
          </p:cNvPr>
          <p:cNvSpPr txBox="1"/>
          <p:nvPr/>
        </p:nvSpPr>
        <p:spPr>
          <a:xfrm>
            <a:off x="12268200" y="53149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endParaRPr lang="ko-KR" altLang="en-US" sz="16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DF11E8-EA1B-8D52-8A9D-C367D9F2E40C}"/>
              </a:ext>
            </a:extLst>
          </p:cNvPr>
          <p:cNvSpPr txBox="1"/>
          <p:nvPr/>
        </p:nvSpPr>
        <p:spPr>
          <a:xfrm>
            <a:off x="12611100" y="53244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 재공모 협약에 ‘방학 급식 사각지대 점검표’ 제출 조항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86C2BC-3A4D-E997-DD4D-532577B0F1BB}"/>
              </a:ext>
            </a:extLst>
          </p:cNvPr>
          <p:cNvSpPr txBox="1"/>
          <p:nvPr/>
        </p:nvSpPr>
        <p:spPr>
          <a:xfrm>
            <a:off x="12611100" y="56388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대구시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2026-11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협약 →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2027-03 1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회차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874CACD-E9D6-3D29-E107-FDF69F484253}"/>
              </a:ext>
            </a:extLst>
          </p:cNvPr>
          <p:cNvCxnSpPr/>
          <p:nvPr/>
        </p:nvCxnSpPr>
        <p:spPr>
          <a:xfrm>
            <a:off x="12268200" y="6724650"/>
            <a:ext cx="5410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FE40442-2994-D89B-A803-9498598DF0B5}"/>
              </a:ext>
            </a:extLst>
          </p:cNvPr>
          <p:cNvSpPr txBox="1"/>
          <p:nvPr/>
        </p:nvSpPr>
        <p:spPr>
          <a:xfrm>
            <a:off x="12268200" y="695325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 연계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6A2334-294C-C379-43BB-B99497433788}"/>
              </a:ext>
            </a:extLst>
          </p:cNvPr>
          <p:cNvSpPr txBox="1"/>
          <p:nvPr/>
        </p:nvSpPr>
        <p:spPr>
          <a:xfrm>
            <a:off x="12268200" y="73914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미개방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대구로 결제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고객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KCB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소득</a:t>
            </a:r>
          </a:p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주민등록 인구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대응표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경계</a:t>
            </a:r>
          </a:p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현장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대구로 앱 점검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구청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시청 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EE2F2-AEB9-4CB4-8C71-B7C17F6E125A}"/>
              </a:ext>
            </a:extLst>
          </p:cNvPr>
          <p:cNvSpPr txBox="1"/>
          <p:nvPr/>
        </p:nvSpPr>
        <p:spPr>
          <a:xfrm>
            <a:off x="12268200" y="85344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동네 묶음 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71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↔ 행정동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으로 연결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FD042D-E7A5-8954-6A3C-797E8A6BBA94}"/>
              </a:ext>
            </a:extLst>
          </p:cNvPr>
          <p:cNvSpPr txBox="1"/>
          <p:nvPr/>
        </p:nvSpPr>
        <p:spPr>
          <a:xfrm>
            <a:off x="12268200" y="90297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규모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 결제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341,216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25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181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b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진단 → 이유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가지 판정 → 해결방안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점검표</a:t>
            </a:r>
          </a:p>
        </p:txBody>
      </p:sp>
    </p:spTree>
    <p:extLst>
      <p:ext uri="{BB962C8B-B14F-4D97-AF65-F5344CB8AC3E}">
        <p14:creationId xmlns:p14="http://schemas.microsoft.com/office/powerpoint/2010/main" val="246083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64AA14B-D6CD-BC51-82AC-C2BD847195FF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FFC980-F28A-0A84-DC2D-31B79FCE83DD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83CE9E-4198-6E3F-31B4-ACA29DD683C1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27522-224B-5ADE-8C77-43455B5202FE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846D6-6F03-B78C-B6D0-0B3D9A9157A0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BCFC0-7EAB-EC9F-6C27-94A83E6D058B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90C55-DAE9-6F80-A7A9-D86810545319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3CCE9-EE83-FD2A-DF50-CD1118BBC59F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92787-212F-EB21-CCDE-46D5B0262D8F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D015C-81C0-EEE5-1F55-A8D3F555FC9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03350-DFBF-43AC-3C19-2DB79922128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8D312-6A0A-64AC-E2BA-3662528C87C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5D08B-8121-2D0B-05CA-D5386C99218B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지원 구조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7439-1F3A-352B-C719-386167FF3B3B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급식카드 배달 결제는 열렸지만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쟁점은 실제로 주문하느냐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F92109A-76E6-45D1-0FF5-F1451DEEF81C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EBBEB8-2F2B-D325-0B82-1574AEC77357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FB1BF3-6C7C-C751-DB16-AE4E2B260892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급식카드 배달 결제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2023-06-01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시행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경북매일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2023-05-31)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배달비 지원 누적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매일신문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2024-02-29)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FA78D-1C85-A0C7-F9D7-84228592B65E}"/>
              </a:ext>
            </a:extLst>
          </p:cNvPr>
          <p:cNvSpPr txBox="1"/>
          <p:nvPr/>
        </p:nvSpPr>
        <p:spPr>
          <a:xfrm>
            <a:off x="3314700" y="22479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아동급식카드 지원 구조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C75A9-D483-55DD-1E64-2C30301B110B}"/>
              </a:ext>
            </a:extLst>
          </p:cNvPr>
          <p:cNvSpPr txBox="1"/>
          <p:nvPr/>
        </p:nvSpPr>
        <p:spPr>
          <a:xfrm>
            <a:off x="14820900" y="22669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부터 대구로 배달 결제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6681606-7B8B-969B-2C5B-E4128B7F1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02365"/>
              </p:ext>
            </p:extLst>
          </p:nvPr>
        </p:nvGraphicFramePr>
        <p:xfrm>
          <a:off x="3314700" y="2667000"/>
          <a:ext cx="14363700" cy="31813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206159794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4018267945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3424827546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내용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03152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학기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방학별로 아침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점심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저녁 끼니를 골라 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동구청 아동청소년과 확인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2026-10-08 ·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 공통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0838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끼니 구분 없이 하루 한도 금액까지 결제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앱 배달 주문 가능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배달비 지원 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동구청 확인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배달비 누적 약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천 명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·2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억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천만 원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2084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단가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하루 한도는 신청한 끼니 수만큼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두 끼면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50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대구시청 복지과 문의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2026-10-15</a:t>
                      </a:r>
                      <a:endParaRPr lang="ko-KR" altLang="en-US" sz="1275" b="0">
                        <a:solidFill>
                          <a:srgbClr val="88838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58182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90A9001-EAA0-68C9-6192-07886EA0FA0B}"/>
              </a:ext>
            </a:extLst>
          </p:cNvPr>
          <p:cNvSpPr txBox="1"/>
          <p:nvPr/>
        </p:nvSpPr>
        <p:spPr>
          <a:xfrm>
            <a:off x="3314700" y="62484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기존 시각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8B756-A794-5DB8-342D-07ACEC5AE56D}"/>
              </a:ext>
            </a:extLst>
          </p:cNvPr>
          <p:cNvSpPr txBox="1"/>
          <p:nvPr/>
        </p:nvSpPr>
        <p:spPr>
          <a:xfrm>
            <a:off x="3314700" y="661035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25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가맹점이 주변에 있으면 이용 가능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68F901-A62A-468B-2888-9C1BCA270BDB}"/>
              </a:ext>
            </a:extLst>
          </p:cNvPr>
          <p:cNvSpPr txBox="1"/>
          <p:nvPr/>
        </p:nvSpPr>
        <p:spPr>
          <a:xfrm>
            <a:off x="3314700" y="73152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평가 지표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수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지도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시간대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한도는 지표 밖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23B18DB-5B8F-69E4-A037-294D8E8C020E}"/>
              </a:ext>
            </a:extLst>
          </p:cNvPr>
          <p:cNvCxnSpPr/>
          <p:nvPr/>
        </p:nvCxnSpPr>
        <p:spPr>
          <a:xfrm>
            <a:off x="9220200" y="6248400"/>
            <a:ext cx="0" cy="21907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E97A15-C07B-081B-59D0-DC2C3403DFD9}"/>
              </a:ext>
            </a:extLst>
          </p:cNvPr>
          <p:cNvSpPr txBox="1"/>
          <p:nvPr/>
        </p:nvSpPr>
        <p:spPr>
          <a:xfrm>
            <a:off x="9601200" y="62484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 분석의 시각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351AE-A871-01D2-A1EB-7C140928CCE3}"/>
              </a:ext>
            </a:extLst>
          </p:cNvPr>
          <p:cNvSpPr txBox="1"/>
          <p:nvPr/>
        </p:nvSpPr>
        <p:spPr>
          <a:xfrm>
            <a:off x="9601200" y="66103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로그로 방학에 실제 주문이 일어나는지 동 단위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53A0DA-271F-5BEC-3E81-673C82250456}"/>
              </a:ext>
            </a:extLst>
          </p:cNvPr>
          <p:cNvSpPr txBox="1"/>
          <p:nvPr/>
        </p:nvSpPr>
        <p:spPr>
          <a:xfrm>
            <a:off x="9601200" y="73152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덜 쓰는 동 → 이유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가지 판정 → 담당별 해결방안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로그로 방학마다 다시 점검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점검표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22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기대효과 단위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한 달 이용자 수</a:t>
            </a:r>
          </a:p>
        </p:txBody>
      </p:sp>
    </p:spTree>
    <p:extLst>
      <p:ext uri="{BB962C8B-B14F-4D97-AF65-F5344CB8AC3E}">
        <p14:creationId xmlns:p14="http://schemas.microsoft.com/office/powerpoint/2010/main" val="412841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67099C4-7CFA-CB31-582A-A05556E97E27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6AA007-07C9-1FFA-E00F-9D327ADA84B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98D837-6CDE-E614-A999-F6C978160C7E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FE654-43A9-F960-C3E3-1765CC9E2ED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A6E0E-AE58-64C5-F199-5D9A87176DA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D7888-212F-0D0E-9969-F06A515AE5CD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81FC0-4867-2B07-DD53-C41944A16B5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23C1D-8129-2185-F861-D7530E361C6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8CB03-35F7-E3DF-736A-66185B6B4C4D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FF1E1-7FEF-1BC2-465A-54E7F24A084C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2C198-DA4D-1EC4-2075-4C785E7BDAAA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767A8-282A-5D44-8B33-A5925EB7645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B305F3-ECBB-232E-4C28-02F83ADC3769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세 축과 질문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A4BDC-A9F4-EDD1-F71F-9CAC3D9B2FEB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‘어디서 멈추는가’를 세 축으로 나눠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한 축이 약해도 나머지 축으로 결론 유지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FE7A622-B07B-BFB0-BCD2-71CB3594B4D5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2C107B-3745-BFB7-81B9-AE6013429CA9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D27B7-4D74-6331-CD98-361266F9978D}"/>
              </a:ext>
            </a:extLst>
          </p:cNvPr>
          <p:cNvSpPr txBox="1"/>
          <p:nvPr/>
        </p:nvSpPr>
        <p:spPr>
          <a:xfrm>
            <a:off x="3314700" y="2247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시간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69C54C-C5DB-7A90-84C4-EBC7707D5956}"/>
              </a:ext>
            </a:extLst>
          </p:cNvPr>
          <p:cNvSpPr txBox="1"/>
          <p:nvPr/>
        </p:nvSpPr>
        <p:spPr>
          <a:xfrm>
            <a:off x="4457700" y="2362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언제 멈추나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C3F075-FB6E-6737-08F6-2D6339C775B0}"/>
              </a:ext>
            </a:extLst>
          </p:cNvPr>
          <p:cNvSpPr txBox="1"/>
          <p:nvPr/>
        </p:nvSpPr>
        <p:spPr>
          <a:xfrm>
            <a:off x="3314700" y="3009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시기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요일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64585-6000-6361-7BE4-7DEE22A40C12}"/>
              </a:ext>
            </a:extLst>
          </p:cNvPr>
          <p:cNvSpPr txBox="1"/>
          <p:nvPr/>
        </p:nvSpPr>
        <p:spPr>
          <a:xfrm>
            <a:off x="3314700" y="34099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월별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시간대 결제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(1·2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2FFD2E3-D94D-6A77-7411-A2BE91DBFC9F}"/>
              </a:ext>
            </a:extLst>
          </p:cNvPr>
          <p:cNvCxnSpPr/>
          <p:nvPr/>
        </p:nvCxnSpPr>
        <p:spPr>
          <a:xfrm>
            <a:off x="3314700" y="4457700"/>
            <a:ext cx="5715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D2FD4C7-5875-0C74-5F4E-8D59FD98CCA1}"/>
              </a:ext>
            </a:extLst>
          </p:cNvPr>
          <p:cNvSpPr txBox="1"/>
          <p:nvPr/>
        </p:nvSpPr>
        <p:spPr>
          <a:xfrm>
            <a:off x="33147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9C897E-E4A7-08DC-B113-067E14A69C50}"/>
              </a:ext>
            </a:extLst>
          </p:cNvPr>
          <p:cNvSpPr txBox="1"/>
          <p:nvPr/>
        </p:nvSpPr>
        <p:spPr>
          <a:xfrm>
            <a:off x="4457700" y="48006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어디서 멈추나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16D1B-B924-5C3C-7D60-E866AC84EE4D}"/>
              </a:ext>
            </a:extLst>
          </p:cNvPr>
          <p:cNvSpPr txBox="1"/>
          <p:nvPr/>
        </p:nvSpPr>
        <p:spPr>
          <a:xfrm>
            <a:off x="3314700" y="54483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동네 묶음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0D6DE-134C-1B76-5766-44DCC04F7256}"/>
              </a:ext>
            </a:extLst>
          </p:cNvPr>
          <p:cNvSpPr txBox="1"/>
          <p:nvPr/>
        </p:nvSpPr>
        <p:spPr>
          <a:xfrm>
            <a:off x="3314700" y="58483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 결제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인구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KCB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소득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(3·4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C5786C6-18C3-5121-9BE4-E28670185208}"/>
              </a:ext>
            </a:extLst>
          </p:cNvPr>
          <p:cNvCxnSpPr/>
          <p:nvPr/>
        </p:nvCxnSpPr>
        <p:spPr>
          <a:xfrm>
            <a:off x="3314700" y="6896100"/>
            <a:ext cx="5715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C071F99-E270-0724-F9D5-B8D3F45B3EE0}"/>
              </a:ext>
            </a:extLst>
          </p:cNvPr>
          <p:cNvSpPr txBox="1"/>
          <p:nvPr/>
        </p:nvSpPr>
        <p:spPr>
          <a:xfrm>
            <a:off x="3314700" y="7124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제도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A3F6DA-D8A2-E41F-D751-11E88A35C32C}"/>
              </a:ext>
            </a:extLst>
          </p:cNvPr>
          <p:cNvSpPr txBox="1"/>
          <p:nvPr/>
        </p:nvSpPr>
        <p:spPr>
          <a:xfrm>
            <a:off x="4457700" y="7239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무엇이 막나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6BA80-BBE2-F8E6-4025-BBDF2C9221C8}"/>
              </a:ext>
            </a:extLst>
          </p:cNvPr>
          <p:cNvSpPr txBox="1"/>
          <p:nvPr/>
        </p:nvSpPr>
        <p:spPr>
          <a:xfrm>
            <a:off x="3314700" y="78867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 유형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한도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최소주문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9C2449-AA9C-E36C-0F2C-7F4EFD4684ED}"/>
              </a:ext>
            </a:extLst>
          </p:cNvPr>
          <p:cNvSpPr txBox="1"/>
          <p:nvPr/>
        </p:nvSpPr>
        <p:spPr>
          <a:xfrm>
            <a:off x="3314700" y="82867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금액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(4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구청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시청 확인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269A034-C81D-AD22-6FDC-6B6AFA511E94}"/>
              </a:ext>
            </a:extLst>
          </p:cNvPr>
          <p:cNvCxnSpPr/>
          <p:nvPr/>
        </p:nvCxnSpPr>
        <p:spPr>
          <a:xfrm>
            <a:off x="94107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446780-0BAC-FF4D-2565-EBA5A19C9B80}"/>
              </a:ext>
            </a:extLst>
          </p:cNvPr>
          <p:cNvSpPr txBox="1"/>
          <p:nvPr/>
        </p:nvSpPr>
        <p:spPr>
          <a:xfrm>
            <a:off x="9791700" y="2247900"/>
            <a:ext cx="788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질문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859D2D-0BCF-31CC-A7DF-80E887296DBB}"/>
              </a:ext>
            </a:extLst>
          </p:cNvPr>
          <p:cNvSpPr txBox="1"/>
          <p:nvPr/>
        </p:nvSpPr>
        <p:spPr>
          <a:xfrm>
            <a:off x="14820900" y="2276475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답하는 쪽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54EDA2-7522-2221-2A94-4AE75612E598}"/>
              </a:ext>
            </a:extLst>
          </p:cNvPr>
          <p:cNvSpPr txBox="1"/>
          <p:nvPr/>
        </p:nvSpPr>
        <p:spPr>
          <a:xfrm>
            <a:off x="9791700" y="29337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</a:t>
            </a:r>
            <a:endParaRPr lang="ko-KR" altLang="en-US" sz="33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687215-66FA-DA46-24B4-CF55299EEA02}"/>
              </a:ext>
            </a:extLst>
          </p:cNvPr>
          <p:cNvSpPr txBox="1"/>
          <p:nvPr/>
        </p:nvSpPr>
        <p:spPr>
          <a:xfrm>
            <a:off x="10458450" y="29908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아이들은 언제 급식카드로 배달을 시키나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FED511-DFBA-46C0-F7AD-660C8B900B29}"/>
              </a:ext>
            </a:extLst>
          </p:cNvPr>
          <p:cNvSpPr txBox="1"/>
          <p:nvPr/>
        </p:nvSpPr>
        <p:spPr>
          <a:xfrm>
            <a:off x="16535400" y="3048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10~12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C08721-7B98-44C2-3038-6A9A3E8EEF15}"/>
              </a:ext>
            </a:extLst>
          </p:cNvPr>
          <p:cNvCxnSpPr/>
          <p:nvPr/>
        </p:nvCxnSpPr>
        <p:spPr>
          <a:xfrm>
            <a:off x="9791700" y="42862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86D01C0-25C0-BECE-3B18-8A169177DDD7}"/>
              </a:ext>
            </a:extLst>
          </p:cNvPr>
          <p:cNvSpPr txBox="1"/>
          <p:nvPr/>
        </p:nvSpPr>
        <p:spPr>
          <a:xfrm>
            <a:off x="9791700" y="4572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2</a:t>
            </a:r>
            <a:endParaRPr lang="ko-KR" altLang="en-US" sz="33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F1B92F-8726-89E8-6549-699FC9CB791E}"/>
              </a:ext>
            </a:extLst>
          </p:cNvPr>
          <p:cNvSpPr txBox="1"/>
          <p:nvPr/>
        </p:nvSpPr>
        <p:spPr>
          <a:xfrm>
            <a:off x="10458450" y="46291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실제로 덜 쓰는 동은 어디인가</a:t>
            </a:r>
            <a:r>
              <a:rPr lang="en-US" altLang="ko-KR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기준으로 선정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65E862-4598-EB37-4EB6-D2E063EA855A}"/>
              </a:ext>
            </a:extLst>
          </p:cNvPr>
          <p:cNvSpPr txBox="1"/>
          <p:nvPr/>
        </p:nvSpPr>
        <p:spPr>
          <a:xfrm>
            <a:off x="165354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13~16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206379C-A315-9D42-FB9D-4D9F06B7C72E}"/>
              </a:ext>
            </a:extLst>
          </p:cNvPr>
          <p:cNvCxnSpPr/>
          <p:nvPr/>
        </p:nvCxnSpPr>
        <p:spPr>
          <a:xfrm>
            <a:off x="9791700" y="59245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3A31168-5962-FEEE-8FC4-227BC0A53538}"/>
              </a:ext>
            </a:extLst>
          </p:cNvPr>
          <p:cNvSpPr txBox="1"/>
          <p:nvPr/>
        </p:nvSpPr>
        <p:spPr>
          <a:xfrm>
            <a:off x="9791700" y="62103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3</a:t>
            </a:r>
            <a:endParaRPr lang="ko-KR" altLang="en-US" sz="33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4D9748-215A-D625-32C5-98BD6A94301A}"/>
              </a:ext>
            </a:extLst>
          </p:cNvPr>
          <p:cNvSpPr txBox="1"/>
          <p:nvPr/>
        </p:nvSpPr>
        <p:spPr>
          <a:xfrm>
            <a:off x="10458450" y="62674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덜 쓰는 이유는 무엇인가</a:t>
            </a:r>
            <a:r>
              <a:rPr lang="en-US" altLang="ko-KR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후보 </a:t>
            </a:r>
            <a:r>
              <a:rPr lang="en-US" altLang="ko-KR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가지를 데이터로 판정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0CEBD7-7739-D298-C762-193E7819E848}"/>
              </a:ext>
            </a:extLst>
          </p:cNvPr>
          <p:cNvSpPr txBox="1"/>
          <p:nvPr/>
        </p:nvSpPr>
        <p:spPr>
          <a:xfrm>
            <a:off x="16535400" y="6324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16~19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5B31F9F-B0D6-BD6B-7E67-2412469434FE}"/>
              </a:ext>
            </a:extLst>
          </p:cNvPr>
          <p:cNvCxnSpPr/>
          <p:nvPr/>
        </p:nvCxnSpPr>
        <p:spPr>
          <a:xfrm>
            <a:off x="9791700" y="75628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27D065E-7CD2-F43D-61B2-3DC9BFF4BDB4}"/>
              </a:ext>
            </a:extLst>
          </p:cNvPr>
          <p:cNvSpPr txBox="1"/>
          <p:nvPr/>
        </p:nvSpPr>
        <p:spPr>
          <a:xfrm>
            <a:off x="9791700" y="7848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</a:t>
            </a:r>
            <a:endParaRPr lang="ko-KR" altLang="en-US" sz="33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81D071-36FF-147B-40D5-D8A86FD0DA1F}"/>
              </a:ext>
            </a:extLst>
          </p:cNvPr>
          <p:cNvSpPr txBox="1"/>
          <p:nvPr/>
        </p:nvSpPr>
        <p:spPr>
          <a:xfrm>
            <a:off x="10458450" y="79057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무엇을 하면 더 쓰나</a:t>
            </a:r>
            <a:r>
              <a:rPr lang="en-US" altLang="ko-KR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누가</a:t>
            </a:r>
            <a:r>
              <a:rPr lang="en-US" altLang="ko-KR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얼마나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EB0471-7D0D-14B4-3CE7-08F4EC788A71}"/>
              </a:ext>
            </a:extLst>
          </p:cNvPr>
          <p:cNvSpPr txBox="1"/>
          <p:nvPr/>
        </p:nvSpPr>
        <p:spPr>
          <a:xfrm>
            <a:off x="16535400" y="796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20~22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22758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7275960-68A0-B55B-79C6-F14C3C6672F2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A9D948-8DA6-F0E2-2390-C2FD5F84586A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721C8D-B338-89BF-35AF-FD494E4612A1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27249-311E-CAE3-3710-01E4A3EA14BF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05E56-B359-1B7D-914D-A7243779DC25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84DE7-823D-E378-CB92-91E4021C816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CE20F-E50B-B180-7155-9046C8FE9E7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32FEF-F03A-8C9F-F220-06B245639261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1E999-E135-CD04-7F5E-B4364568DD4A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D8C6D-014C-F35D-5063-1D95E30EC54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69198-5397-AE48-0360-BA62620DA10C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2A03D-6883-7D79-6B87-CF7067A9C04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0A3A2-7CDE-741B-1581-243BA0C6BCF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분석 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8549E-6835-A4B7-91A3-BFE5C4B6A24E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진단 → 이유 판정 → 해결방안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판정 규칙은 결과 확인 전에 고정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67574BF-981B-ECC9-BE17-51892C3DAA54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C14420-C020-EA65-E6C5-840B6342D2E2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BDB09-1138-97CB-7691-82EF7E5C6626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규칙 문서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docs/topics/T2_reason_rules.md 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D-019)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893FD94-8849-E217-4558-9AC291E90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18488"/>
              </p:ext>
            </p:extLst>
          </p:nvPr>
        </p:nvGraphicFramePr>
        <p:xfrm>
          <a:off x="3314700" y="2247900"/>
          <a:ext cx="14363700" cy="3581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077224428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41889118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414204057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하는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결과물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682945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진단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시각 분포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공간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급식 비중 지수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아동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천 명당 이용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0958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가지마다 해당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아님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판단 불가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근거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KCB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소득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앱 점검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이웃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02764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해결방안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유형별 담당과 확인 지표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늘리기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(A)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 이용 회복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(B)</a:t>
                      </a:r>
                      <a:endParaRPr lang="ko-KR" altLang="en-US" sz="150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같은 단위 비교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월 이용자 수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6307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C1CD153-BE28-9E37-CFA3-02E0CC15ACF1}"/>
              </a:ext>
            </a:extLst>
          </p:cNvPr>
          <p:cNvSpPr txBox="1"/>
          <p:nvPr/>
        </p:nvSpPr>
        <p:spPr>
          <a:xfrm>
            <a:off x="3314700" y="6534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endParaRPr lang="ko-KR" altLang="en-US" sz="120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F14CC5-61D4-0FCF-FADF-3DFAD64CBD90}"/>
              </a:ext>
            </a:extLst>
          </p:cNvPr>
          <p:cNvSpPr txBox="1"/>
          <p:nvPr/>
        </p:nvSpPr>
        <p:spPr>
          <a:xfrm>
            <a:off x="3314700" y="6915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규칙은 반출물 확인 전 고정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A6B70-5A20-8138-7BC0-D1CC23B8B8E4}"/>
              </a:ext>
            </a:extLst>
          </p:cNvPr>
          <p:cNvSpPr txBox="1"/>
          <p:nvPr/>
        </p:nvSpPr>
        <p:spPr>
          <a:xfrm>
            <a:off x="3314700" y="74485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2026-10-13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문서화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버전 기록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(git)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문턱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분포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25%·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중앙값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A0B4869-CB56-B40D-C71C-BFCDF4DB61F1}"/>
              </a:ext>
            </a:extLst>
          </p:cNvPr>
          <p:cNvCxnSpPr/>
          <p:nvPr/>
        </p:nvCxnSpPr>
        <p:spPr>
          <a:xfrm>
            <a:off x="8553450" y="6534150"/>
            <a:ext cx="0" cy="1905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372497-FC02-E734-1151-D0BD61D0057E}"/>
              </a:ext>
            </a:extLst>
          </p:cNvPr>
          <p:cNvSpPr txBox="1"/>
          <p:nvPr/>
        </p:nvSpPr>
        <p:spPr>
          <a:xfrm>
            <a:off x="8839200" y="65341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endParaRPr lang="ko-KR" altLang="en-US" sz="120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DCCAC4-3EF8-D1C0-B9B5-46F53A91117A}"/>
              </a:ext>
            </a:extLst>
          </p:cNvPr>
          <p:cNvSpPr txBox="1"/>
          <p:nvPr/>
        </p:nvSpPr>
        <p:spPr>
          <a:xfrm>
            <a:off x="8839200" y="69151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진단 숫자와 시나리오 숫자 분리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AA54BB-2E08-39B5-64CC-1F2A1C7FCC48}"/>
              </a:ext>
            </a:extLst>
          </p:cNvPr>
          <p:cNvSpPr txBox="1"/>
          <p:nvPr/>
        </p:nvSpPr>
        <p:spPr>
          <a:xfrm>
            <a:off x="8839200" y="74485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시나리오는 ‘가정 하’ 표시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결론 문장에 섞지 않음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E3413FD-1F5D-192D-B83D-D9AC8084987F}"/>
              </a:ext>
            </a:extLst>
          </p:cNvPr>
          <p:cNvCxnSpPr/>
          <p:nvPr/>
        </p:nvCxnSpPr>
        <p:spPr>
          <a:xfrm>
            <a:off x="13315950" y="6534150"/>
            <a:ext cx="0" cy="1905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950434-C5FE-19DF-950E-E9AC9E19971F}"/>
              </a:ext>
            </a:extLst>
          </p:cNvPr>
          <p:cNvSpPr txBox="1"/>
          <p:nvPr/>
        </p:nvSpPr>
        <p:spPr>
          <a:xfrm>
            <a:off x="13601700" y="65341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endParaRPr lang="ko-KR" altLang="en-US" sz="120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2D230-044A-65F7-7FAF-59FFEA4FDF00}"/>
              </a:ext>
            </a:extLst>
          </p:cNvPr>
          <p:cNvSpPr txBox="1"/>
          <p:nvPr/>
        </p:nvSpPr>
        <p:spPr>
          <a:xfrm>
            <a:off x="13601700" y="69151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판단 불가는 ‘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?’</a:t>
            </a: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로 유지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130441-6CE3-DB4F-0C1D-32ECE3E270A9}"/>
              </a:ext>
            </a:extLst>
          </p:cNvPr>
          <p:cNvSpPr txBox="1"/>
          <p:nvPr/>
        </p:nvSpPr>
        <p:spPr>
          <a:xfrm>
            <a:off x="13601700" y="74485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숨기지 않고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다음 회차 점검 항목으로 넘김</a:t>
            </a:r>
          </a:p>
        </p:txBody>
      </p:sp>
    </p:spTree>
    <p:extLst>
      <p:ext uri="{BB962C8B-B14F-4D97-AF65-F5344CB8AC3E}">
        <p14:creationId xmlns:p14="http://schemas.microsoft.com/office/powerpoint/2010/main" val="243923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7848E3F-9D75-9FF7-DEBA-FF5B7D6AD4D9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7869E2-D510-4EDB-E126-B88C52C983F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34B20-E755-B9B6-8059-DC23DD547D74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97D0E9-0D2F-697E-5E0A-A00825AF00A1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E232F-A46E-A7BB-0B74-B557796B185C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2DB13-6BC1-A993-9B5B-3799E0AEDF4B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F85F7-DECB-8681-23CD-B6156CA9F29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39535-CDB2-C3EF-9DB0-E0AF247D8C3E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39402-E262-22E0-70F2-A524C98B77C0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F826C-DF2B-4E36-A3C8-383E2DDD89CF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19484-46C0-31F9-D8D1-1A729EA8401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1F688-B19C-6C33-AB0E-A8B4F408B8CD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200EA-17B7-2907-D443-166AB7704EB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자료 연결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1F0768-DD73-7075-3B4C-0D428478BCC1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결제 로그에 소득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배달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인구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현장 확인을 동네 단위로 연결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7178A47-C5FF-2C94-A46C-9373F360CF48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FE5FDE-9801-39B3-C356-1DECED39165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64DC-0B18-7F67-3D52-485DAC6DB3E8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가점 대상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상호제공 데이터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(KCB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 소득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연계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기간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2023-06~2025-06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0CE23-CF8C-06B1-91B0-E920369078D7}"/>
              </a:ext>
            </a:extLst>
          </p:cNvPr>
          <p:cNvSpPr txBox="1"/>
          <p:nvPr/>
        </p:nvSpPr>
        <p:spPr>
          <a:xfrm>
            <a:off x="3314700" y="2247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미개방 상호제공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종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 + KCB) · 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데이터안심구역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A03B2-7296-9B02-02CA-FA086CD29909}"/>
              </a:ext>
            </a:extLst>
          </p:cNvPr>
          <p:cNvSpPr txBox="1"/>
          <p:nvPr/>
        </p:nvSpPr>
        <p:spPr>
          <a:xfrm>
            <a:off x="3314700" y="2667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결제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D262C0-423C-01A1-8409-946D293EF93F}"/>
              </a:ext>
            </a:extLst>
          </p:cNvPr>
          <p:cNvSpPr txBox="1"/>
          <p:nvPr/>
        </p:nvSpPr>
        <p:spPr>
          <a:xfrm>
            <a:off x="3314700" y="3028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341,216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3,612,950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2023-06~2025-06,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→ 가맹점 법정동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AE86C3-DAFA-8A9D-13A8-5B58B8651B95}"/>
              </a:ext>
            </a:extLst>
          </p:cNvPr>
          <p:cNvSpPr txBox="1"/>
          <p:nvPr/>
        </p:nvSpPr>
        <p:spPr>
          <a:xfrm>
            <a:off x="3314700" y="38481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가맹점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FA3ADE-B4E5-0D94-50D1-86FBCA705B0C}"/>
              </a:ext>
            </a:extLst>
          </p:cNvPr>
          <p:cNvSpPr txBox="1"/>
          <p:nvPr/>
        </p:nvSpPr>
        <p:spPr>
          <a:xfrm>
            <a:off x="3314700" y="42100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22,086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 등록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10,781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등록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영업 상태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주소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20F7E7-11E5-A27E-D55F-35A691A5045D}"/>
              </a:ext>
            </a:extLst>
          </p:cNvPr>
          <p:cNvSpPr txBox="1"/>
          <p:nvPr/>
        </p:nvSpPr>
        <p:spPr>
          <a:xfrm>
            <a:off x="33147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배달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고객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4C9ACB-005C-629F-B361-805A4A22CA48}"/>
              </a:ext>
            </a:extLst>
          </p:cNvPr>
          <p:cNvSpPr txBox="1"/>
          <p:nvPr/>
        </p:nvSpPr>
        <p:spPr>
          <a:xfrm>
            <a:off x="3314700" y="5391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시간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배달팁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연령대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일부 결함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25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CDFCB8-7129-205D-9CA7-936ADFD4F471}"/>
              </a:ext>
            </a:extLst>
          </p:cNvPr>
          <p:cNvSpPr txBox="1"/>
          <p:nvPr/>
        </p:nvSpPr>
        <p:spPr>
          <a:xfrm>
            <a:off x="3314700" y="6210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KCB 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 소득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84E7BF-D50A-EF22-068F-38AC87A20A78}"/>
              </a:ext>
            </a:extLst>
          </p:cNvPr>
          <p:cNvSpPr txBox="1"/>
          <p:nvPr/>
        </p:nvSpPr>
        <p:spPr>
          <a:xfrm>
            <a:off x="3314700" y="65722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분기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군위 포함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30·40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 소득 구간 → 필요의 대리 지표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90305F0-DC4E-1792-083A-BE32B9E9991C}"/>
              </a:ext>
            </a:extLst>
          </p:cNvPr>
          <p:cNvCxnSpPr/>
          <p:nvPr/>
        </p:nvCxnSpPr>
        <p:spPr>
          <a:xfrm>
            <a:off x="8553450" y="2247900"/>
            <a:ext cx="0" cy="5143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DA83ACB-CC07-211E-82FB-45BE4593C95E}"/>
              </a:ext>
            </a:extLst>
          </p:cNvPr>
          <p:cNvSpPr txBox="1"/>
          <p:nvPr/>
        </p:nvSpPr>
        <p:spPr>
          <a:xfrm>
            <a:off x="8839200" y="22479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 </a:t>
            </a:r>
            <a:r>
              <a:rPr lang="en-US" altLang="ko-KR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35EFBE-6953-2A10-A4C2-23E13221B33C}"/>
              </a:ext>
            </a:extLst>
          </p:cNvPr>
          <p:cNvSpPr txBox="1"/>
          <p:nvPr/>
        </p:nvSpPr>
        <p:spPr>
          <a:xfrm>
            <a:off x="8839200" y="26670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주민등록 연령별 인구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407AEE-A0CF-4427-EF65-F34BF075885B}"/>
              </a:ext>
            </a:extLst>
          </p:cNvPr>
          <p:cNvSpPr txBox="1"/>
          <p:nvPr/>
        </p:nvSpPr>
        <p:spPr>
          <a:xfrm>
            <a:off x="8839200" y="3028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6~18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세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25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행정안전부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F54540-0963-F04B-4059-AD2C05F35CD9}"/>
              </a:ext>
            </a:extLst>
          </p:cNvPr>
          <p:cNvSpPr txBox="1"/>
          <p:nvPr/>
        </p:nvSpPr>
        <p:spPr>
          <a:xfrm>
            <a:off x="8839200" y="38481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대응표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544BC-3A6C-2EA9-E464-ACA124AA488F}"/>
              </a:ext>
            </a:extLst>
          </p:cNvPr>
          <p:cNvSpPr txBox="1"/>
          <p:nvPr/>
        </p:nvSpPr>
        <p:spPr>
          <a:xfrm>
            <a:off x="8839200" y="4210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2025-06-30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행정안전부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01980-4C5D-35B0-9D30-2BA45B43AA66}"/>
              </a:ext>
            </a:extLst>
          </p:cNvPr>
          <p:cNvSpPr txBox="1"/>
          <p:nvPr/>
        </p:nvSpPr>
        <p:spPr>
          <a:xfrm>
            <a:off x="8839200" y="50292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리 경계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19F619-F9F1-646C-3566-890D6E68F902}"/>
              </a:ext>
            </a:extLst>
          </p:cNvPr>
          <p:cNvSpPr txBox="1"/>
          <p:nvPr/>
        </p:nvSpPr>
        <p:spPr>
          <a:xfrm>
            <a:off x="8839200" y="53911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2026-09 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국가공간정보포털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이웃 동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92EE4A0-FA71-7635-B905-BE1B7E8382F2}"/>
              </a:ext>
            </a:extLst>
          </p:cNvPr>
          <p:cNvCxnSpPr/>
          <p:nvPr/>
        </p:nvCxnSpPr>
        <p:spPr>
          <a:xfrm>
            <a:off x="13220700" y="2247900"/>
            <a:ext cx="0" cy="5143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183B88-761F-1065-5A73-BCC2ABEAAA2E}"/>
              </a:ext>
            </a:extLst>
          </p:cNvPr>
          <p:cNvSpPr txBox="1"/>
          <p:nvPr/>
        </p:nvSpPr>
        <p:spPr>
          <a:xfrm>
            <a:off x="13506450" y="22479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현장 확인 </a:t>
            </a:r>
            <a:r>
              <a:rPr lang="en-US" altLang="ko-KR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400435-2CB2-A6EF-CCDA-28819F4CDFA9}"/>
              </a:ext>
            </a:extLst>
          </p:cNvPr>
          <p:cNvSpPr txBox="1"/>
          <p:nvPr/>
        </p:nvSpPr>
        <p:spPr>
          <a:xfrm>
            <a:off x="13506450" y="26670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앱 점검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3CD0B0-0DAD-30D8-B76F-B6AE8D1C43FE}"/>
              </a:ext>
            </a:extLst>
          </p:cNvPr>
          <p:cNvSpPr txBox="1"/>
          <p:nvPr/>
        </p:nvSpPr>
        <p:spPr>
          <a:xfrm>
            <a:off x="13506450" y="302895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대조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‘1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인분’ 목록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(2026-10-15)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7DF8ED-9B9C-878B-9B69-193C0F45CAF0}"/>
              </a:ext>
            </a:extLst>
          </p:cNvPr>
          <p:cNvSpPr txBox="1"/>
          <p:nvPr/>
        </p:nvSpPr>
        <p:spPr>
          <a:xfrm>
            <a:off x="13506450" y="38481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구청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시청 확인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8AB7A7-4967-B6D1-9D86-ADAB504E0EB8}"/>
              </a:ext>
            </a:extLst>
          </p:cNvPr>
          <p:cNvSpPr txBox="1"/>
          <p:nvPr/>
        </p:nvSpPr>
        <p:spPr>
          <a:xfrm>
            <a:off x="13506450" y="421005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 유형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한도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·2026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단가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(10-08·10-15)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4729227-6740-62B8-98D2-BA9DB6FB16AE}"/>
              </a:ext>
            </a:extLst>
          </p:cNvPr>
          <p:cNvCxnSpPr/>
          <p:nvPr/>
        </p:nvCxnSpPr>
        <p:spPr>
          <a:xfrm>
            <a:off x="3314700" y="77724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FD1F862-632A-2195-1B60-03C4C49F3189}"/>
              </a:ext>
            </a:extLst>
          </p:cNvPr>
          <p:cNvSpPr txBox="1"/>
          <p:nvPr/>
        </p:nvSpPr>
        <p:spPr>
          <a:xfrm>
            <a:off x="3314700" y="80581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연결 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7BC5D9-7389-C9F9-B213-2EB929DEAF6F}"/>
              </a:ext>
            </a:extLst>
          </p:cNvPr>
          <p:cNvSpPr txBox="1"/>
          <p:nvPr/>
        </p:nvSpPr>
        <p:spPr>
          <a:xfrm>
            <a:off x="3314700" y="8382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3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동네 묶음 </a:t>
            </a:r>
            <a:r>
              <a:rPr lang="en-US" altLang="ko-KR" sz="33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71</a:t>
            </a:r>
            <a:r>
              <a:rPr lang="ko-KR" altLang="en-US" sz="33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479FEE-6240-FCB7-E356-8726EC5AB446}"/>
              </a:ext>
            </a:extLst>
          </p:cNvPr>
          <p:cNvSpPr txBox="1"/>
          <p:nvPr/>
        </p:nvSpPr>
        <p:spPr>
          <a:xfrm>
            <a:off x="8839200" y="8096250"/>
            <a:ext cx="883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주소의 법정동과 인구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소득의 행정동을 공식 대응표로 묶은 단위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면적 배분 없이 묶음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진단은 법정동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181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</a:p>
        </p:txBody>
      </p:sp>
    </p:spTree>
    <p:extLst>
      <p:ext uri="{BB962C8B-B14F-4D97-AF65-F5344CB8AC3E}">
        <p14:creationId xmlns:p14="http://schemas.microsoft.com/office/powerpoint/2010/main" val="175334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F233772-802B-B208-0888-A2A349075D80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273026-DFA8-C288-5965-A7D5820C5414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C4191-90AE-EFFB-0CF9-ABEEF5A379E6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6A6B2E-FC5B-DBCA-F058-00FFD04EAC4A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C2358-2B80-686A-1814-6127DCE68F43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B71B6-D051-E190-AFA2-8D1FDCDC2F5A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60269-297A-112D-ED7F-D85BFFFC870B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A4E887-3A08-B3E8-D0E3-B21E443D357B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023BD-C2B1-38AD-79A6-D2C3DBAB106F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91D42B-F229-5063-B38C-999136DC9CF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5277E-B024-E38E-10DA-8E271C0817A1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EDE78-5B1F-046F-88E3-26B7E40B12A8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C941E-36E7-C5AE-D741-84ADE2FD7C8B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전처리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213E3-947B-EF38-C65D-E2F61151AD9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같은 정의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5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단계를 모든 반출에 똑같이 적용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E26EF5D-A71C-5D28-DAD6-8AF8396823DF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E1DFF3-CA74-6863-ECBF-80DE8F9EE1D7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25E41-C394-F62A-FDD4-3D2E82CDFC54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정의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기간 판정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2·3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방문 확정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가림 규칙은 센터 반출 기준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EDF44C0-10FC-5F54-CD5D-457DACAFE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60115"/>
              </p:ext>
            </p:extLst>
          </p:nvPr>
        </p:nvGraphicFramePr>
        <p:xfrm>
          <a:off x="3314700" y="2247900"/>
          <a:ext cx="14363700" cy="40576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38446741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66656453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677559713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68786309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정의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근거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27892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 정의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결제수단 ‘아동급식카드’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완료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중복 제거 없음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341,216</a:t>
                      </a:r>
                      <a:r>
                        <a:rPr lang="ko-KR" altLang="en-US" sz="195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건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 확정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33679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2023-06~2025-06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25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개월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미리 정한 기간 판정 규칙으로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 확정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40594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시기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1·2·8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전환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7·12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학기 나머지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6 · 4 · 15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개월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학교급식이 없는 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88651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→ 가맹점 법정동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인구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소득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과 연결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71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곳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묶음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면적 배분 없음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387269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반출 가림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고객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명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가맹점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미만 가림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역산 칸 보완 가림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자동 검사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반출 전 자동 검사 통과 파일만 신청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450996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A1D147E-7AA9-6780-7CAD-F54B9DBA6C7E}"/>
              </a:ext>
            </a:extLst>
          </p:cNvPr>
          <p:cNvCxnSpPr/>
          <p:nvPr/>
        </p:nvCxnSpPr>
        <p:spPr>
          <a:xfrm>
            <a:off x="10267950" y="6819900"/>
            <a:ext cx="0" cy="2819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6C3960-BECE-84DA-300A-074D9A6FA771}"/>
              </a:ext>
            </a:extLst>
          </p:cNvPr>
          <p:cNvSpPr txBox="1"/>
          <p:nvPr/>
        </p:nvSpPr>
        <p:spPr>
          <a:xfrm>
            <a:off x="3314700" y="6819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주의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endParaRPr lang="ko-KR" altLang="en-US" sz="120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E792E-5795-8F73-9626-3C080C50D158}"/>
              </a:ext>
            </a:extLst>
          </p:cNvPr>
          <p:cNvSpPr txBox="1"/>
          <p:nvPr/>
        </p:nvSpPr>
        <p:spPr>
          <a:xfrm>
            <a:off x="3314700" y="71818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위치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소재지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아이 집 아님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6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64B0B6-F49C-ABCF-518B-26A1C5CED58D}"/>
              </a:ext>
            </a:extLst>
          </p:cNvPr>
          <p:cNvSpPr txBox="1"/>
          <p:nvPr/>
        </p:nvSpPr>
        <p:spPr>
          <a:xfrm>
            <a:off x="3314700" y="76962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옆 동네 가게 이용 판정으로 보정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집→가게 이동표는 결함으로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11%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표본만 반출 → 이웃 동 비교로 대체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F28EBD-E527-396E-2C3D-10BBF2254CB5}"/>
              </a:ext>
            </a:extLst>
          </p:cNvPr>
          <p:cNvSpPr txBox="1"/>
          <p:nvPr/>
        </p:nvSpPr>
        <p:spPr>
          <a:xfrm>
            <a:off x="10553700" y="681990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주의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endParaRPr lang="ko-KR" altLang="en-US" sz="120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2D80CE-DF3C-0CA7-C8AF-D57CB41EFC25}"/>
              </a:ext>
            </a:extLst>
          </p:cNvPr>
          <p:cNvSpPr txBox="1"/>
          <p:nvPr/>
        </p:nvSpPr>
        <p:spPr>
          <a:xfrm>
            <a:off x="10553700" y="718185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앱 회원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수 아님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6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569582-E32C-C9FB-76B0-C7198ACDD3E9}"/>
              </a:ext>
            </a:extLst>
          </p:cNvPr>
          <p:cNvSpPr txBox="1"/>
          <p:nvPr/>
        </p:nvSpPr>
        <p:spPr>
          <a:xfrm>
            <a:off x="10553700" y="769620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형제 카드 합산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보호자 명의 가능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효과 단위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한 달 이용자 수</a:t>
            </a:r>
          </a:p>
        </p:txBody>
      </p:sp>
    </p:spTree>
    <p:extLst>
      <p:ext uri="{BB962C8B-B14F-4D97-AF65-F5344CB8AC3E}">
        <p14:creationId xmlns:p14="http://schemas.microsoft.com/office/powerpoint/2010/main" val="23658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3E6BEE2-5DA0-2305-2351-FEE7B4EA12EC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164301-3000-D8C8-D34C-6DF79A0C89C8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F2486-8FE6-4892-40C8-B25A9B339AB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765022-512D-7FD7-9292-9692EE777823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FFB86-CD36-9AD6-A6F8-D5248B47B313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E5426-8476-3650-50E1-657045F9CCEA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47FB8-10F6-EACB-28F8-4A887FAD369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B0422-1592-44B1-9701-05F87D922F8B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E611E-7493-28B2-C851-758C02F40C7F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8DF35-3B92-C673-256E-BD8693FA7C91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551D5-543D-7047-1A9D-076BAEC77444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0BA9D3-2FB3-0E6A-8DB5-67FCAEE160F1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7B24D-0112-13E7-6087-260427C33879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지표와 판정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717E2-EE36-0C48-113B-BF519C91843F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두 기준으로 우선 점검 동네를 고르고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덜 쓰는 이유는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7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가지로 판정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2F9B7F7-1085-E10C-2D97-557F7139A18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65AC58-C675-2E3A-9BE0-59787AF17EB1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9F8DF-582D-F502-13A4-BE1C76EA5719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선정 규칙 결정 기록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D-015~017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이유 판정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D-019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비중 지수 분모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동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 일반 결제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054AA27-5832-1599-EE88-DDC15BFE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367509"/>
              </p:ext>
            </p:extLst>
          </p:nvPr>
        </p:nvGraphicFramePr>
        <p:xfrm>
          <a:off x="3314700" y="2247900"/>
          <a:ext cx="8191500" cy="37147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158254625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56819084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46354799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정의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491995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급식 비중 지수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동의 방학 급식 결제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동의 일반 배달 결제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 평균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1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181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817127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덜 쓰는 동네 후보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등록 급식 가게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이상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급식 비중 지수 하위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25%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37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34826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 동네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후보 중 아동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천 명당 방학 이용이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중앙값 미만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04868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가지마다 해당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판단 불가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문턱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 분포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25%·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중앙값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 ·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71775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0545FE9-7E9A-EFB4-4FED-AA5B5A1E377F}"/>
              </a:ext>
            </a:extLst>
          </p:cNvPr>
          <p:cNvSpPr txBox="1"/>
          <p:nvPr/>
        </p:nvSpPr>
        <p:spPr>
          <a:xfrm>
            <a:off x="3314700" y="619125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배달 대비와 아동 수 대비가 모두 낮은 동만 우선 점검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 하나로 고르면 잘못 뽑히는 동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직장 배달이 많은 동 등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을 차단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C2FB356-A30F-1D07-B183-1D3F92969766}"/>
              </a:ext>
            </a:extLst>
          </p:cNvPr>
          <p:cNvCxnSpPr/>
          <p:nvPr/>
        </p:nvCxnSpPr>
        <p:spPr>
          <a:xfrm>
            <a:off x="11791950" y="2247900"/>
            <a:ext cx="0" cy="4762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0DF4F8-AAB7-BAA0-6B19-7617015E3020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덜 쓰는 이유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가지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6B9EC36-E91C-DC8A-BB5F-15B99EE66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089254"/>
              </p:ext>
            </p:extLst>
          </p:nvPr>
        </p:nvGraphicFramePr>
        <p:xfrm>
          <a:off x="12077700" y="2686050"/>
          <a:ext cx="5600700" cy="4133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3950">
                  <a:extLst>
                    <a:ext uri="{9D8B030D-6E8A-4147-A177-3AD203B41FA5}">
                      <a16:colId xmlns:a16="http://schemas.microsoft.com/office/drawing/2014/main" val="2123486157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21906328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608933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</a:t>
                      </a:r>
                    </a:p>
                  </a:txBody>
                  <a:tcPr marL="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도움이 필요한 집이 원래 적다</a:t>
                      </a:r>
                    </a:p>
                  </a:txBody>
                  <a:tcPr marL="13335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</a:t>
                      </a:r>
                    </a:p>
                  </a:txBody>
                  <a:tcPr marL="133350" marR="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24717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 가게에서 사 먹는다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97702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 주문을 받는 가게가 적다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37024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값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값으로 시킬 수 있는 가게가 적다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38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배달이 적거나 오래 걸린다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2791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안내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몰라서 못 쓰거나 신청 끼니가 안 맞는다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남은 이유로 추정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43056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경로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방법으로 먹는다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지역아동센터 등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59524F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참고만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161785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5E8F1E-F984-7B2A-3C0A-3F4A6AB00778}"/>
              </a:ext>
            </a:extLst>
          </p:cNvPr>
          <p:cNvCxnSpPr/>
          <p:nvPr/>
        </p:nvCxnSpPr>
        <p:spPr>
          <a:xfrm>
            <a:off x="3314700" y="75819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DB4284D-12B7-17D4-5DA7-A572012E0125}"/>
              </a:ext>
            </a:extLst>
          </p:cNvPr>
          <p:cNvSpPr txBox="1"/>
          <p:nvPr/>
        </p:nvSpPr>
        <p:spPr>
          <a:xfrm>
            <a:off x="3314700" y="77914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묶는 순서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규칙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D-019)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25F7D5-5187-EBBC-2445-9D42C68D3AE4}"/>
              </a:ext>
            </a:extLst>
          </p:cNvPr>
          <p:cNvSpPr txBox="1"/>
          <p:nvPr/>
        </p:nvSpPr>
        <p:spPr>
          <a:xfrm>
            <a:off x="331470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옆 동네 → 제외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10397B-E0A2-AAC7-2A6B-1044E5FFD228}"/>
              </a:ext>
            </a:extLst>
          </p:cNvPr>
          <p:cNvSpPr txBox="1"/>
          <p:nvPr/>
        </p:nvSpPr>
        <p:spPr>
          <a:xfrm>
            <a:off x="618744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필요 적음 → 제외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5FB91-B01E-6909-6831-31EDD9F195C8}"/>
              </a:ext>
            </a:extLst>
          </p:cNvPr>
          <p:cNvSpPr txBox="1"/>
          <p:nvPr/>
        </p:nvSpPr>
        <p:spPr>
          <a:xfrm>
            <a:off x="906018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·1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→ 개선 대상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4FF6C3-1950-3586-C350-D8B53256728C}"/>
              </a:ext>
            </a:extLst>
          </p:cNvPr>
          <p:cNvSpPr txBox="1"/>
          <p:nvPr/>
        </p:nvSpPr>
        <p:spPr>
          <a:xfrm>
            <a:off x="1193292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모두 아님 → 안내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신청으로 추정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0A7416-B251-AEE5-502D-18A8996F1C7E}"/>
              </a:ext>
            </a:extLst>
          </p:cNvPr>
          <p:cNvSpPr txBox="1"/>
          <p:nvPr/>
        </p:nvSpPr>
        <p:spPr>
          <a:xfrm>
            <a:off x="14805661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그 밖 → 확인 필요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9089C5-D243-157A-030B-16B954A8F527}"/>
              </a:ext>
            </a:extLst>
          </p:cNvPr>
          <p:cNvSpPr txBox="1"/>
          <p:nvPr/>
        </p:nvSpPr>
        <p:spPr>
          <a:xfrm>
            <a:off x="3314700" y="90106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사각지대가 아닌 곳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옆 동네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필요 적음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을 먼저 빼야 예산이 새지 않음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65%)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634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53FB999-C701-4C9E-95C6-BDE56026375E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17BAF5-430D-EEF3-1E9D-5517C888AF40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0A404-4329-EE19-753B-CA47CB097B99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77AA44-D371-540C-B83D-1A3BD7F6575D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CA3A5-8DA9-BB61-2C74-4D183C47CD5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52CB-7D83-BFCC-5E04-FBAE334B8D9E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72DFF-098F-1B1B-C26E-6137B8C5917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D13EA-09E9-09C8-E0C7-5CDFB20E8D0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B45F8-FF8D-3413-16AD-F828E23FE5E5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B4F60-A39B-7326-B8D8-7E943D7ADB9A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D5777-4C94-DD3D-44B3-748183BA03F4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13883-A0AC-8A55-6E49-3412174738AC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F6E82-853F-4B55-8F08-397F2CBFCAB8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신뢰성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8EA839-1D61-CD9C-2FC6-9362BBC204F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규칙은 반출 전에 고정하고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사후 개정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2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건은 개정 전 결과와 함께 공개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EF7A262-9F80-F633-6DF8-2214400D8057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8AB44A-03DB-48F7-0F13-50969C9A1FBB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09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636F2-A298-8C95-424C-576EA174F262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docs/DECISIONS.md (D-015~D-019)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코드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analysis/outside/90_reason_table.py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B46041E-164B-9AFE-8223-5EB9F2235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009044"/>
              </p:ext>
            </p:extLst>
          </p:nvPr>
        </p:nvGraphicFramePr>
        <p:xfrm>
          <a:off x="3314700" y="2247900"/>
          <a:ext cx="14363700" cy="29527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68008718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3834787791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42757674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날짜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한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704569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10-12~15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가짜 자료 사전 검증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센터 입력 셀과 밖의 판정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 코드를 가짜 자료로 처음부터 끝까지 실행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7219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10-13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 규칙 고정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가지 문턱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묶는 순서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대조 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문서화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버전 기록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(D-019)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07094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10-16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반출 전 자동 검사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저장 파일을 다시 읽어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미만 칸 검사 → 통과 파일만 반출 신청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29645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10-16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결함 대체 규칙 적용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결함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건을 미리 정한 규칙대로 처리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이유는 판단 불가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 이유는 이웃 동 비교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3563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AC7949E-248A-A5AE-2AC3-44B60A178CD4}"/>
              </a:ext>
            </a:extLst>
          </p:cNvPr>
          <p:cNvSpPr txBox="1"/>
          <p:nvPr/>
        </p:nvSpPr>
        <p:spPr>
          <a:xfrm>
            <a:off x="3314700" y="577215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A9F0C-E5C1-880A-F875-E332111C6EDD}"/>
              </a:ext>
            </a:extLst>
          </p:cNvPr>
          <p:cNvSpPr txBox="1"/>
          <p:nvPr/>
        </p:nvSpPr>
        <p:spPr>
          <a:xfrm>
            <a:off x="3314700" y="60960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확인 후 바꾼 규칙 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D5D920-B736-717D-91A6-9EEF55E55114}"/>
              </a:ext>
            </a:extLst>
          </p:cNvPr>
          <p:cNvSpPr txBox="1"/>
          <p:nvPr/>
        </p:nvSpPr>
        <p:spPr>
          <a:xfrm>
            <a:off x="3314700" y="664845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endParaRPr lang="ko-KR" altLang="en-US" sz="16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A5C0B0-E09B-9134-863F-265EFA0F4DE5}"/>
              </a:ext>
            </a:extLst>
          </p:cNvPr>
          <p:cNvSpPr txBox="1"/>
          <p:nvPr/>
        </p:nvSpPr>
        <p:spPr>
          <a:xfrm>
            <a:off x="3733800" y="66484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 기준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 최소주문 → 급식카드 결제 기준 최소주문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D73BB-82E3-EFD6-13EE-C2ECC40A468C}"/>
              </a:ext>
            </a:extLst>
          </p:cNvPr>
          <p:cNvSpPr txBox="1"/>
          <p:nvPr/>
        </p:nvSpPr>
        <p:spPr>
          <a:xfrm>
            <a:off x="3733800" y="70294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 중 ‘급식카드 주문 시 최소주문 미적용’ 가게 확인 → 면제 가게는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원으로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ED9B0-49BD-5885-A5F8-B195AC474B8F}"/>
              </a:ext>
            </a:extLst>
          </p:cNvPr>
          <p:cNvSpPr txBox="1"/>
          <p:nvPr/>
        </p:nvSpPr>
        <p:spPr>
          <a:xfrm>
            <a:off x="3314700" y="782955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endParaRPr lang="ko-KR" altLang="en-US" sz="16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C4ADAF-5A64-BB3B-013C-6ECDB271D3E7}"/>
              </a:ext>
            </a:extLst>
          </p:cNvPr>
          <p:cNvSpPr txBox="1"/>
          <p:nvPr/>
        </p:nvSpPr>
        <p:spPr>
          <a:xfrm>
            <a:off x="3733800" y="78295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‘지역 공통 장벽’ 표시 추가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C091A3-764F-52B4-3A14-7B2830063A75}"/>
              </a:ext>
            </a:extLst>
          </p:cNvPr>
          <p:cNvSpPr txBox="1"/>
          <p:nvPr/>
        </p:nvSpPr>
        <p:spPr>
          <a:xfrm>
            <a:off x="3733800" y="82105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구 대조 동도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가능 가게가 똑같이 적으면 동별 해결방안 대신 구 단위 장벽으로 표시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6DEE5-5A49-CBB6-E078-282E099AACF1}"/>
              </a:ext>
            </a:extLst>
          </p:cNvPr>
          <p:cNvSpPr txBox="1"/>
          <p:nvPr/>
        </p:nvSpPr>
        <p:spPr>
          <a:xfrm>
            <a:off x="3733800" y="906780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건 모두 개정 전 판정을 결정 기록에 함께 보존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310B2C5-0433-8899-7D70-A7B742ABB9D7}"/>
              </a:ext>
            </a:extLst>
          </p:cNvPr>
          <p:cNvCxnSpPr/>
          <p:nvPr/>
        </p:nvCxnSpPr>
        <p:spPr>
          <a:xfrm>
            <a:off x="12077700" y="577215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900780B-DEE4-6CEB-4FC0-D5260495A57E}"/>
              </a:ext>
            </a:extLst>
          </p:cNvPr>
          <p:cNvSpPr txBox="1"/>
          <p:nvPr/>
        </p:nvSpPr>
        <p:spPr>
          <a:xfrm>
            <a:off x="12458700" y="6096000"/>
            <a:ext cx="521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판단 불가는 숨기지 않음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E90F50-90E2-3F71-C819-EC49416B8D0D}"/>
              </a:ext>
            </a:extLst>
          </p:cNvPr>
          <p:cNvSpPr txBox="1"/>
          <p:nvPr/>
        </p:nvSpPr>
        <p:spPr>
          <a:xfrm>
            <a:off x="12458700" y="6591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A09C9B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?</a:t>
            </a:r>
            <a:endParaRPr lang="ko-KR" altLang="en-US" sz="5400">
              <a:solidFill>
                <a:srgbClr val="A09C9B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75A952-4BCB-3579-DC8E-D8D4B439C2BB}"/>
              </a:ext>
            </a:extLst>
          </p:cNvPr>
          <p:cNvSpPr txBox="1"/>
          <p:nvPr/>
        </p:nvSpPr>
        <p:spPr>
          <a:xfrm>
            <a:off x="12458700" y="7543800"/>
            <a:ext cx="521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다른 경로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안내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동별 자료 없음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4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결함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다음 회차 점검 항목으로 넘김</a:t>
            </a:r>
          </a:p>
        </p:txBody>
      </p:sp>
    </p:spTree>
    <p:extLst>
      <p:ext uri="{BB962C8B-B14F-4D97-AF65-F5344CB8AC3E}">
        <p14:creationId xmlns:p14="http://schemas.microsoft.com/office/powerpoint/2010/main" val="31591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F44BCB2-4195-7D9E-9723-4F261BAB4441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D1AC100-56A6-6D10-4E80-0A8D4061C8E4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33F6-FD95-05DA-C9B4-238363ED635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B7A35-54DC-4BFB-B1B2-D3BD37A6B6E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145D4C-D0A7-6BE2-0138-AC7FBC6B9CB9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E1C49-EC57-4E29-E760-9C8C76D1227F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266FA-E505-3C09-D061-26152C1DE3A8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A31A0-DAE8-4E6B-951B-0C30367B91D5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0DFC12-49C0-D3BE-8199-92B7C4E13360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99440-3B2F-3E5B-54C6-ED5E6463F9AE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E5121E-6E3B-F652-CECA-86FBE05DA39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30BA5-7E7C-DDCC-34E2-39FAAB0DBEE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0359E-E439-0B81-C354-437B61580321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방학 집중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25AA3-5FED-D2AC-DBC9-2E1BCE0B379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급식카드 배달 결제는 학교급식이 없는 방학에 몰림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C18E6F-F39D-8D87-B123-15E2B9A68521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E69B8A-92B0-3B23-9813-7C251B3FA8D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C4898-1353-952E-C2CD-9A8996827BD2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월별 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6~18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세 대구 합계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269,326 → 264,685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주민등록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2024-01 → 2025-01)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2B1E8-D839-9F4E-4B7A-873FE5815619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월별 급식카드 결제 건수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6B4223-2EC1-D900-AA54-CDB2084E2D8D}"/>
              </a:ext>
            </a:extLst>
          </p:cNvPr>
          <p:cNvSpPr/>
          <p:nvPr/>
        </p:nvSpPr>
        <p:spPr>
          <a:xfrm>
            <a:off x="1221105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E6F9C-79AC-882D-7CFF-3D367FAEDBE7}"/>
              </a:ext>
            </a:extLst>
          </p:cNvPr>
          <p:cNvSpPr txBox="1"/>
          <p:nvPr/>
        </p:nvSpPr>
        <p:spPr>
          <a:xfrm>
            <a:off x="124206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FA6757-672E-BCA0-25F2-2FDA455ED666}"/>
              </a:ext>
            </a:extLst>
          </p:cNvPr>
          <p:cNvSpPr/>
          <p:nvPr/>
        </p:nvSpPr>
        <p:spPr>
          <a:xfrm>
            <a:off x="10871454" y="2324100"/>
            <a:ext cx="133350" cy="1333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36A9C1-740B-194C-1A09-FEB4E184BE97}"/>
              </a:ext>
            </a:extLst>
          </p:cNvPr>
          <p:cNvSpPr txBox="1"/>
          <p:nvPr/>
        </p:nvSpPr>
        <p:spPr>
          <a:xfrm>
            <a:off x="11081004" y="2266950"/>
            <a:ext cx="93954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전환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7·12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E18875-2B1B-AA98-2817-072296C7E062}"/>
              </a:ext>
            </a:extLst>
          </p:cNvPr>
          <p:cNvSpPr/>
          <p:nvPr/>
        </p:nvSpPr>
        <p:spPr>
          <a:xfrm>
            <a:off x="9455658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915AF-9860-ACDC-CA8B-10435CB8C3BD}"/>
              </a:ext>
            </a:extLst>
          </p:cNvPr>
          <p:cNvSpPr txBox="1"/>
          <p:nvPr/>
        </p:nvSpPr>
        <p:spPr>
          <a:xfrm>
            <a:off x="9665208" y="2266950"/>
            <a:ext cx="101574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1·2·8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5052190-FCF3-D33E-28EA-DBB09DB96CE3}"/>
              </a:ext>
            </a:extLst>
          </p:cNvPr>
          <p:cNvCxnSpPr/>
          <p:nvPr/>
        </p:nvCxnSpPr>
        <p:spPr>
          <a:xfrm>
            <a:off x="3981450" y="5973233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3695DCB-1EF6-BBE8-55AF-3F92D0FDD8F0}"/>
              </a:ext>
            </a:extLst>
          </p:cNvPr>
          <p:cNvSpPr txBox="1"/>
          <p:nvPr/>
        </p:nvSpPr>
        <p:spPr>
          <a:xfrm>
            <a:off x="3314700" y="5858933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153EC62-A6A7-F0BE-96B2-476FA528C041}"/>
              </a:ext>
            </a:extLst>
          </p:cNvPr>
          <p:cNvCxnSpPr/>
          <p:nvPr/>
        </p:nvCxnSpPr>
        <p:spPr>
          <a:xfrm>
            <a:off x="3981450" y="5126567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74DEB7-B663-7FFF-1860-ADCE7215CAF0}"/>
              </a:ext>
            </a:extLst>
          </p:cNvPr>
          <p:cNvSpPr txBox="1"/>
          <p:nvPr/>
        </p:nvSpPr>
        <p:spPr>
          <a:xfrm>
            <a:off x="3314700" y="5012267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490412A-343E-6CE7-E206-CC89AAAFADCF}"/>
              </a:ext>
            </a:extLst>
          </p:cNvPr>
          <p:cNvCxnSpPr/>
          <p:nvPr/>
        </p:nvCxnSpPr>
        <p:spPr>
          <a:xfrm>
            <a:off x="3981450" y="4279900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863881-142D-0802-F1C2-AB21AC6C081B}"/>
              </a:ext>
            </a:extLst>
          </p:cNvPr>
          <p:cNvSpPr txBox="1"/>
          <p:nvPr/>
        </p:nvSpPr>
        <p:spPr>
          <a:xfrm>
            <a:off x="3314700" y="4165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D4EEF66-9A19-92BD-70C3-42AC1C1EAD44}"/>
              </a:ext>
            </a:extLst>
          </p:cNvPr>
          <p:cNvCxnSpPr/>
          <p:nvPr/>
        </p:nvCxnSpPr>
        <p:spPr>
          <a:xfrm>
            <a:off x="3981450" y="3433233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06DDFD-C004-9D38-6B12-1C884E1FC59A}"/>
              </a:ext>
            </a:extLst>
          </p:cNvPr>
          <p:cNvSpPr txBox="1"/>
          <p:nvPr/>
        </p:nvSpPr>
        <p:spPr>
          <a:xfrm>
            <a:off x="3314700" y="3318933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68F335-5B00-3FBF-BC44-34CF2CC802B9}"/>
              </a:ext>
            </a:extLst>
          </p:cNvPr>
          <p:cNvSpPr/>
          <p:nvPr/>
        </p:nvSpPr>
        <p:spPr>
          <a:xfrm>
            <a:off x="4029075" y="6644725"/>
            <a:ext cx="259080" cy="17517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92E096-CE63-48E8-1435-79F52BCC7250}"/>
              </a:ext>
            </a:extLst>
          </p:cNvPr>
          <p:cNvSpPr txBox="1"/>
          <p:nvPr/>
        </p:nvSpPr>
        <p:spPr>
          <a:xfrm>
            <a:off x="379095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23-06</a:t>
            </a:r>
            <a:endParaRPr lang="ko-KR" altLang="en-US" sz="9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776CA9-D9A8-9638-6EDD-86C5B6F75692}"/>
              </a:ext>
            </a:extLst>
          </p:cNvPr>
          <p:cNvSpPr/>
          <p:nvPr/>
        </p:nvSpPr>
        <p:spPr>
          <a:xfrm>
            <a:off x="4383405" y="5994231"/>
            <a:ext cx="259080" cy="825669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D1E131-B691-3EF2-55C0-ECDAB0168ED1}"/>
              </a:ext>
            </a:extLst>
          </p:cNvPr>
          <p:cNvSpPr/>
          <p:nvPr/>
        </p:nvSpPr>
        <p:spPr>
          <a:xfrm>
            <a:off x="4737735" y="5190913"/>
            <a:ext cx="259080" cy="16289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AACB0D-7EEA-E13C-CF9B-2D11A5003C19}"/>
              </a:ext>
            </a:extLst>
          </p:cNvPr>
          <p:cNvSpPr txBox="1"/>
          <p:nvPr/>
        </p:nvSpPr>
        <p:spPr>
          <a:xfrm>
            <a:off x="4537710" y="4943263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1.9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04170B-3A87-5111-1373-B2FDE1DF9A00}"/>
              </a:ext>
            </a:extLst>
          </p:cNvPr>
          <p:cNvSpPr/>
          <p:nvPr/>
        </p:nvSpPr>
        <p:spPr>
          <a:xfrm>
            <a:off x="5092065" y="6421882"/>
            <a:ext cx="259080" cy="39801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F8A1AD8-45F2-7E9C-4705-E8BE2FDC38A3}"/>
              </a:ext>
            </a:extLst>
          </p:cNvPr>
          <p:cNvSpPr/>
          <p:nvPr/>
        </p:nvSpPr>
        <p:spPr>
          <a:xfrm>
            <a:off x="5446395" y="6388184"/>
            <a:ext cx="259080" cy="431716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B9FAD5-CAD9-E521-C70E-5317ADA85AE1}"/>
              </a:ext>
            </a:extLst>
          </p:cNvPr>
          <p:cNvSpPr/>
          <p:nvPr/>
        </p:nvSpPr>
        <p:spPr>
          <a:xfrm>
            <a:off x="5800725" y="6381242"/>
            <a:ext cx="259080" cy="43865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11E5895-9BB1-0FB3-F3A8-E715A4145475}"/>
              </a:ext>
            </a:extLst>
          </p:cNvPr>
          <p:cNvSpPr/>
          <p:nvPr/>
        </p:nvSpPr>
        <p:spPr>
          <a:xfrm>
            <a:off x="6155055" y="6090581"/>
            <a:ext cx="259080" cy="729319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05BF601-68AB-7B27-3FB9-0C3DCD4F0DB9}"/>
              </a:ext>
            </a:extLst>
          </p:cNvPr>
          <p:cNvSpPr/>
          <p:nvPr/>
        </p:nvSpPr>
        <p:spPr>
          <a:xfrm>
            <a:off x="6509385" y="4110482"/>
            <a:ext cx="259080" cy="270941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0205A2-AF66-61AE-97FA-3D9E6D835F76}"/>
              </a:ext>
            </a:extLst>
          </p:cNvPr>
          <p:cNvSpPr txBox="1"/>
          <p:nvPr/>
        </p:nvSpPr>
        <p:spPr>
          <a:xfrm>
            <a:off x="6309360" y="3862832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3.2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63B9FE-A9C8-8BCA-7E7D-F11FFA85630B}"/>
              </a:ext>
            </a:extLst>
          </p:cNvPr>
          <p:cNvSpPr txBox="1"/>
          <p:nvPr/>
        </p:nvSpPr>
        <p:spPr>
          <a:xfrm>
            <a:off x="627126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24-01</a:t>
            </a:r>
            <a:endParaRPr lang="ko-KR" altLang="en-US" sz="9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7088D56-0146-C532-DCFE-9E453FF06299}"/>
              </a:ext>
            </a:extLst>
          </p:cNvPr>
          <p:cNvSpPr/>
          <p:nvPr/>
        </p:nvSpPr>
        <p:spPr>
          <a:xfrm>
            <a:off x="6863715" y="4168733"/>
            <a:ext cx="259080" cy="265116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59E442-838E-DE65-F4D8-E1022297AE57}"/>
              </a:ext>
            </a:extLst>
          </p:cNvPr>
          <p:cNvSpPr txBox="1"/>
          <p:nvPr/>
        </p:nvSpPr>
        <p:spPr>
          <a:xfrm>
            <a:off x="6663690" y="3921083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3.1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8B1C8B4-B887-C0CF-3A2D-56E60CCE2D6C}"/>
              </a:ext>
            </a:extLst>
          </p:cNvPr>
          <p:cNvSpPr/>
          <p:nvPr/>
        </p:nvSpPr>
        <p:spPr>
          <a:xfrm>
            <a:off x="7218045" y="6240357"/>
            <a:ext cx="259080" cy="57954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ECC4C69-80B1-0B4F-2C86-BBD4C48FE512}"/>
              </a:ext>
            </a:extLst>
          </p:cNvPr>
          <p:cNvSpPr/>
          <p:nvPr/>
        </p:nvSpPr>
        <p:spPr>
          <a:xfrm>
            <a:off x="7572375" y="6240865"/>
            <a:ext cx="259080" cy="57903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17BF090-1392-1248-B3AB-78354B15606C}"/>
              </a:ext>
            </a:extLst>
          </p:cNvPr>
          <p:cNvSpPr/>
          <p:nvPr/>
        </p:nvSpPr>
        <p:spPr>
          <a:xfrm>
            <a:off x="7926705" y="6182783"/>
            <a:ext cx="259081" cy="63711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91551E0-480B-B7BD-AE77-B481C1F02149}"/>
              </a:ext>
            </a:extLst>
          </p:cNvPr>
          <p:cNvSpPr/>
          <p:nvPr/>
        </p:nvSpPr>
        <p:spPr>
          <a:xfrm>
            <a:off x="8281035" y="6174063"/>
            <a:ext cx="259080" cy="6458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D9A2D9-C1A2-C8BD-1CDD-BAACE1049C0A}"/>
              </a:ext>
            </a:extLst>
          </p:cNvPr>
          <p:cNvSpPr txBox="1"/>
          <p:nvPr/>
        </p:nvSpPr>
        <p:spPr>
          <a:xfrm>
            <a:off x="804291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24-06</a:t>
            </a:r>
            <a:endParaRPr lang="ko-KR" altLang="en-US" sz="9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5ED0234-6EE7-BE64-55B1-A967B728A7CF}"/>
              </a:ext>
            </a:extLst>
          </p:cNvPr>
          <p:cNvSpPr/>
          <p:nvPr/>
        </p:nvSpPr>
        <p:spPr>
          <a:xfrm>
            <a:off x="8635365" y="5289634"/>
            <a:ext cx="259080" cy="1530266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80BD7E-35E7-1E88-26B5-682F81FA8D27}"/>
              </a:ext>
            </a:extLst>
          </p:cNvPr>
          <p:cNvSpPr/>
          <p:nvPr/>
        </p:nvSpPr>
        <p:spPr>
          <a:xfrm>
            <a:off x="8989695" y="4489450"/>
            <a:ext cx="259080" cy="23304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572FAD-CE2E-FDC6-0BC1-A279F1FDC991}"/>
              </a:ext>
            </a:extLst>
          </p:cNvPr>
          <p:cNvSpPr txBox="1"/>
          <p:nvPr/>
        </p:nvSpPr>
        <p:spPr>
          <a:xfrm>
            <a:off x="8789670" y="4241800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2.8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03D9E3-9AF8-2372-DCC8-64A83A8CFDD7}"/>
              </a:ext>
            </a:extLst>
          </p:cNvPr>
          <p:cNvSpPr/>
          <p:nvPr/>
        </p:nvSpPr>
        <p:spPr>
          <a:xfrm>
            <a:off x="9344025" y="6121146"/>
            <a:ext cx="259080" cy="698754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E0CC9C9-DBA4-347F-E78C-9C40F0EEFA20}"/>
              </a:ext>
            </a:extLst>
          </p:cNvPr>
          <p:cNvSpPr/>
          <p:nvPr/>
        </p:nvSpPr>
        <p:spPr>
          <a:xfrm>
            <a:off x="9698355" y="6081268"/>
            <a:ext cx="259081" cy="73863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949E926-3B61-A06A-982B-34CA23751933}"/>
              </a:ext>
            </a:extLst>
          </p:cNvPr>
          <p:cNvSpPr/>
          <p:nvPr/>
        </p:nvSpPr>
        <p:spPr>
          <a:xfrm>
            <a:off x="10052685" y="6135963"/>
            <a:ext cx="259080" cy="6839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97B7FA7-99D5-46AF-F018-10EE8900A907}"/>
              </a:ext>
            </a:extLst>
          </p:cNvPr>
          <p:cNvSpPr/>
          <p:nvPr/>
        </p:nvSpPr>
        <p:spPr>
          <a:xfrm>
            <a:off x="10407015" y="5873750"/>
            <a:ext cx="259080" cy="9461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35D8BA-C01E-D401-B85E-F16C815C9933}"/>
              </a:ext>
            </a:extLst>
          </p:cNvPr>
          <p:cNvSpPr/>
          <p:nvPr/>
        </p:nvSpPr>
        <p:spPr>
          <a:xfrm>
            <a:off x="10761345" y="3591899"/>
            <a:ext cx="259080" cy="3228001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EA009-0383-A68D-407C-CE97318E2BC3}"/>
              </a:ext>
            </a:extLst>
          </p:cNvPr>
          <p:cNvSpPr txBox="1"/>
          <p:nvPr/>
        </p:nvSpPr>
        <p:spPr>
          <a:xfrm>
            <a:off x="10561320" y="3344249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3.8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AE0553-2711-1B0E-2D7A-5C66BE838CC6}"/>
              </a:ext>
            </a:extLst>
          </p:cNvPr>
          <p:cNvSpPr txBox="1"/>
          <p:nvPr/>
        </p:nvSpPr>
        <p:spPr>
          <a:xfrm>
            <a:off x="1052322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25-01</a:t>
            </a:r>
            <a:endParaRPr lang="ko-KR" altLang="en-US" sz="9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A4BE368-D2FB-D676-55CE-04CFDF228E04}"/>
              </a:ext>
            </a:extLst>
          </p:cNvPr>
          <p:cNvSpPr/>
          <p:nvPr/>
        </p:nvSpPr>
        <p:spPr>
          <a:xfrm>
            <a:off x="11115675" y="3389207"/>
            <a:ext cx="259080" cy="3430693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281F34-3411-0AB6-6F49-76629C617F18}"/>
              </a:ext>
            </a:extLst>
          </p:cNvPr>
          <p:cNvSpPr txBox="1"/>
          <p:nvPr/>
        </p:nvSpPr>
        <p:spPr>
          <a:xfrm>
            <a:off x="10915650" y="3141557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4.1</a:t>
            </a:r>
            <a:r>
              <a:rPr lang="ko-KR" altLang="en-US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B08B24B-802D-420C-B9D7-542FB94711BF}"/>
              </a:ext>
            </a:extLst>
          </p:cNvPr>
          <p:cNvSpPr/>
          <p:nvPr/>
        </p:nvSpPr>
        <p:spPr>
          <a:xfrm>
            <a:off x="11470005" y="6105821"/>
            <a:ext cx="259081" cy="71407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0E464A7-C3AF-2CF2-4C47-37AC9D4D370C}"/>
              </a:ext>
            </a:extLst>
          </p:cNvPr>
          <p:cNvSpPr/>
          <p:nvPr/>
        </p:nvSpPr>
        <p:spPr>
          <a:xfrm>
            <a:off x="11824335" y="6135963"/>
            <a:ext cx="259080" cy="6839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7B2D4E0-64B2-5FD6-C2E1-864B60AFC19E}"/>
              </a:ext>
            </a:extLst>
          </p:cNvPr>
          <p:cNvSpPr/>
          <p:nvPr/>
        </p:nvSpPr>
        <p:spPr>
          <a:xfrm>
            <a:off x="12178665" y="6065943"/>
            <a:ext cx="259080" cy="75395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3499167-782F-94B1-9595-46AA79BF7DF4}"/>
              </a:ext>
            </a:extLst>
          </p:cNvPr>
          <p:cNvSpPr/>
          <p:nvPr/>
        </p:nvSpPr>
        <p:spPr>
          <a:xfrm>
            <a:off x="12532995" y="6098794"/>
            <a:ext cx="259080" cy="721106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3F3DD4-AD4E-F165-1CEB-77CBF8B34788}"/>
              </a:ext>
            </a:extLst>
          </p:cNvPr>
          <p:cNvSpPr txBox="1"/>
          <p:nvPr/>
        </p:nvSpPr>
        <p:spPr>
          <a:xfrm>
            <a:off x="1229487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25-06</a:t>
            </a:r>
            <a:endParaRPr lang="ko-KR" altLang="en-US" sz="9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3BD7C6F-4515-D36C-FEBF-D7F1D8B557DA}"/>
              </a:ext>
            </a:extLst>
          </p:cNvPr>
          <p:cNvCxnSpPr/>
          <p:nvPr/>
        </p:nvCxnSpPr>
        <p:spPr>
          <a:xfrm>
            <a:off x="3981450" y="6819900"/>
            <a:ext cx="885825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3D4E886-3B32-47C4-E88A-82F2309F251B}"/>
              </a:ext>
            </a:extLst>
          </p:cNvPr>
          <p:cNvCxnSpPr/>
          <p:nvPr/>
        </p:nvCxnSpPr>
        <p:spPr>
          <a:xfrm>
            <a:off x="13125450" y="2247900"/>
            <a:ext cx="0" cy="5334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67B85AA-038B-1693-2F8B-133ED56C724A}"/>
              </a:ext>
            </a:extLst>
          </p:cNvPr>
          <p:cNvSpPr txBox="1"/>
          <p:nvPr/>
        </p:nvSpPr>
        <p:spPr>
          <a:xfrm>
            <a:off x="13411200" y="22479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55.3%</a:t>
            </a:r>
            <a:endParaRPr lang="ko-KR" altLang="en-US" sz="375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909E60-94AF-F6B7-7B52-CDAF67BCD665}"/>
              </a:ext>
            </a:extLst>
          </p:cNvPr>
          <p:cNvSpPr txBox="1"/>
          <p:nvPr/>
        </p:nvSpPr>
        <p:spPr>
          <a:xfrm>
            <a:off x="13411200" y="28575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결제 중 방학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1·2·8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 몫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4F8024-A4BB-D341-0EEC-8FDCE57A55D2}"/>
              </a:ext>
            </a:extLst>
          </p:cNvPr>
          <p:cNvSpPr txBox="1"/>
          <p:nvPr/>
        </p:nvSpPr>
        <p:spPr>
          <a:xfrm>
            <a:off x="13411200" y="31813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중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개월에 절반 넘게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70E0CC08-9CE1-43C9-A75E-C6DF36FF285B}"/>
              </a:ext>
            </a:extLst>
          </p:cNvPr>
          <p:cNvCxnSpPr/>
          <p:nvPr/>
        </p:nvCxnSpPr>
        <p:spPr>
          <a:xfrm>
            <a:off x="13411200" y="3905250"/>
            <a:ext cx="426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8DCFFBC-7E76-C885-DEAC-65AA78AF0E14}"/>
              </a:ext>
            </a:extLst>
          </p:cNvPr>
          <p:cNvSpPr txBox="1"/>
          <p:nvPr/>
        </p:nvSpPr>
        <p:spPr>
          <a:xfrm>
            <a:off x="13411200" y="40767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4.9</a:t>
            </a:r>
            <a:r>
              <a:rPr lang="ko-KR" altLang="en-US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CA1F68-44FA-9365-6057-6D89022A751A}"/>
              </a:ext>
            </a:extLst>
          </p:cNvPr>
          <p:cNvSpPr txBox="1"/>
          <p:nvPr/>
        </p:nvSpPr>
        <p:spPr>
          <a:xfrm>
            <a:off x="13411200" y="46863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월평균 이용자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95EB5B-DEFB-BD13-B959-7739DE053507}"/>
              </a:ext>
            </a:extLst>
          </p:cNvPr>
          <p:cNvSpPr txBox="1"/>
          <p:nvPr/>
        </p:nvSpPr>
        <p:spPr>
          <a:xfrm>
            <a:off x="13411200" y="50101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3,785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대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779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5DF5272-DE86-02EF-0C9C-37C603DA8FA7}"/>
              </a:ext>
            </a:extLst>
          </p:cNvPr>
          <p:cNvCxnSpPr/>
          <p:nvPr/>
        </p:nvCxnSpPr>
        <p:spPr>
          <a:xfrm>
            <a:off x="13411200" y="5734050"/>
            <a:ext cx="426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8DC0262-E488-2366-F582-DA5E415E122F}"/>
              </a:ext>
            </a:extLst>
          </p:cNvPr>
          <p:cNvSpPr txBox="1"/>
          <p:nvPr/>
        </p:nvSpPr>
        <p:spPr>
          <a:xfrm>
            <a:off x="13411200" y="59055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16.3</a:t>
            </a:r>
            <a:endParaRPr lang="ko-KR" altLang="en-US" sz="375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BFB0F5-C1AC-D93F-8472-80BDEAAF834C}"/>
              </a:ext>
            </a:extLst>
          </p:cNvPr>
          <p:cNvSpPr txBox="1"/>
          <p:nvPr/>
        </p:nvSpPr>
        <p:spPr>
          <a:xfrm>
            <a:off x="13411200" y="65151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 이용자 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77651A-E402-67D0-1515-C66B5C507123}"/>
              </a:ext>
            </a:extLst>
          </p:cNvPr>
          <p:cNvSpPr txBox="1"/>
          <p:nvPr/>
        </p:nvSpPr>
        <p:spPr>
          <a:xfrm>
            <a:off x="13411200" y="68389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13.5(2024) → 16.3(2025),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기간 아동 −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1.7%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36FA877-072A-7F31-3A2C-F9B4FFD7B6BB}"/>
              </a:ext>
            </a:extLst>
          </p:cNvPr>
          <p:cNvCxnSpPr/>
          <p:nvPr/>
        </p:nvCxnSpPr>
        <p:spPr>
          <a:xfrm>
            <a:off x="3314700" y="79629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B70D69E-3759-1E3F-E918-76DBCF49A43A}"/>
              </a:ext>
            </a:extLst>
          </p:cNvPr>
          <p:cNvSpPr txBox="1"/>
          <p:nvPr/>
        </p:nvSpPr>
        <p:spPr>
          <a:xfrm>
            <a:off x="3314700" y="82105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제도의 경계 </a:t>
            </a: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사각지대 아님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EDB3FDA-F919-DA03-3BDE-6110EC021E54}"/>
              </a:ext>
            </a:extLst>
          </p:cNvPr>
          <p:cNvSpPr txBox="1"/>
          <p:nvPr/>
        </p:nvSpPr>
        <p:spPr>
          <a:xfrm>
            <a:off x="3314700" y="85725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학교급식 시간인 학기 평일 </a:t>
            </a:r>
            <a:r>
              <a:rPr lang="en-US" altLang="ko-KR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</a:t>
            </a:r>
            <a:r>
              <a:rPr lang="ko-KR" altLang="en-US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시에는 급식 비중이 일반 결제의 </a:t>
            </a:r>
            <a:r>
              <a:rPr lang="en-US" altLang="ko-KR" sz="15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0.65</a:t>
            </a:r>
            <a:r>
              <a:rPr lang="ko-KR" altLang="en-US" sz="15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</a:t>
            </a:r>
            <a:r>
              <a:rPr lang="en-US" altLang="ko-KR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 ‘</a:t>
            </a:r>
            <a:r>
              <a:rPr lang="ko-KR" altLang="en-US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공백’이 아니라 제도의 경계로 따로 보고</a:t>
            </a:r>
            <a:r>
              <a:rPr lang="en-US" altLang="ko-KR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50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 대상에서 제외</a:t>
            </a:r>
          </a:p>
        </p:txBody>
      </p:sp>
    </p:spTree>
    <p:extLst>
      <p:ext uri="{BB962C8B-B14F-4D97-AF65-F5344CB8AC3E}">
        <p14:creationId xmlns:p14="http://schemas.microsoft.com/office/powerpoint/2010/main" val="2802965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AD9E9B7-B0C7-8699-7492-E8DAA3FACE5D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CE6311-0D71-C470-BE9C-2ABCE226BCDC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4E439-4AE7-49F9-62EA-5D9A05D93A9C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992D1-63F7-0338-1AE9-1973B8D1426C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4E73E3-85FA-9963-0AB8-BE9A7D7E500C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0B6C1-0FD5-39C0-CC40-028B2CF498A9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66091-69C9-0B67-FD23-CCF914FC1F8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A199F-53E7-D135-2FA0-2CD415645A1C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8FBB4-16A1-130A-6FB6-B72671409A18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22250-4C2F-4B32-6F7D-3D67DD881A93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45725-7237-BCC7-7368-59C099A6945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576CD-DA13-E0E1-ECC8-784FBF974200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FC36D-E151-1B3B-7E2A-30D710DCEE8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시간대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43EBD8-C740-7573-0C70-BBBD8E1B506F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 결제만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23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시에 끊기고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점심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오후 비중은 일반 결제보다 높음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3853D5E-4312-6928-CE58-B2D99A49DBDB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4AB7E8-E613-0CB0-C2B2-8A9174E78C36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30EB10-FB09-FBC1-2383-4E61AA436E93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시간대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 파일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이용시간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06~23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규칙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구청 안내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과 일치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292D4F-8A0E-DD5B-F76F-8DAB58C72D69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시간대별 결제 비중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(%, 25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합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057F98-178C-A4FB-062C-8368B4572047}"/>
              </a:ext>
            </a:extLst>
          </p:cNvPr>
          <p:cNvSpPr/>
          <p:nvPr/>
        </p:nvSpPr>
        <p:spPr>
          <a:xfrm>
            <a:off x="1224153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7B50B1-E793-1BF1-FC36-37E5287A2E4D}"/>
              </a:ext>
            </a:extLst>
          </p:cNvPr>
          <p:cNvSpPr txBox="1"/>
          <p:nvPr/>
        </p:nvSpPr>
        <p:spPr>
          <a:xfrm>
            <a:off x="12451080" y="2266950"/>
            <a:ext cx="75057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결제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01A788-1C56-D31A-E93F-3D9618918D9F}"/>
              </a:ext>
            </a:extLst>
          </p:cNvPr>
          <p:cNvSpPr/>
          <p:nvPr/>
        </p:nvSpPr>
        <p:spPr>
          <a:xfrm>
            <a:off x="11136630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19CA64-D52C-52D5-1137-8326B4E21AC0}"/>
              </a:ext>
            </a:extLst>
          </p:cNvPr>
          <p:cNvSpPr txBox="1"/>
          <p:nvPr/>
        </p:nvSpPr>
        <p:spPr>
          <a:xfrm>
            <a:off x="11346180" y="2266950"/>
            <a:ext cx="704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0FD4616-70B3-048A-E619-A05CE6D4EE79}"/>
              </a:ext>
            </a:extLst>
          </p:cNvPr>
          <p:cNvCxnSpPr/>
          <p:nvPr/>
        </p:nvCxnSpPr>
        <p:spPr>
          <a:xfrm>
            <a:off x="3886200" y="729615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1EC05-4D1E-E1F0-7978-8267701C9779}"/>
              </a:ext>
            </a:extLst>
          </p:cNvPr>
          <p:cNvSpPr txBox="1"/>
          <p:nvPr/>
        </p:nvSpPr>
        <p:spPr>
          <a:xfrm>
            <a:off x="3314700" y="718185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5%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030BE2E-ED16-EAA1-C112-F15CF1A1CC08}"/>
              </a:ext>
            </a:extLst>
          </p:cNvPr>
          <p:cNvCxnSpPr/>
          <p:nvPr/>
        </p:nvCxnSpPr>
        <p:spPr>
          <a:xfrm>
            <a:off x="3886200" y="586740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52055E2-19A5-EAF1-07C1-C6E60EED4CEE}"/>
              </a:ext>
            </a:extLst>
          </p:cNvPr>
          <p:cNvSpPr txBox="1"/>
          <p:nvPr/>
        </p:nvSpPr>
        <p:spPr>
          <a:xfrm>
            <a:off x="3314700" y="575310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10%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9212072-45CA-A7D5-A9A8-F38DDA14AD6D}"/>
              </a:ext>
            </a:extLst>
          </p:cNvPr>
          <p:cNvCxnSpPr/>
          <p:nvPr/>
        </p:nvCxnSpPr>
        <p:spPr>
          <a:xfrm>
            <a:off x="3886200" y="443865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2105848-4D43-6093-1D8F-BDFD5979A15E}"/>
              </a:ext>
            </a:extLst>
          </p:cNvPr>
          <p:cNvSpPr txBox="1"/>
          <p:nvPr/>
        </p:nvSpPr>
        <p:spPr>
          <a:xfrm>
            <a:off x="3314700" y="432435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15%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54A52B0-C662-C1DB-D5FA-729ECBE137F9}"/>
              </a:ext>
            </a:extLst>
          </p:cNvPr>
          <p:cNvCxnSpPr/>
          <p:nvPr/>
        </p:nvCxnSpPr>
        <p:spPr>
          <a:xfrm>
            <a:off x="3886200" y="300990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BA7920-21CA-0EB9-F956-90FDD3B2917A}"/>
              </a:ext>
            </a:extLst>
          </p:cNvPr>
          <p:cNvSpPr txBox="1"/>
          <p:nvPr/>
        </p:nvSpPr>
        <p:spPr>
          <a:xfrm>
            <a:off x="3314700" y="289560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20%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42D930-BA88-40BF-5C43-2A85DC19DC44}"/>
              </a:ext>
            </a:extLst>
          </p:cNvPr>
          <p:cNvSpPr/>
          <p:nvPr/>
        </p:nvSpPr>
        <p:spPr>
          <a:xfrm>
            <a:off x="3943350" y="8662035"/>
            <a:ext cx="183092" cy="6286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D7821D3-FE06-96C1-A9DD-33D5059CC124}"/>
              </a:ext>
            </a:extLst>
          </p:cNvPr>
          <p:cNvSpPr/>
          <p:nvPr/>
        </p:nvSpPr>
        <p:spPr>
          <a:xfrm>
            <a:off x="4145492" y="8710613"/>
            <a:ext cx="183091" cy="1428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93BAC9-2909-53D8-64EE-A22CB161C711}"/>
              </a:ext>
            </a:extLst>
          </p:cNvPr>
          <p:cNvSpPr txBox="1"/>
          <p:nvPr/>
        </p:nvSpPr>
        <p:spPr>
          <a:xfrm>
            <a:off x="38290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A5F2F5-B1EE-6B8E-AAF6-76C8F351DF73}"/>
              </a:ext>
            </a:extLst>
          </p:cNvPr>
          <p:cNvSpPr/>
          <p:nvPr/>
        </p:nvSpPr>
        <p:spPr>
          <a:xfrm>
            <a:off x="4461933" y="8667750"/>
            <a:ext cx="183092" cy="571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2CBEF0-E29B-B2E5-0588-BFDFAD9AB172}"/>
              </a:ext>
            </a:extLst>
          </p:cNvPr>
          <p:cNvSpPr/>
          <p:nvPr/>
        </p:nvSpPr>
        <p:spPr>
          <a:xfrm>
            <a:off x="4664075" y="8704897"/>
            <a:ext cx="183092" cy="2000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B78495-F5CB-A2A8-7942-2361E22ED005}"/>
              </a:ext>
            </a:extLst>
          </p:cNvPr>
          <p:cNvSpPr txBox="1"/>
          <p:nvPr/>
        </p:nvSpPr>
        <p:spPr>
          <a:xfrm>
            <a:off x="43476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ECBCD93-5ADC-0705-9B89-1EF0989BE6F1}"/>
              </a:ext>
            </a:extLst>
          </p:cNvPr>
          <p:cNvSpPr/>
          <p:nvPr/>
        </p:nvSpPr>
        <p:spPr>
          <a:xfrm>
            <a:off x="4980517" y="8564880"/>
            <a:ext cx="183091" cy="16002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AE01252-4471-8420-80DF-2DBF07E54622}"/>
              </a:ext>
            </a:extLst>
          </p:cNvPr>
          <p:cNvSpPr/>
          <p:nvPr/>
        </p:nvSpPr>
        <p:spPr>
          <a:xfrm>
            <a:off x="5182658" y="8650605"/>
            <a:ext cx="183092" cy="7429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3227FF-3C53-767D-A2F3-D35D0CFECF60}"/>
              </a:ext>
            </a:extLst>
          </p:cNvPr>
          <p:cNvSpPr txBox="1"/>
          <p:nvPr/>
        </p:nvSpPr>
        <p:spPr>
          <a:xfrm>
            <a:off x="48662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346C1B-E246-9004-1CBD-777496DD6B5B}"/>
              </a:ext>
            </a:extLst>
          </p:cNvPr>
          <p:cNvSpPr/>
          <p:nvPr/>
        </p:nvSpPr>
        <p:spPr>
          <a:xfrm>
            <a:off x="5499100" y="8367713"/>
            <a:ext cx="183092" cy="3571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7F8888D-16D8-12E0-179A-5358E8B997E9}"/>
              </a:ext>
            </a:extLst>
          </p:cNvPr>
          <p:cNvSpPr/>
          <p:nvPr/>
        </p:nvSpPr>
        <p:spPr>
          <a:xfrm>
            <a:off x="5701242" y="8510588"/>
            <a:ext cx="183091" cy="2143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A68240-8A33-EAFC-C3EF-26E1716A5015}"/>
              </a:ext>
            </a:extLst>
          </p:cNvPr>
          <p:cNvSpPr txBox="1"/>
          <p:nvPr/>
        </p:nvSpPr>
        <p:spPr>
          <a:xfrm>
            <a:off x="53848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09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725796-999D-13DD-D96E-804BC02232F3}"/>
              </a:ext>
            </a:extLst>
          </p:cNvPr>
          <p:cNvSpPr/>
          <p:nvPr/>
        </p:nvSpPr>
        <p:spPr>
          <a:xfrm>
            <a:off x="6017683" y="7736205"/>
            <a:ext cx="183092" cy="98869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52C22F8-58F3-9D27-2672-1E49E88310D3}"/>
              </a:ext>
            </a:extLst>
          </p:cNvPr>
          <p:cNvSpPr/>
          <p:nvPr/>
        </p:nvSpPr>
        <p:spPr>
          <a:xfrm>
            <a:off x="6219825" y="8070532"/>
            <a:ext cx="183092" cy="65436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6F7926-635D-E248-8E33-CAAD8A344CEA}"/>
              </a:ext>
            </a:extLst>
          </p:cNvPr>
          <p:cNvSpPr txBox="1"/>
          <p:nvPr/>
        </p:nvSpPr>
        <p:spPr>
          <a:xfrm>
            <a:off x="59033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178E3E9-7F12-8093-D3F6-5458CE529BAE}"/>
              </a:ext>
            </a:extLst>
          </p:cNvPr>
          <p:cNvSpPr/>
          <p:nvPr/>
        </p:nvSpPr>
        <p:spPr>
          <a:xfrm>
            <a:off x="6536267" y="6456045"/>
            <a:ext cx="183092" cy="226885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50CCE1-3527-F1D6-4858-5310E8B320EB}"/>
              </a:ext>
            </a:extLst>
          </p:cNvPr>
          <p:cNvSpPr/>
          <p:nvPr/>
        </p:nvSpPr>
        <p:spPr>
          <a:xfrm>
            <a:off x="6738408" y="6653213"/>
            <a:ext cx="183092" cy="207168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E161B0-19F7-B55A-0397-BD6B46B7A116}"/>
              </a:ext>
            </a:extLst>
          </p:cNvPr>
          <p:cNvSpPr txBox="1"/>
          <p:nvPr/>
        </p:nvSpPr>
        <p:spPr>
          <a:xfrm>
            <a:off x="64219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478F083-43F8-74A5-BC7C-4F2A901D1504}"/>
              </a:ext>
            </a:extLst>
          </p:cNvPr>
          <p:cNvSpPr/>
          <p:nvPr/>
        </p:nvSpPr>
        <p:spPr>
          <a:xfrm>
            <a:off x="7054850" y="6324600"/>
            <a:ext cx="183092" cy="240030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B16635-2D6D-DA15-15D1-3B70589615EC}"/>
              </a:ext>
            </a:extLst>
          </p:cNvPr>
          <p:cNvSpPr/>
          <p:nvPr/>
        </p:nvSpPr>
        <p:spPr>
          <a:xfrm>
            <a:off x="7256992" y="6613207"/>
            <a:ext cx="183092" cy="211169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F83433-7D4A-3BDB-74F9-56DE1CD51B4D}"/>
              </a:ext>
            </a:extLst>
          </p:cNvPr>
          <p:cNvSpPr txBox="1"/>
          <p:nvPr/>
        </p:nvSpPr>
        <p:spPr>
          <a:xfrm>
            <a:off x="69405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E380D15-7BBF-9498-9A7F-A1E7F5E9986E}"/>
              </a:ext>
            </a:extLst>
          </p:cNvPr>
          <p:cNvSpPr/>
          <p:nvPr/>
        </p:nvSpPr>
        <p:spPr>
          <a:xfrm>
            <a:off x="7573433" y="6833235"/>
            <a:ext cx="183092" cy="189166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9671F96-8F98-23CF-81F2-B3ED6B83989C}"/>
              </a:ext>
            </a:extLst>
          </p:cNvPr>
          <p:cNvSpPr/>
          <p:nvPr/>
        </p:nvSpPr>
        <p:spPr>
          <a:xfrm>
            <a:off x="7775575" y="7264718"/>
            <a:ext cx="183092" cy="146018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C06F90-7E87-A3B5-AF6C-99A425FA4058}"/>
              </a:ext>
            </a:extLst>
          </p:cNvPr>
          <p:cNvSpPr txBox="1"/>
          <p:nvPr/>
        </p:nvSpPr>
        <p:spPr>
          <a:xfrm>
            <a:off x="74591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98948A-57F5-250A-1355-753C1A0918C7}"/>
              </a:ext>
            </a:extLst>
          </p:cNvPr>
          <p:cNvSpPr/>
          <p:nvPr/>
        </p:nvSpPr>
        <p:spPr>
          <a:xfrm>
            <a:off x="8092017" y="7193280"/>
            <a:ext cx="183092" cy="153162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74A3129-2230-C303-B5CB-D75373987E90}"/>
              </a:ext>
            </a:extLst>
          </p:cNvPr>
          <p:cNvSpPr/>
          <p:nvPr/>
        </p:nvSpPr>
        <p:spPr>
          <a:xfrm>
            <a:off x="8294158" y="7679055"/>
            <a:ext cx="183092" cy="104584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65EFE5-9DE6-3B62-DCBA-1B0D53BBBF35}"/>
              </a:ext>
            </a:extLst>
          </p:cNvPr>
          <p:cNvSpPr txBox="1"/>
          <p:nvPr/>
        </p:nvSpPr>
        <p:spPr>
          <a:xfrm>
            <a:off x="79777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14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A265F80-6F3D-A373-E5A5-B260BFEE536F}"/>
              </a:ext>
            </a:extLst>
          </p:cNvPr>
          <p:cNvSpPr/>
          <p:nvPr/>
        </p:nvSpPr>
        <p:spPr>
          <a:xfrm>
            <a:off x="8610600" y="7227570"/>
            <a:ext cx="183092" cy="149733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1C85634-51C4-0727-99DD-9D353B79BB14}"/>
              </a:ext>
            </a:extLst>
          </p:cNvPr>
          <p:cNvSpPr/>
          <p:nvPr/>
        </p:nvSpPr>
        <p:spPr>
          <a:xfrm>
            <a:off x="8812742" y="7721918"/>
            <a:ext cx="183092" cy="100298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E8EF5-860B-8246-D7A2-E1827F839A31}"/>
              </a:ext>
            </a:extLst>
          </p:cNvPr>
          <p:cNvSpPr txBox="1"/>
          <p:nvPr/>
        </p:nvSpPr>
        <p:spPr>
          <a:xfrm>
            <a:off x="84963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6BABBBE-C1F9-E7AC-9C8B-A524A9D323E0}"/>
              </a:ext>
            </a:extLst>
          </p:cNvPr>
          <p:cNvSpPr/>
          <p:nvPr/>
        </p:nvSpPr>
        <p:spPr>
          <a:xfrm>
            <a:off x="9129183" y="6721793"/>
            <a:ext cx="183092" cy="200310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9D6A45-8A25-34A5-5F25-F8EAEE358182}"/>
              </a:ext>
            </a:extLst>
          </p:cNvPr>
          <p:cNvSpPr/>
          <p:nvPr/>
        </p:nvSpPr>
        <p:spPr>
          <a:xfrm>
            <a:off x="9331325" y="7078980"/>
            <a:ext cx="183092" cy="164592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B4709A-5976-1296-FE3F-D1F86BF0C0FB}"/>
              </a:ext>
            </a:extLst>
          </p:cNvPr>
          <p:cNvSpPr txBox="1"/>
          <p:nvPr/>
        </p:nvSpPr>
        <p:spPr>
          <a:xfrm>
            <a:off x="90148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A0A661B-2A83-2931-94A0-B9323E38F7F0}"/>
              </a:ext>
            </a:extLst>
          </p:cNvPr>
          <p:cNvSpPr/>
          <p:nvPr/>
        </p:nvSpPr>
        <p:spPr>
          <a:xfrm>
            <a:off x="9647767" y="5464492"/>
            <a:ext cx="183092" cy="326040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47CFE7E-E0A6-2753-1E6A-88C3C3262108}"/>
              </a:ext>
            </a:extLst>
          </p:cNvPr>
          <p:cNvSpPr/>
          <p:nvPr/>
        </p:nvSpPr>
        <p:spPr>
          <a:xfrm>
            <a:off x="9849908" y="4810125"/>
            <a:ext cx="183092" cy="391477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2D036A-2DE9-9B62-E6EE-39AA94C69732}"/>
              </a:ext>
            </a:extLst>
          </p:cNvPr>
          <p:cNvSpPr txBox="1"/>
          <p:nvPr/>
        </p:nvSpPr>
        <p:spPr>
          <a:xfrm>
            <a:off x="95334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2FA3BD3-4B25-0D61-7F09-8267F1A81D5A}"/>
              </a:ext>
            </a:extLst>
          </p:cNvPr>
          <p:cNvSpPr/>
          <p:nvPr/>
        </p:nvSpPr>
        <p:spPr>
          <a:xfrm>
            <a:off x="10166350" y="4830128"/>
            <a:ext cx="183092" cy="3894772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5EFCFAF-E5DF-D9B5-94BF-256C42297B26}"/>
              </a:ext>
            </a:extLst>
          </p:cNvPr>
          <p:cNvSpPr/>
          <p:nvPr/>
        </p:nvSpPr>
        <p:spPr>
          <a:xfrm>
            <a:off x="10368492" y="3401378"/>
            <a:ext cx="183092" cy="532352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925427-B98C-5DA8-C11F-781048C7CEBF}"/>
              </a:ext>
            </a:extLst>
          </p:cNvPr>
          <p:cNvSpPr txBox="1"/>
          <p:nvPr/>
        </p:nvSpPr>
        <p:spPr>
          <a:xfrm>
            <a:off x="100520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67F0026-B71F-2BD7-EA88-E8B925F7E019}"/>
              </a:ext>
            </a:extLst>
          </p:cNvPr>
          <p:cNvSpPr/>
          <p:nvPr/>
        </p:nvSpPr>
        <p:spPr>
          <a:xfrm>
            <a:off x="10684933" y="5515928"/>
            <a:ext cx="183092" cy="3208972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49B851D-838F-49E8-7754-D0A2BA53A0BE}"/>
              </a:ext>
            </a:extLst>
          </p:cNvPr>
          <p:cNvSpPr/>
          <p:nvPr/>
        </p:nvSpPr>
        <p:spPr>
          <a:xfrm>
            <a:off x="10887075" y="4984433"/>
            <a:ext cx="183092" cy="374046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41B5CF-4B0F-89D9-2DF4-B4A71408B161}"/>
              </a:ext>
            </a:extLst>
          </p:cNvPr>
          <p:cNvSpPr txBox="1"/>
          <p:nvPr/>
        </p:nvSpPr>
        <p:spPr>
          <a:xfrm>
            <a:off x="105706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19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1E91677-DD58-2BA9-BB91-BB5EED9BDC99}"/>
              </a:ext>
            </a:extLst>
          </p:cNvPr>
          <p:cNvSpPr/>
          <p:nvPr/>
        </p:nvSpPr>
        <p:spPr>
          <a:xfrm>
            <a:off x="11203517" y="6536055"/>
            <a:ext cx="183092" cy="218884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5BEA7A-38D1-611E-C79B-09BE69229128}"/>
              </a:ext>
            </a:extLst>
          </p:cNvPr>
          <p:cNvSpPr/>
          <p:nvPr/>
        </p:nvSpPr>
        <p:spPr>
          <a:xfrm>
            <a:off x="11405658" y="6518910"/>
            <a:ext cx="183092" cy="220599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3D7509-DC6F-37C4-2DAC-D60B4AE0C0B8}"/>
              </a:ext>
            </a:extLst>
          </p:cNvPr>
          <p:cNvSpPr txBox="1"/>
          <p:nvPr/>
        </p:nvSpPr>
        <p:spPr>
          <a:xfrm>
            <a:off x="110892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B3F289E-1CD2-CD22-242A-7872AA50DD22}"/>
              </a:ext>
            </a:extLst>
          </p:cNvPr>
          <p:cNvSpPr/>
          <p:nvPr/>
        </p:nvSpPr>
        <p:spPr>
          <a:xfrm>
            <a:off x="11722100" y="7156132"/>
            <a:ext cx="183092" cy="156876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F729978-7C18-75F9-152B-3C8FE6A0506D}"/>
              </a:ext>
            </a:extLst>
          </p:cNvPr>
          <p:cNvSpPr/>
          <p:nvPr/>
        </p:nvSpPr>
        <p:spPr>
          <a:xfrm>
            <a:off x="11924242" y="7250430"/>
            <a:ext cx="183092" cy="147447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13B398-2733-F471-8250-A224F865D9E6}"/>
              </a:ext>
            </a:extLst>
          </p:cNvPr>
          <p:cNvSpPr txBox="1"/>
          <p:nvPr/>
        </p:nvSpPr>
        <p:spPr>
          <a:xfrm>
            <a:off x="116078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21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252D749-8A12-27CC-975D-AAD38A329705}"/>
              </a:ext>
            </a:extLst>
          </p:cNvPr>
          <p:cNvSpPr/>
          <p:nvPr/>
        </p:nvSpPr>
        <p:spPr>
          <a:xfrm>
            <a:off x="12240683" y="7490460"/>
            <a:ext cx="183092" cy="123444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F0CB62F-2D9A-EE06-638C-BD08B1D3BA37}"/>
              </a:ext>
            </a:extLst>
          </p:cNvPr>
          <p:cNvSpPr/>
          <p:nvPr/>
        </p:nvSpPr>
        <p:spPr>
          <a:xfrm>
            <a:off x="12442825" y="7813357"/>
            <a:ext cx="183092" cy="91154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1A17EF-3060-4589-B47E-73599D0899EE}"/>
              </a:ext>
            </a:extLst>
          </p:cNvPr>
          <p:cNvSpPr txBox="1"/>
          <p:nvPr/>
        </p:nvSpPr>
        <p:spPr>
          <a:xfrm>
            <a:off x="121263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22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4E4C9F6-8E7D-8049-E0EA-627D310351ED}"/>
              </a:ext>
            </a:extLst>
          </p:cNvPr>
          <p:cNvSpPr/>
          <p:nvPr/>
        </p:nvSpPr>
        <p:spPr>
          <a:xfrm>
            <a:off x="12759267" y="8710613"/>
            <a:ext cx="183092" cy="142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C4CDAD0-9F65-BF29-22A3-8D8F102C29CD}"/>
              </a:ext>
            </a:extLst>
          </p:cNvPr>
          <p:cNvSpPr/>
          <p:nvPr/>
        </p:nvSpPr>
        <p:spPr>
          <a:xfrm>
            <a:off x="12961408" y="8027670"/>
            <a:ext cx="183092" cy="69723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83CB09-965D-CF71-0385-9F084265B43E}"/>
              </a:ext>
            </a:extLst>
          </p:cNvPr>
          <p:cNvSpPr txBox="1"/>
          <p:nvPr/>
        </p:nvSpPr>
        <p:spPr>
          <a:xfrm>
            <a:off x="126449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23~05</a:t>
            </a:r>
            <a:endParaRPr lang="ko-KR" altLang="en-US" sz="975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EEEB82D-AAF5-D75A-3962-40E78506D8B7}"/>
              </a:ext>
            </a:extLst>
          </p:cNvPr>
          <p:cNvCxnSpPr/>
          <p:nvPr/>
        </p:nvCxnSpPr>
        <p:spPr>
          <a:xfrm>
            <a:off x="3886200" y="8724900"/>
            <a:ext cx="933450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ACBC98B-9E65-1F52-A3D7-592DF2A7263F}"/>
              </a:ext>
            </a:extLst>
          </p:cNvPr>
          <p:cNvSpPr txBox="1"/>
          <p:nvPr/>
        </p:nvSpPr>
        <p:spPr>
          <a:xfrm>
            <a:off x="11273367" y="6057900"/>
            <a:ext cx="194733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US" altLang="ko-KR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23~05</a:t>
            </a:r>
            <a:r>
              <a:rPr lang="ko-KR" altLang="en-US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</a:t>
            </a:r>
          </a:p>
          <a:p>
            <a:pPr algn="r">
              <a:lnSpc>
                <a:spcPct val="125000"/>
              </a:lnSpc>
            </a:pPr>
            <a:r>
              <a:rPr lang="ko-KR" altLang="en-US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</a:t>
            </a:r>
            <a:r>
              <a:rPr lang="en-US" altLang="ko-KR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0.00% · </a:t>
            </a:r>
            <a:r>
              <a:rPr lang="ko-KR" altLang="en-US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</a:t>
            </a:r>
            <a:r>
              <a:rPr lang="en-US" altLang="ko-KR" sz="11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2.44%</a:t>
            </a:r>
            <a:endParaRPr lang="ko-KR" altLang="en-US" sz="1125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A0EE55D-6618-1118-4DF3-CEA92E67C57C}"/>
              </a:ext>
            </a:extLst>
          </p:cNvPr>
          <p:cNvCxnSpPr/>
          <p:nvPr/>
        </p:nvCxnSpPr>
        <p:spPr>
          <a:xfrm>
            <a:off x="135064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3D7EDDB-46EF-4729-CDC1-EA7EAE03E322}"/>
              </a:ext>
            </a:extLst>
          </p:cNvPr>
          <p:cNvSpPr txBox="1"/>
          <p:nvPr/>
        </p:nvSpPr>
        <p:spPr>
          <a:xfrm>
            <a:off x="13792200" y="224790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11</a:t>
            </a:r>
            <a:r>
              <a:rPr lang="ko-KR" altLang="en-US" sz="30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건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0458CF8-D3F3-84B0-40CE-A2F722714EB5}"/>
              </a:ext>
            </a:extLst>
          </p:cNvPr>
          <p:cNvSpPr txBox="1"/>
          <p:nvPr/>
        </p:nvSpPr>
        <p:spPr>
          <a:xfrm>
            <a:off x="13792200" y="274320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23~05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급식 결제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25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개월 합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CAF2EA-666E-3A6C-C859-46BCC47271E8}"/>
              </a:ext>
            </a:extLst>
          </p:cNvPr>
          <p:cNvSpPr txBox="1"/>
          <p:nvPr/>
        </p:nvSpPr>
        <p:spPr>
          <a:xfrm>
            <a:off x="13792200" y="306705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시간 일반 결제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88,244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b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22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급식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14,730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→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이후 절벽</a:t>
            </a: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231A4B72-6DF9-22CB-FE1A-AE0E4F89EB8E}"/>
              </a:ext>
            </a:extLst>
          </p:cNvPr>
          <p:cNvCxnSpPr/>
          <p:nvPr/>
        </p:nvCxnSpPr>
        <p:spPr>
          <a:xfrm>
            <a:off x="13792200" y="3967163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D1E848D-DEFA-FF91-82CD-70641CC09050}"/>
              </a:ext>
            </a:extLst>
          </p:cNvPr>
          <p:cNvSpPr txBox="1"/>
          <p:nvPr/>
        </p:nvSpPr>
        <p:spPr>
          <a:xfrm>
            <a:off x="13792200" y="413861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18.6%</a:t>
            </a:r>
            <a:endParaRPr lang="ko-KR" altLang="en-US" sz="30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25E2252-E386-8A72-8917-FEF33E81C95B}"/>
              </a:ext>
            </a:extLst>
          </p:cNvPr>
          <p:cNvSpPr txBox="1"/>
          <p:nvPr/>
        </p:nvSpPr>
        <p:spPr>
          <a:xfrm>
            <a:off x="13792200" y="463391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11~12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급식 결제 비중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ACD749-E693-B6D6-CC6C-5AA775714F48}"/>
              </a:ext>
            </a:extLst>
          </p:cNvPr>
          <p:cNvSpPr txBox="1"/>
          <p:nvPr/>
        </p:nvSpPr>
        <p:spPr>
          <a:xfrm>
            <a:off x="13792200" y="495776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12.4% ·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일반은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14.3% → 15.6%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749AF6F-A755-7D65-842C-8BDF8525F64D}"/>
              </a:ext>
            </a:extLst>
          </p:cNvPr>
          <p:cNvCxnSpPr/>
          <p:nvPr/>
        </p:nvCxnSpPr>
        <p:spPr>
          <a:xfrm>
            <a:off x="13792200" y="5857875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C81B6BC-743C-E1D9-7588-F74184213474}"/>
              </a:ext>
            </a:extLst>
          </p:cNvPr>
          <p:cNvSpPr txBox="1"/>
          <p:nvPr/>
        </p:nvSpPr>
        <p:spPr>
          <a:xfrm>
            <a:off x="13792200" y="602932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36.3%</a:t>
            </a:r>
            <a:endParaRPr lang="ko-KR" altLang="en-US" sz="30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548640F-0FB7-7846-34D6-6A2BCE4FBFDB}"/>
              </a:ext>
            </a:extLst>
          </p:cNvPr>
          <p:cNvSpPr txBox="1"/>
          <p:nvPr/>
        </p:nvSpPr>
        <p:spPr>
          <a:xfrm>
            <a:off x="13792200" y="652462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저녁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17~19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 급식 결제 비중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2F990D-4EDC-5124-B90C-DAFCFCB35E3C}"/>
              </a:ext>
            </a:extLst>
          </p:cNvPr>
          <p:cNvSpPr txBox="1"/>
          <p:nvPr/>
        </p:nvSpPr>
        <p:spPr>
          <a:xfrm>
            <a:off x="13792200" y="684847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45.4%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보다 낮아 저녁 피크가 얇음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B716C0C-ABE3-6BB9-9B2F-89B0B8AED797}"/>
              </a:ext>
            </a:extLst>
          </p:cNvPr>
          <p:cNvCxnSpPr/>
          <p:nvPr/>
        </p:nvCxnSpPr>
        <p:spPr>
          <a:xfrm>
            <a:off x="13792200" y="7748588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838272C-8CE9-0564-EAA7-0A38F17E0B37}"/>
              </a:ext>
            </a:extLst>
          </p:cNvPr>
          <p:cNvSpPr txBox="1"/>
          <p:nvPr/>
        </p:nvSpPr>
        <p:spPr>
          <a:xfrm>
            <a:off x="13792200" y="792003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+10%</a:t>
            </a:r>
            <a:endParaRPr lang="ko-KR" altLang="en-US" sz="30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8BE8D5A-6FE9-033B-093D-D81166CE45C0}"/>
              </a:ext>
            </a:extLst>
          </p:cNvPr>
          <p:cNvSpPr txBox="1"/>
          <p:nvPr/>
        </p:nvSpPr>
        <p:spPr>
          <a:xfrm>
            <a:off x="13792200" y="841533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주말 하루 평균 급식 결제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평일 대비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F199963-7359-ED8D-5314-090182FDBBB8}"/>
              </a:ext>
            </a:extLst>
          </p:cNvPr>
          <p:cNvSpPr txBox="1"/>
          <p:nvPr/>
        </p:nvSpPr>
        <p:spPr>
          <a:xfrm>
            <a:off x="13792200" y="873918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+43%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보다 작아 급식은 평일 쪽</a:t>
            </a:r>
          </a:p>
        </p:txBody>
      </p:sp>
    </p:spTree>
    <p:extLst>
      <p:ext uri="{BB962C8B-B14F-4D97-AF65-F5344CB8AC3E}">
        <p14:creationId xmlns:p14="http://schemas.microsoft.com/office/powerpoint/2010/main" val="307117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23E4304-910E-2E77-020C-A560F7BAAAA5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87A52C-14DB-22E1-7A9A-0A2B2AB11531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71BA-4CC1-6675-1AEE-137BF0C594A2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E7080-43F5-8602-77D7-AEDA48A62EE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20F632-0AF8-1409-861D-BB8EC7E7BAE1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193F0-39D7-705E-BF47-9141C4B1050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CCE58-925F-6B86-4236-9B5E24E848A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6D4BA-3975-1C5C-C7C0-2DF37962C3D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4DD71-19D4-FC99-D55C-8F08BAB7D10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E06B6-81EF-4BA4-2204-08095E2562AD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0CB22-371C-C066-5B66-93342376B80E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B918E-73FE-716A-3E23-0596AE6FACE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24692-29D0-41BB-7613-9D6A4802870F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달성군 학기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2B40F-45EF-93BF-570A-1E7AE9008EE7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달성군만 학기 이용이 유독 적음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학교 점심이 아니라 군 단위 차이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104AD3-6F6D-B66B-8F3B-C2DC7235C6B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C06DD-048F-E61B-0C32-F01F50A2398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1DC37A-A568-7646-ADC9-D66A0E584EE7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동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 파일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위치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소재지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남구는 다른 구로 배달한 몫 포함 가능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시간대 비중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2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지원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경북매일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아주경제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2024-08-01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F19722-FC20-DBFC-C263-0F4C76E74013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 월 급식 결제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677B6E-52C1-7C13-08D8-A2E0166A0060}"/>
              </a:ext>
            </a:extLst>
          </p:cNvPr>
          <p:cNvSpPr/>
          <p:nvPr/>
        </p:nvSpPr>
        <p:spPr>
          <a:xfrm>
            <a:off x="1087755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130F9-8E57-446F-D070-1A5C33E2DB74}"/>
              </a:ext>
            </a:extLst>
          </p:cNvPr>
          <p:cNvSpPr txBox="1"/>
          <p:nvPr/>
        </p:nvSpPr>
        <p:spPr>
          <a:xfrm>
            <a:off x="110871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AA97AB-8CC9-E379-E132-B3FE61DE69AE}"/>
              </a:ext>
            </a:extLst>
          </p:cNvPr>
          <p:cNvSpPr/>
          <p:nvPr/>
        </p:nvSpPr>
        <p:spPr>
          <a:xfrm>
            <a:off x="10077450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70CF9-EBB1-C956-C6D9-4E389947EDE5}"/>
              </a:ext>
            </a:extLst>
          </p:cNvPr>
          <p:cNvSpPr txBox="1"/>
          <p:nvPr/>
        </p:nvSpPr>
        <p:spPr>
          <a:xfrm>
            <a:off x="102870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494129-A02C-AC60-87F1-CB068F7EC575}"/>
              </a:ext>
            </a:extLst>
          </p:cNvPr>
          <p:cNvSpPr txBox="1"/>
          <p:nvPr/>
        </p:nvSpPr>
        <p:spPr>
          <a:xfrm>
            <a:off x="3314700" y="255270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소재 군구 기준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배수 순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달성군은 학기 이용이 방학의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1/25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4AA29A-D523-F286-2959-9D551F6B7FAC}"/>
              </a:ext>
            </a:extLst>
          </p:cNvPr>
          <p:cNvSpPr txBox="1"/>
          <p:nvPr/>
        </p:nvSpPr>
        <p:spPr>
          <a:xfrm>
            <a:off x="3314700" y="299085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65E7864-6313-E1F4-F1F4-49E49588CC1E}"/>
              </a:ext>
            </a:extLst>
          </p:cNvPr>
          <p:cNvSpPr/>
          <p:nvPr/>
        </p:nvSpPr>
        <p:spPr>
          <a:xfrm>
            <a:off x="4267200" y="2933700"/>
            <a:ext cx="104121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2243B-13C3-71C0-E16C-8840442DAF1F}"/>
              </a:ext>
            </a:extLst>
          </p:cNvPr>
          <p:cNvSpPr txBox="1"/>
          <p:nvPr/>
        </p:nvSpPr>
        <p:spPr>
          <a:xfrm>
            <a:off x="5384615" y="291465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66.7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1B6901-D87F-4F81-AF33-2F48F82FE265}"/>
              </a:ext>
            </a:extLst>
          </p:cNvPr>
          <p:cNvSpPr/>
          <p:nvPr/>
        </p:nvSpPr>
        <p:spPr>
          <a:xfrm>
            <a:off x="4267200" y="3181350"/>
            <a:ext cx="40587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C2A9BE-EEEB-5DF2-0C6E-3C5F74A7B6E1}"/>
              </a:ext>
            </a:extLst>
          </p:cNvPr>
          <p:cNvSpPr txBox="1"/>
          <p:nvPr/>
        </p:nvSpPr>
        <p:spPr>
          <a:xfrm>
            <a:off x="4383987" y="316230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2.6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F6739A-2950-4495-56E4-9654CECE6EE0}"/>
              </a:ext>
            </a:extLst>
          </p:cNvPr>
          <p:cNvSpPr txBox="1"/>
          <p:nvPr/>
        </p:nvSpPr>
        <p:spPr>
          <a:xfrm>
            <a:off x="10363200" y="2971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25.3</a:t>
            </a:r>
            <a:r>
              <a:rPr lang="ko-KR" altLang="en-US" sz="165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A63553F-A481-7600-431A-56C395B0B0C8}"/>
              </a:ext>
            </a:extLst>
          </p:cNvPr>
          <p:cNvCxnSpPr/>
          <p:nvPr/>
        </p:nvCxnSpPr>
        <p:spPr>
          <a:xfrm>
            <a:off x="3314700" y="3664744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DA7D68E-BA8A-E7CB-7B1D-85370BE6DFED}"/>
              </a:ext>
            </a:extLst>
          </p:cNvPr>
          <p:cNvSpPr txBox="1"/>
          <p:nvPr/>
        </p:nvSpPr>
        <p:spPr>
          <a:xfrm>
            <a:off x="3314700" y="383619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921D2E7-9D5B-9EEC-94EE-4F7A2BD9897C}"/>
              </a:ext>
            </a:extLst>
          </p:cNvPr>
          <p:cNvSpPr/>
          <p:nvPr/>
        </p:nvSpPr>
        <p:spPr>
          <a:xfrm>
            <a:off x="4267200" y="3779044"/>
            <a:ext cx="1634411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9994F9-B83B-4667-3B54-3B087732FAAA}"/>
              </a:ext>
            </a:extLst>
          </p:cNvPr>
          <p:cNvSpPr txBox="1"/>
          <p:nvPr/>
        </p:nvSpPr>
        <p:spPr>
          <a:xfrm>
            <a:off x="5977811" y="375999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104.7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F0892DD-FF24-96FF-5947-C84B80BD484D}"/>
              </a:ext>
            </a:extLst>
          </p:cNvPr>
          <p:cNvSpPr/>
          <p:nvPr/>
        </p:nvSpPr>
        <p:spPr>
          <a:xfrm>
            <a:off x="4267200" y="4026694"/>
            <a:ext cx="198252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A19E83-8061-D3A2-1D57-FF3BA07347C7}"/>
              </a:ext>
            </a:extLst>
          </p:cNvPr>
          <p:cNvSpPr txBox="1"/>
          <p:nvPr/>
        </p:nvSpPr>
        <p:spPr>
          <a:xfrm>
            <a:off x="4541652" y="400764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12.7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2DAD27-750C-C2CB-61AC-CC26764ED2B2}"/>
              </a:ext>
            </a:extLst>
          </p:cNvPr>
          <p:cNvSpPr txBox="1"/>
          <p:nvPr/>
        </p:nvSpPr>
        <p:spPr>
          <a:xfrm>
            <a:off x="10363200" y="3817144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8.2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5279F2C-4092-0AF6-5E60-26012CA2F588}"/>
              </a:ext>
            </a:extLst>
          </p:cNvPr>
          <p:cNvCxnSpPr/>
          <p:nvPr/>
        </p:nvCxnSpPr>
        <p:spPr>
          <a:xfrm>
            <a:off x="3314700" y="4510088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751A435-1A86-1D10-035A-02C3E5D8DBB8}"/>
              </a:ext>
            </a:extLst>
          </p:cNvPr>
          <p:cNvSpPr txBox="1"/>
          <p:nvPr/>
        </p:nvSpPr>
        <p:spPr>
          <a:xfrm>
            <a:off x="3314700" y="468153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달서구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348BBA-69AF-2F1A-B945-BD22A455CBFF}"/>
              </a:ext>
            </a:extLst>
          </p:cNvPr>
          <p:cNvSpPr/>
          <p:nvPr/>
        </p:nvSpPr>
        <p:spPr>
          <a:xfrm>
            <a:off x="4267200" y="4624388"/>
            <a:ext cx="201530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F4C055-FC0D-3B92-585B-8359F1712034}"/>
              </a:ext>
            </a:extLst>
          </p:cNvPr>
          <p:cNvSpPr txBox="1"/>
          <p:nvPr/>
        </p:nvSpPr>
        <p:spPr>
          <a:xfrm>
            <a:off x="6358705" y="460533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129.1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6A4896E-765D-FF69-1AB4-3778FE08D581}"/>
              </a:ext>
            </a:extLst>
          </p:cNvPr>
          <p:cNvSpPr/>
          <p:nvPr/>
        </p:nvSpPr>
        <p:spPr>
          <a:xfrm>
            <a:off x="4267200" y="4872038"/>
            <a:ext cx="371528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89CF00-6720-3EB6-CEFF-DD918CC8F40A}"/>
              </a:ext>
            </a:extLst>
          </p:cNvPr>
          <p:cNvSpPr txBox="1"/>
          <p:nvPr/>
        </p:nvSpPr>
        <p:spPr>
          <a:xfrm>
            <a:off x="4714928" y="485298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23.8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E38AA0-CFAA-F427-1B7F-01B9B2D293E5}"/>
              </a:ext>
            </a:extLst>
          </p:cNvPr>
          <p:cNvSpPr txBox="1"/>
          <p:nvPr/>
        </p:nvSpPr>
        <p:spPr>
          <a:xfrm>
            <a:off x="10363200" y="4662488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5.4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A38C715-815C-86CA-9481-711345374CF2}"/>
              </a:ext>
            </a:extLst>
          </p:cNvPr>
          <p:cNvCxnSpPr/>
          <p:nvPr/>
        </p:nvCxnSpPr>
        <p:spPr>
          <a:xfrm>
            <a:off x="3314700" y="5355431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34B9F7E-CF7D-E322-56AA-49CB3E9F4E11}"/>
              </a:ext>
            </a:extLst>
          </p:cNvPr>
          <p:cNvSpPr txBox="1"/>
          <p:nvPr/>
        </p:nvSpPr>
        <p:spPr>
          <a:xfrm>
            <a:off x="3314700" y="552688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중구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2EDC8FC-9CF2-6E0E-D789-460750BA90A7}"/>
              </a:ext>
            </a:extLst>
          </p:cNvPr>
          <p:cNvSpPr/>
          <p:nvPr/>
        </p:nvSpPr>
        <p:spPr>
          <a:xfrm>
            <a:off x="4267200" y="5469731"/>
            <a:ext cx="2133944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FD891C-BB2E-6C0F-B394-3B07B05D3C45}"/>
              </a:ext>
            </a:extLst>
          </p:cNvPr>
          <p:cNvSpPr txBox="1"/>
          <p:nvPr/>
        </p:nvSpPr>
        <p:spPr>
          <a:xfrm>
            <a:off x="6477344" y="545068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136.7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13AA92-B55D-1880-9701-5C5E92C011E1}"/>
              </a:ext>
            </a:extLst>
          </p:cNvPr>
          <p:cNvSpPr/>
          <p:nvPr/>
        </p:nvSpPr>
        <p:spPr>
          <a:xfrm>
            <a:off x="4267200" y="5717381"/>
            <a:ext cx="505778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E7CBFD-CD94-1E41-EB4E-44449A8270E7}"/>
              </a:ext>
            </a:extLst>
          </p:cNvPr>
          <p:cNvSpPr txBox="1"/>
          <p:nvPr/>
        </p:nvSpPr>
        <p:spPr>
          <a:xfrm>
            <a:off x="4849178" y="569833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32.4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936049-F5FF-CB9C-21D2-3005A700119B}"/>
              </a:ext>
            </a:extLst>
          </p:cNvPr>
          <p:cNvSpPr txBox="1"/>
          <p:nvPr/>
        </p:nvSpPr>
        <p:spPr>
          <a:xfrm>
            <a:off x="10363200" y="5507831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4.2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5BCF9CA-F04C-2F9A-F71E-A741FE16FFC3}"/>
              </a:ext>
            </a:extLst>
          </p:cNvPr>
          <p:cNvCxnSpPr/>
          <p:nvPr/>
        </p:nvCxnSpPr>
        <p:spPr>
          <a:xfrm>
            <a:off x="3314700" y="6200775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A3EBCE4-E6A8-039D-CE25-3BC856D25CE6}"/>
              </a:ext>
            </a:extLst>
          </p:cNvPr>
          <p:cNvSpPr txBox="1"/>
          <p:nvPr/>
        </p:nvSpPr>
        <p:spPr>
          <a:xfrm>
            <a:off x="3314700" y="637222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서구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B0FF54A-9395-30C1-7D85-EE6DE070EB66}"/>
              </a:ext>
            </a:extLst>
          </p:cNvPr>
          <p:cNvSpPr/>
          <p:nvPr/>
        </p:nvSpPr>
        <p:spPr>
          <a:xfrm>
            <a:off x="4267200" y="6315075"/>
            <a:ext cx="2561669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7C8CD0-CE61-4E6E-5385-B33BCE587900}"/>
              </a:ext>
            </a:extLst>
          </p:cNvPr>
          <p:cNvSpPr txBox="1"/>
          <p:nvPr/>
        </p:nvSpPr>
        <p:spPr>
          <a:xfrm>
            <a:off x="6905069" y="629602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164.1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9E0C090-8E5A-3D28-7F88-AFEDCE4366B8}"/>
              </a:ext>
            </a:extLst>
          </p:cNvPr>
          <p:cNvSpPr/>
          <p:nvPr/>
        </p:nvSpPr>
        <p:spPr>
          <a:xfrm>
            <a:off x="4267200" y="6562725"/>
            <a:ext cx="615050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2B10AC-D980-1F59-877E-21A9F51ABE95}"/>
              </a:ext>
            </a:extLst>
          </p:cNvPr>
          <p:cNvSpPr txBox="1"/>
          <p:nvPr/>
        </p:nvSpPr>
        <p:spPr>
          <a:xfrm>
            <a:off x="4958450" y="654367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39.4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CFB543-52E5-D573-F13C-8EAE693F4E16}"/>
              </a:ext>
            </a:extLst>
          </p:cNvPr>
          <p:cNvSpPr txBox="1"/>
          <p:nvPr/>
        </p:nvSpPr>
        <p:spPr>
          <a:xfrm>
            <a:off x="10363200" y="6353175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4.2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25D5E1E-8775-8BF9-F81D-5A89EE4F9DFA}"/>
              </a:ext>
            </a:extLst>
          </p:cNvPr>
          <p:cNvCxnSpPr/>
          <p:nvPr/>
        </p:nvCxnSpPr>
        <p:spPr>
          <a:xfrm>
            <a:off x="3314700" y="7046119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858CF3-D4CB-CE26-AE46-B82008EC42D9}"/>
              </a:ext>
            </a:extLst>
          </p:cNvPr>
          <p:cNvSpPr txBox="1"/>
          <p:nvPr/>
        </p:nvSpPr>
        <p:spPr>
          <a:xfrm>
            <a:off x="3314700" y="721756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남구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C1FBCD9-56B0-7D8D-4AB9-4C50B93CD436}"/>
              </a:ext>
            </a:extLst>
          </p:cNvPr>
          <p:cNvSpPr/>
          <p:nvPr/>
        </p:nvSpPr>
        <p:spPr>
          <a:xfrm>
            <a:off x="4267200" y="7160419"/>
            <a:ext cx="5579163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F92C2A-857E-D040-C401-FB8478816691}"/>
              </a:ext>
            </a:extLst>
          </p:cNvPr>
          <p:cNvSpPr txBox="1"/>
          <p:nvPr/>
        </p:nvSpPr>
        <p:spPr>
          <a:xfrm>
            <a:off x="9922563" y="714136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357.4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CBFCA05-7110-92B0-3CCB-A20E258B8507}"/>
              </a:ext>
            </a:extLst>
          </p:cNvPr>
          <p:cNvSpPr/>
          <p:nvPr/>
        </p:nvSpPr>
        <p:spPr>
          <a:xfrm>
            <a:off x="4267200" y="7408069"/>
            <a:ext cx="1389327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8127D3-96D1-3829-B844-9642D24DBA5A}"/>
              </a:ext>
            </a:extLst>
          </p:cNvPr>
          <p:cNvSpPr txBox="1"/>
          <p:nvPr/>
        </p:nvSpPr>
        <p:spPr>
          <a:xfrm>
            <a:off x="5732727" y="738901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89.0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880355-F5B7-9040-E2F0-03CD2F7B6068}"/>
              </a:ext>
            </a:extLst>
          </p:cNvPr>
          <p:cNvSpPr txBox="1"/>
          <p:nvPr/>
        </p:nvSpPr>
        <p:spPr>
          <a:xfrm>
            <a:off x="10363200" y="7198519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4.0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7528A9D-560C-3454-7C48-16859C41B230}"/>
              </a:ext>
            </a:extLst>
          </p:cNvPr>
          <p:cNvCxnSpPr/>
          <p:nvPr/>
        </p:nvCxnSpPr>
        <p:spPr>
          <a:xfrm>
            <a:off x="3314700" y="7891463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19F850B-893B-425A-D436-66D841A554F0}"/>
              </a:ext>
            </a:extLst>
          </p:cNvPr>
          <p:cNvSpPr txBox="1"/>
          <p:nvPr/>
        </p:nvSpPr>
        <p:spPr>
          <a:xfrm>
            <a:off x="3314700" y="806291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동구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E93CB56-173B-6223-B694-231237321A75}"/>
              </a:ext>
            </a:extLst>
          </p:cNvPr>
          <p:cNvSpPr/>
          <p:nvPr/>
        </p:nvSpPr>
        <p:spPr>
          <a:xfrm>
            <a:off x="4267200" y="8005763"/>
            <a:ext cx="183578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A7360D-F649-B922-5270-0E4B85382BB7}"/>
              </a:ext>
            </a:extLst>
          </p:cNvPr>
          <p:cNvSpPr txBox="1"/>
          <p:nvPr/>
        </p:nvSpPr>
        <p:spPr>
          <a:xfrm>
            <a:off x="6179185" y="798671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117.6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1E0B12C-227A-E217-E841-BE7D400C3117}"/>
              </a:ext>
            </a:extLst>
          </p:cNvPr>
          <p:cNvSpPr/>
          <p:nvPr/>
        </p:nvSpPr>
        <p:spPr>
          <a:xfrm>
            <a:off x="4267200" y="8253413"/>
            <a:ext cx="477679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949289-FECF-FA3A-209A-046137B0E1F7}"/>
              </a:ext>
            </a:extLst>
          </p:cNvPr>
          <p:cNvSpPr txBox="1"/>
          <p:nvPr/>
        </p:nvSpPr>
        <p:spPr>
          <a:xfrm>
            <a:off x="4821079" y="823436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30.6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019214-728B-4C1E-3E1E-D7311C003D43}"/>
              </a:ext>
            </a:extLst>
          </p:cNvPr>
          <p:cNvSpPr txBox="1"/>
          <p:nvPr/>
        </p:nvSpPr>
        <p:spPr>
          <a:xfrm>
            <a:off x="10363200" y="8043863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3.8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ADE1520-827F-7AD8-C341-B8A314748C4C}"/>
              </a:ext>
            </a:extLst>
          </p:cNvPr>
          <p:cNvCxnSpPr/>
          <p:nvPr/>
        </p:nvCxnSpPr>
        <p:spPr>
          <a:xfrm>
            <a:off x="3314700" y="8736806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BC535DD-8EEF-770C-D711-456DDF1AD93A}"/>
              </a:ext>
            </a:extLst>
          </p:cNvPr>
          <p:cNvSpPr txBox="1"/>
          <p:nvPr/>
        </p:nvSpPr>
        <p:spPr>
          <a:xfrm>
            <a:off x="3314700" y="890825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수성구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82E99DC-17D9-6DC0-C267-39D79C6DFB2B}"/>
              </a:ext>
            </a:extLst>
          </p:cNvPr>
          <p:cNvSpPr/>
          <p:nvPr/>
        </p:nvSpPr>
        <p:spPr>
          <a:xfrm>
            <a:off x="4267200" y="8851106"/>
            <a:ext cx="1500161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1EFC10-DC45-096B-BF2F-AA07A96F0678}"/>
              </a:ext>
            </a:extLst>
          </p:cNvPr>
          <p:cNvSpPr txBox="1"/>
          <p:nvPr/>
        </p:nvSpPr>
        <p:spPr>
          <a:xfrm>
            <a:off x="5843561" y="883205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96.1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B0C0E89-BC1A-5D34-1071-AC052CA5F989}"/>
              </a:ext>
            </a:extLst>
          </p:cNvPr>
          <p:cNvSpPr/>
          <p:nvPr/>
        </p:nvSpPr>
        <p:spPr>
          <a:xfrm>
            <a:off x="4267200" y="9098756"/>
            <a:ext cx="593196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094D32-E961-BD8D-B005-9DB47096738A}"/>
              </a:ext>
            </a:extLst>
          </p:cNvPr>
          <p:cNvSpPr txBox="1"/>
          <p:nvPr/>
        </p:nvSpPr>
        <p:spPr>
          <a:xfrm>
            <a:off x="4936596" y="907970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38.0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3E28B4-D4AE-D4F4-82C1-EE1D4CF8CFA9}"/>
              </a:ext>
            </a:extLst>
          </p:cNvPr>
          <p:cNvSpPr txBox="1"/>
          <p:nvPr/>
        </p:nvSpPr>
        <p:spPr>
          <a:xfrm>
            <a:off x="10363200" y="8889206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2.5</a:t>
            </a:r>
            <a:r>
              <a:rPr lang="ko-KR" altLang="en-US" sz="16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배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E782328-52C6-9034-0E82-DAB6A6208693}"/>
              </a:ext>
            </a:extLst>
          </p:cNvPr>
          <p:cNvCxnSpPr/>
          <p:nvPr/>
        </p:nvCxnSpPr>
        <p:spPr>
          <a:xfrm>
            <a:off x="11791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CD24A77-488F-165B-9DCB-6BEA2F7CAB9F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남부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 읍면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3BC3EB-0583-8F59-6DC2-149EF4799B6D}"/>
              </a:ext>
            </a:extLst>
          </p:cNvPr>
          <p:cNvSpPr txBox="1"/>
          <p:nvPr/>
        </p:nvSpPr>
        <p:spPr>
          <a:xfrm>
            <a:off x="12077700" y="2571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논공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유가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구지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옥포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현풍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FF5B76-F41F-8647-7D5A-25473E2CBCA2}"/>
              </a:ext>
            </a:extLst>
          </p:cNvPr>
          <p:cNvSpPr txBox="1"/>
          <p:nvPr/>
        </p:nvSpPr>
        <p:spPr>
          <a:xfrm>
            <a:off x="12077700" y="29718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1/66~1/85</a:t>
            </a:r>
            <a:endParaRPr lang="ko-KR" altLang="en-US" sz="375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366CAC-EB8B-0314-F1FE-F8FC9264F477}"/>
              </a:ext>
            </a:extLst>
          </p:cNvPr>
          <p:cNvSpPr txBox="1"/>
          <p:nvPr/>
        </p:nvSpPr>
        <p:spPr>
          <a:xfrm>
            <a:off x="12077700" y="36766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대비 배수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아동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 월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0.3~1.8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0924341-40D7-3A87-8118-95C39E0D610C}"/>
              </a:ext>
            </a:extLst>
          </p:cNvPr>
          <p:cNvCxnSpPr/>
          <p:nvPr/>
        </p:nvCxnSpPr>
        <p:spPr>
          <a:xfrm>
            <a:off x="12077700" y="42100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E7BE5DE-8F78-A95F-E605-4770A3B7E531}"/>
              </a:ext>
            </a:extLst>
          </p:cNvPr>
          <p:cNvSpPr txBox="1"/>
          <p:nvPr/>
        </p:nvSpPr>
        <p:spPr>
          <a:xfrm>
            <a:off x="12077700" y="4419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학교 점심 때문만은 아님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62A1F8-DFAC-6A6C-0BFB-0EA20BB068A8}"/>
              </a:ext>
            </a:extLst>
          </p:cNvPr>
          <p:cNvSpPr txBox="1"/>
          <p:nvPr/>
        </p:nvSpPr>
        <p:spPr>
          <a:xfrm>
            <a:off x="12077700" y="4800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학기에도 평일 저녁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주말 점심엔 카드를 씀</a:t>
            </a:r>
            <a:b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주말 점심 급식 비중이 일반의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1.2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학기 아동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다른 구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12.7~89.0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2.6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북부 읍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화원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3.9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634B860C-155C-249C-819D-78256334A7D7}"/>
              </a:ext>
            </a:extLst>
          </p:cNvPr>
          <p:cNvCxnSpPr/>
          <p:nvPr/>
        </p:nvCxnSpPr>
        <p:spPr>
          <a:xfrm>
            <a:off x="12077700" y="63436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9516D6D-78E4-9C32-D884-5C7779E32AC3}"/>
              </a:ext>
            </a:extLst>
          </p:cNvPr>
          <p:cNvSpPr txBox="1"/>
          <p:nvPr/>
        </p:nvSpPr>
        <p:spPr>
          <a:xfrm>
            <a:off x="12077700" y="65532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해석 </a:t>
            </a: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추정</a:t>
            </a: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00" b="1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1F7FED-26AC-CED4-BD98-BD46B83D6611}"/>
              </a:ext>
            </a:extLst>
          </p:cNvPr>
          <p:cNvSpPr txBox="1"/>
          <p:nvPr/>
        </p:nvSpPr>
        <p:spPr>
          <a:xfrm>
            <a:off x="12077700" y="68770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군 전체가 학기에 거의 안 씀</a:t>
            </a:r>
            <a:b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동네가 아니라 군의 지원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 방식 차이</a:t>
            </a:r>
            <a:b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달성군은 여름방학 지원 대상을 따로 정해 발표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(2024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보도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5523359-BD16-E296-4DC9-6205A3E197BE}"/>
              </a:ext>
            </a:extLst>
          </p:cNvPr>
          <p:cNvCxnSpPr/>
          <p:nvPr/>
        </p:nvCxnSpPr>
        <p:spPr>
          <a:xfrm>
            <a:off x="12077700" y="796290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7063700-62A3-8C58-4004-E7B00D8B2427}"/>
              </a:ext>
            </a:extLst>
          </p:cNvPr>
          <p:cNvSpPr txBox="1"/>
          <p:nvPr/>
        </p:nvSpPr>
        <p:spPr>
          <a:xfrm>
            <a:off x="12077700" y="81724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 대신 확인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76DCBF-65B6-3DAC-90C7-8E6448986645}"/>
              </a:ext>
            </a:extLst>
          </p:cNvPr>
          <p:cNvSpPr txBox="1"/>
          <p:nvPr/>
        </p:nvSpPr>
        <p:spPr>
          <a:xfrm>
            <a:off x="12077700" y="84963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달성군청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지원 방식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신청 인원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4651A-ABBB-56A7-2BC4-CBE4656E2A4F}"/>
              </a:ext>
            </a:extLst>
          </p:cNvPr>
          <p:cNvSpPr txBox="1"/>
          <p:nvPr/>
        </p:nvSpPr>
        <p:spPr>
          <a:xfrm>
            <a:off x="12077700" y="88773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다른 경로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지역아동센터 등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로 먹으면 사각지대 아님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지원이 비어 있으면 군 정책 과제로 보고</a:t>
            </a:r>
          </a:p>
        </p:txBody>
      </p:sp>
    </p:spTree>
    <p:extLst>
      <p:ext uri="{BB962C8B-B14F-4D97-AF65-F5344CB8AC3E}">
        <p14:creationId xmlns:p14="http://schemas.microsoft.com/office/powerpoint/2010/main" val="2686590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848E021-7DEC-A09F-A303-08BB9D62D0D4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2F97D7-1DEF-4F00-A65E-240C56436F41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31607-420A-1C71-19E2-D8261BA84F50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D9D12-0579-9F02-8873-0735DFF5090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5D9C8-026A-EFF4-48C6-7CB42A9CBE25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EB2162-FA54-E63A-0235-E6EC07CD8B47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76B7A-A526-0392-9312-BC48F95E567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EF47A-13CC-3677-FC64-B22B2CEDCE7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C4236-4089-DF3F-F072-24FF755F7645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0E60C-953A-D3C8-4F53-0B6131518FF2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60D1A-39E6-002A-9C75-ADDD407F3F78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6D17E5-DAA7-A506-528A-AB92B359DEFB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A28C5-99BC-3A15-2A06-3E67E1BE252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지도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AECB5A-B924-B306-83FD-7F3E82EFE717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방학에 덜 쓰는 동은 권역이 아니라 동 단위로 흩어져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동 하나씩 판정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30533FF-8B8B-1FB9-97A4-60238D95FFC2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D93615-2522-BD22-96B4-79A71DDE0D5C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2B795-749B-D53E-8223-38049B7A69A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 뭉침 지수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(Moran’s I):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70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300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이상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 9,999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 순열 검정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지도는 우선 점검 위치만 표시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지표 값 비공개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공표 규칙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F22EEA-5651-D77D-3C00-79B25C1D0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2247900"/>
            <a:ext cx="5524500" cy="6826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F1DDB1-DF76-6843-3079-700C459ADC68}"/>
              </a:ext>
            </a:extLst>
          </p:cNvPr>
          <p:cNvSpPr txBox="1"/>
          <p:nvPr/>
        </p:nvSpPr>
        <p:spPr>
          <a:xfrm>
            <a:off x="7223246" y="3529645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C028E-3947-9A72-8CDD-34ED4E3E7F06}"/>
              </a:ext>
            </a:extLst>
          </p:cNvPr>
          <p:cNvSpPr txBox="1"/>
          <p:nvPr/>
        </p:nvSpPr>
        <p:spPr>
          <a:xfrm>
            <a:off x="5149786" y="476579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서구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D3B32-A42A-324D-F029-0A37D440B79C}"/>
              </a:ext>
            </a:extLst>
          </p:cNvPr>
          <p:cNvSpPr txBox="1"/>
          <p:nvPr/>
        </p:nvSpPr>
        <p:spPr>
          <a:xfrm>
            <a:off x="5927198" y="524703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남구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4C2F7E-2B4A-C876-1AA3-7F85FF3A05B6}"/>
              </a:ext>
            </a:extLst>
          </p:cNvPr>
          <p:cNvSpPr txBox="1"/>
          <p:nvPr/>
        </p:nvSpPr>
        <p:spPr>
          <a:xfrm>
            <a:off x="5584127" y="3597911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03142-9071-228C-CF71-89A36CEB5CA1}"/>
              </a:ext>
            </a:extLst>
          </p:cNvPr>
          <p:cNvSpPr txBox="1"/>
          <p:nvPr/>
        </p:nvSpPr>
        <p:spPr>
          <a:xfrm>
            <a:off x="6977958" y="5151651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수성구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B98FD5-0D21-7C3E-F673-45324EC59B04}"/>
              </a:ext>
            </a:extLst>
          </p:cNvPr>
          <p:cNvSpPr txBox="1"/>
          <p:nvPr/>
        </p:nvSpPr>
        <p:spPr>
          <a:xfrm>
            <a:off x="5225034" y="540014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달서구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05181-5B71-05FC-E380-D3DB4DB4E8DB}"/>
              </a:ext>
            </a:extLst>
          </p:cNvPr>
          <p:cNvSpPr txBox="1"/>
          <p:nvPr/>
        </p:nvSpPr>
        <p:spPr>
          <a:xfrm>
            <a:off x="4153833" y="4271699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5A15C27-E137-F23D-4BDB-2BC20231A366}"/>
              </a:ext>
            </a:extLst>
          </p:cNvPr>
          <p:cNvSpPr/>
          <p:nvPr/>
        </p:nvSpPr>
        <p:spPr>
          <a:xfrm>
            <a:off x="3934606" y="7992892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F83D577-0591-AA53-A4BC-AF452407ADA9}"/>
              </a:ext>
            </a:extLst>
          </p:cNvPr>
          <p:cNvSpPr/>
          <p:nvPr/>
        </p:nvSpPr>
        <p:spPr>
          <a:xfrm>
            <a:off x="4085425" y="6048669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DA0FF43-D5F3-4FF4-E2EF-508DE17D4650}"/>
              </a:ext>
            </a:extLst>
          </p:cNvPr>
          <p:cNvSpPr/>
          <p:nvPr/>
        </p:nvSpPr>
        <p:spPr>
          <a:xfrm>
            <a:off x="4579315" y="4780965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8FE2439-A6CC-CF89-3BC9-454CF5A955D8}"/>
              </a:ext>
            </a:extLst>
          </p:cNvPr>
          <p:cNvSpPr/>
          <p:nvPr/>
        </p:nvSpPr>
        <p:spPr>
          <a:xfrm>
            <a:off x="5134527" y="4550908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14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6F46B76-345D-6441-20D2-1563F00AF5D8}"/>
              </a:ext>
            </a:extLst>
          </p:cNvPr>
          <p:cNvSpPr/>
          <p:nvPr/>
        </p:nvSpPr>
        <p:spPr>
          <a:xfrm>
            <a:off x="4743393" y="494821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4554CF3-53F9-6EBD-BCBF-75C82AC450D2}"/>
              </a:ext>
            </a:extLst>
          </p:cNvPr>
          <p:cNvSpPr/>
          <p:nvPr/>
        </p:nvSpPr>
        <p:spPr>
          <a:xfrm>
            <a:off x="4652791" y="5874590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9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7E9E878-2D88-DD8D-EB72-EB4B7477A5F7}"/>
              </a:ext>
            </a:extLst>
          </p:cNvPr>
          <p:cNvSpPr/>
          <p:nvPr/>
        </p:nvSpPr>
        <p:spPr>
          <a:xfrm>
            <a:off x="5274850" y="6031603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34C3939-3984-7EA7-5CD9-0586477A9CDB}"/>
              </a:ext>
            </a:extLst>
          </p:cNvPr>
          <p:cNvSpPr/>
          <p:nvPr/>
        </p:nvSpPr>
        <p:spPr>
          <a:xfrm>
            <a:off x="5623446" y="6054130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9263340-69B5-BAE7-5891-BA72C3ED4B46}"/>
              </a:ext>
            </a:extLst>
          </p:cNvPr>
          <p:cNvSpPr/>
          <p:nvPr/>
        </p:nvSpPr>
        <p:spPr>
          <a:xfrm>
            <a:off x="7042138" y="3239513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0196392-9FC5-4709-961C-944CDD5DEC9D}"/>
              </a:ext>
            </a:extLst>
          </p:cNvPr>
          <p:cNvSpPr/>
          <p:nvPr/>
        </p:nvSpPr>
        <p:spPr>
          <a:xfrm>
            <a:off x="6786905" y="3803392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268A892-AC24-0A50-ABF4-5C8A0AAFF1EB}"/>
              </a:ext>
            </a:extLst>
          </p:cNvPr>
          <p:cNvSpPr/>
          <p:nvPr/>
        </p:nvSpPr>
        <p:spPr>
          <a:xfrm>
            <a:off x="5823433" y="3197871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D7E6688-12EC-4C41-3036-D29E51456736}"/>
              </a:ext>
            </a:extLst>
          </p:cNvPr>
          <p:cNvSpPr/>
          <p:nvPr/>
        </p:nvSpPr>
        <p:spPr>
          <a:xfrm>
            <a:off x="6474771" y="4432124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3E07ED6-2A2E-C99F-CD70-ADDA5AE7E1C6}"/>
              </a:ext>
            </a:extLst>
          </p:cNvPr>
          <p:cNvSpPr/>
          <p:nvPr/>
        </p:nvSpPr>
        <p:spPr>
          <a:xfrm>
            <a:off x="6321742" y="4208894"/>
            <a:ext cx="228601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FDE40A7-9BF3-05EF-6DF2-7991675504F1}"/>
              </a:ext>
            </a:extLst>
          </p:cNvPr>
          <p:cNvSpPr/>
          <p:nvPr/>
        </p:nvSpPr>
        <p:spPr>
          <a:xfrm>
            <a:off x="6058224" y="3240879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250F765-F3EE-3B47-09E5-3837D55AC7E5}"/>
              </a:ext>
            </a:extLst>
          </p:cNvPr>
          <p:cNvSpPr/>
          <p:nvPr/>
        </p:nvSpPr>
        <p:spPr>
          <a:xfrm>
            <a:off x="6222854" y="440959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703CBDD-EFD7-B556-CD34-6296E76D7429}"/>
              </a:ext>
            </a:extLst>
          </p:cNvPr>
          <p:cNvSpPr/>
          <p:nvPr/>
        </p:nvSpPr>
        <p:spPr>
          <a:xfrm>
            <a:off x="5718467" y="455841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12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C9386D5C-62E4-0965-81A5-7503DE2C5F59}"/>
              </a:ext>
            </a:extLst>
          </p:cNvPr>
          <p:cNvSpPr/>
          <p:nvPr/>
        </p:nvSpPr>
        <p:spPr>
          <a:xfrm>
            <a:off x="7819434" y="5184418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endParaRPr lang="ko-KR" altLang="en-US" sz="975" b="1">
              <a:solidFill>
                <a:srgbClr val="FFFFF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0633388-85EB-6A67-913F-9234F8CEB321}"/>
              </a:ext>
            </a:extLst>
          </p:cNvPr>
          <p:cNvCxnSpPr/>
          <p:nvPr/>
        </p:nvCxnSpPr>
        <p:spPr>
          <a:xfrm>
            <a:off x="9220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DE0FACA-FFDD-BB21-4149-0A965BC13432}"/>
              </a:ext>
            </a:extLst>
          </p:cNvPr>
          <p:cNvSpPr txBox="1"/>
          <p:nvPr/>
        </p:nvSpPr>
        <p:spPr>
          <a:xfrm>
            <a:off x="9601200" y="22479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학기 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2AA2A4-A366-38D0-44C3-95253FDDAC28}"/>
              </a:ext>
            </a:extLst>
          </p:cNvPr>
          <p:cNvSpPr txBox="1"/>
          <p:nvPr/>
        </p:nvSpPr>
        <p:spPr>
          <a:xfrm>
            <a:off x="9601200" y="25717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I 0.53</a:t>
            </a:r>
            <a:endParaRPr lang="ko-KR" altLang="en-US" sz="54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ABCE24-F89B-7584-0FE3-5C988EF4DF61}"/>
              </a:ext>
            </a:extLst>
          </p:cNvPr>
          <p:cNvSpPr txBox="1"/>
          <p:nvPr/>
        </p:nvSpPr>
        <p:spPr>
          <a:xfrm>
            <a:off x="9601200" y="34861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p &lt; 0.001 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강하게 뭉침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5F8313-063D-F2BC-13A6-76BD60096764}"/>
              </a:ext>
            </a:extLst>
          </p:cNvPr>
          <p:cNvSpPr txBox="1"/>
          <p:nvPr/>
        </p:nvSpPr>
        <p:spPr>
          <a:xfrm>
            <a:off x="9601200" y="38862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 외곽에 낮은 이용이 권역으로 모임</a:t>
            </a:r>
          </a:p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지역 단위 원인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지원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 방식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12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4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3D4DDE17-3D5F-B7FE-EC35-68CED4028CAA}"/>
              </a:ext>
            </a:extLst>
          </p:cNvPr>
          <p:cNvCxnSpPr/>
          <p:nvPr/>
        </p:nvCxnSpPr>
        <p:spPr>
          <a:xfrm>
            <a:off x="13639800" y="2247900"/>
            <a:ext cx="0" cy="3143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0D19607-2AC0-5AC0-A02C-B31846BFB688}"/>
              </a:ext>
            </a:extLst>
          </p:cNvPr>
          <p:cNvSpPr txBox="1"/>
          <p:nvPr/>
        </p:nvSpPr>
        <p:spPr>
          <a:xfrm>
            <a:off x="13925550" y="22479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이용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B71B5B-6FF9-1DA3-ABDF-BE1C8C7B7315}"/>
              </a:ext>
            </a:extLst>
          </p:cNvPr>
          <p:cNvSpPr txBox="1"/>
          <p:nvPr/>
        </p:nvSpPr>
        <p:spPr>
          <a:xfrm>
            <a:off x="13925550" y="25717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I −0.02</a:t>
            </a:r>
            <a:endParaRPr lang="ko-KR" altLang="en-US" sz="54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AF779F-2E5B-7745-8E74-0F2EC3BCA818}"/>
              </a:ext>
            </a:extLst>
          </p:cNvPr>
          <p:cNvSpPr txBox="1"/>
          <p:nvPr/>
        </p:nvSpPr>
        <p:spPr>
          <a:xfrm>
            <a:off x="13925550" y="34861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p 0.49 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뭉치지 않음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A65CBC-AA32-5C32-F682-EE75751D488C}"/>
              </a:ext>
            </a:extLst>
          </p:cNvPr>
          <p:cNvSpPr txBox="1"/>
          <p:nvPr/>
        </p:nvSpPr>
        <p:spPr>
          <a:xfrm>
            <a:off x="13925550" y="38862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권역 단위 해결방안 불가</a:t>
            </a:r>
          </a:p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동마다 이유를 따로 판정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(16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4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0A86B45-6D5B-AC19-F854-A055FD069B7A}"/>
              </a:ext>
            </a:extLst>
          </p:cNvPr>
          <p:cNvCxnSpPr/>
          <p:nvPr/>
        </p:nvCxnSpPr>
        <p:spPr>
          <a:xfrm>
            <a:off x="9601200" y="5676900"/>
            <a:ext cx="807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66AE8EA-FC17-DB15-5152-5AA1CDEB57E3}"/>
              </a:ext>
            </a:extLst>
          </p:cNvPr>
          <p:cNvSpPr txBox="1"/>
          <p:nvPr/>
        </p:nvSpPr>
        <p:spPr>
          <a:xfrm>
            <a:off x="9601200" y="59245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기준 모두 낮은 동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6B6FC9-A2E1-EFE5-1A12-AA497D8FF66D}"/>
              </a:ext>
            </a:extLst>
          </p:cNvPr>
          <p:cNvSpPr txBox="1"/>
          <p:nvPr/>
        </p:nvSpPr>
        <p:spPr>
          <a:xfrm>
            <a:off x="9601200" y="63627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배달 대비 방학 급식 비중 지수 하위 </a:t>
            </a:r>
            <a:r>
              <a:rPr lang="en-US" altLang="ko-KR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25% </a:t>
            </a:r>
            <a:r>
              <a:rPr lang="en-US" altLang="ko-KR" sz="15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</a:t>
            </a:r>
            <a:r>
              <a:rPr lang="en-US" altLang="ko-KR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</a:t>
            </a:r>
            <a:r>
              <a:rPr lang="ko-KR" altLang="en-US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 이용 중앙값 미만</a:t>
            </a:r>
          </a:p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 번호 </a:t>
            </a:r>
            <a:r>
              <a:rPr lang="en-US" altLang="ko-KR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16</a:t>
            </a:r>
            <a:r>
              <a:rPr lang="ko-KR" altLang="en-US" sz="15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 판정표 번호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D5AC134-DFBF-0A23-BA96-4FADD0EEA07B}"/>
              </a:ext>
            </a:extLst>
          </p:cNvPr>
          <p:cNvCxnSpPr/>
          <p:nvPr/>
        </p:nvCxnSpPr>
        <p:spPr>
          <a:xfrm>
            <a:off x="9601200" y="7467600"/>
            <a:ext cx="807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F5407C7-20D5-22AA-EE97-1BDB3AE0DD54}"/>
              </a:ext>
            </a:extLst>
          </p:cNvPr>
          <p:cNvSpPr txBox="1"/>
          <p:nvPr/>
        </p:nvSpPr>
        <p:spPr>
          <a:xfrm>
            <a:off x="9601200" y="77152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번째 기준으로 거른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중 대표 예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E8E5E7-C09A-26EB-5CEA-0E52A0C38268}"/>
              </a:ext>
            </a:extLst>
          </p:cNvPr>
          <p:cNvSpPr txBox="1"/>
          <p:nvPr/>
        </p:nvSpPr>
        <p:spPr>
          <a:xfrm>
            <a:off x="9601200" y="80772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달서구 서부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신당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호산 등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):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배달 대비로만 낮음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직장 배달이 많은 곳으로 추정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b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수 대비로는 중앙값의 약 </a:t>
            </a:r>
            <a:r>
              <a:rPr lang="en-US" altLang="ko-KR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2.2</a:t>
            </a: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</a:t>
            </a:r>
          </a:p>
          <a:p>
            <a:pPr>
              <a:lnSpc>
                <a:spcPct val="140000"/>
              </a:lnSpc>
            </a:pPr>
            <a:r>
              <a:rPr lang="ko-KR" altLang="en-US" sz="14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 하나로만 골랐다면 우선 점검에 잘못 들어갔을 곳</a:t>
            </a:r>
          </a:p>
        </p:txBody>
      </p:sp>
    </p:spTree>
    <p:extLst>
      <p:ext uri="{BB962C8B-B14F-4D97-AF65-F5344CB8AC3E}">
        <p14:creationId xmlns:p14="http://schemas.microsoft.com/office/powerpoint/2010/main" val="4146573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E3D2999-A7DE-C473-BBB6-23DCE6CD4844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528A1E-DA44-643C-8697-27EB4A4C683D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EBC91-A8AB-A532-CE39-AD19399C52A6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9AE64-8FD0-37C6-6789-AA3E46FA5DF8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870C5-73D5-C038-E6B4-858DBA2AE1D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5BD4EA-368D-2555-144C-7141D7B0FD28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70E6F-CEC8-9AC7-A4A0-7C2707F8E22A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0AC0B-AFEE-7CBE-69EA-F715E86F9A9D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7ED2E-59E2-948D-F83B-66B7F9290D54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4CCC-B612-E9BD-CDB5-230ACBA527AA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47745-FEB4-2E38-26D0-B1AD8FBA0D6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32D5D-AA2D-79B8-16CF-FF9282BF68A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9E5BC8-BD30-EEC4-9913-62D42070FBB2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우선 점검 선정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2E6D3-AED8-D865-6BDD-6D24914728A5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우선 점검 동네는 일시적으로 낮은 곳이 아님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대부분 두 방학 연속 하위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87A91A-B94D-7D88-9E34-374C5382BB53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9B9446-9A48-8BB8-3CA4-755551C7C27D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14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C81D70-923E-B502-FB45-8775362E73C3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3·4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반기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앞 반기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2023-08·2024-01·02 /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뒤 반기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2024-08·2025-01·02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E0DB3D2-4B52-0E21-F3CF-DFA98AC49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985436"/>
              </p:ext>
            </p:extLst>
          </p:nvPr>
        </p:nvGraphicFramePr>
        <p:xfrm>
          <a:off x="3314700" y="2247900"/>
          <a:ext cx="8572500" cy="6153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667647804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995701878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선정 단계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0869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198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가게가 있는 동네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5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04568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181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 결제가 있어 비교할 수 있는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39657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37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급식 비중 하위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25% +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등록 가게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이상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26678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17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아이 수로 봐도 적은 곳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772048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점검 후 남은 곳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5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15626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4</a:t>
                      </a:r>
                      <a:endParaRPr lang="ko-KR" altLang="en-US" sz="3000" b="0">
                        <a:solidFill>
                          <a:srgbClr val="E63946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점검 후 개선이 필요한 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89411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7E79E4F-782B-65BF-7F5D-1593957800BF}"/>
              </a:ext>
            </a:extLst>
          </p:cNvPr>
          <p:cNvSpPr txBox="1"/>
          <p:nvPr/>
        </p:nvSpPr>
        <p:spPr>
          <a:xfrm>
            <a:off x="3314700" y="86106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분모를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동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시기별 일반 결제로 바꿔 다시 계산하니 북구 읍내동이 들어오고 화원읍 설화리가 빠짐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94F8378-FC7B-9FBA-E436-AEB9199BE144}"/>
              </a:ext>
            </a:extLst>
          </p:cNvPr>
          <p:cNvCxnSpPr/>
          <p:nvPr/>
        </p:nvCxnSpPr>
        <p:spPr>
          <a:xfrm>
            <a:off x="12268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65C19F-64AE-77F6-E25C-8BCE0FEEB4B8}"/>
              </a:ext>
            </a:extLst>
          </p:cNvPr>
          <p:cNvSpPr txBox="1"/>
          <p:nvPr/>
        </p:nvSpPr>
        <p:spPr>
          <a:xfrm>
            <a:off x="12649200" y="22479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0.785</a:t>
            </a:r>
            <a:endParaRPr lang="ko-KR" altLang="en-US" sz="42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61A227-EB2B-C771-5B71-F68ABDBAC311}"/>
              </a:ext>
            </a:extLst>
          </p:cNvPr>
          <p:cNvSpPr txBox="1"/>
          <p:nvPr/>
        </p:nvSpPr>
        <p:spPr>
          <a:xfrm>
            <a:off x="12649200" y="29260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반기 동 순위 상관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A65DF2-E712-FAD4-8B57-1B5005134718}"/>
              </a:ext>
            </a:extLst>
          </p:cNvPr>
          <p:cNvSpPr txBox="1"/>
          <p:nvPr/>
        </p:nvSpPr>
        <p:spPr>
          <a:xfrm>
            <a:off x="12649200" y="32499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급식 비중 지수 순위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156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 동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등록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이상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C8AF88A-311C-DAEF-A067-826480DDA496}"/>
              </a:ext>
            </a:extLst>
          </p:cNvPr>
          <p:cNvCxnSpPr/>
          <p:nvPr/>
        </p:nvCxnSpPr>
        <p:spPr>
          <a:xfrm>
            <a:off x="12649200" y="4572000"/>
            <a:ext cx="5029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A56D4B-DE4B-5566-ADB1-563DD30510FB}"/>
              </a:ext>
            </a:extLst>
          </p:cNvPr>
          <p:cNvSpPr txBox="1"/>
          <p:nvPr/>
        </p:nvSpPr>
        <p:spPr>
          <a:xfrm>
            <a:off x="12649200" y="474345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13 / 17</a:t>
            </a:r>
            <a:endParaRPr lang="ko-KR" altLang="en-US" sz="42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CD6112-7759-E445-C6F6-1EBE4D63994E}"/>
              </a:ext>
            </a:extLst>
          </p:cNvPr>
          <p:cNvSpPr txBox="1"/>
          <p:nvPr/>
        </p:nvSpPr>
        <p:spPr>
          <a:xfrm>
            <a:off x="12649200" y="54216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중 두 반기 모두 하위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25%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11A66E-2CE5-FD14-6B8A-436996616A25}"/>
              </a:ext>
            </a:extLst>
          </p:cNvPr>
          <p:cNvSpPr txBox="1"/>
          <p:nvPr/>
        </p:nvSpPr>
        <p:spPr>
          <a:xfrm>
            <a:off x="12649200" y="57454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덜 쓰는 곳은 일시적이지 않음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347A6C9-05FF-4F5B-2636-B65F91610576}"/>
              </a:ext>
            </a:extLst>
          </p:cNvPr>
          <p:cNvCxnSpPr/>
          <p:nvPr/>
        </p:nvCxnSpPr>
        <p:spPr>
          <a:xfrm>
            <a:off x="12649200" y="7067550"/>
            <a:ext cx="5029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2317E0-3EFE-AE8F-1C1E-E2AD0556F3FA}"/>
              </a:ext>
            </a:extLst>
          </p:cNvPr>
          <p:cNvSpPr txBox="1"/>
          <p:nvPr/>
        </p:nvSpPr>
        <p:spPr>
          <a:xfrm>
            <a:off x="12649200" y="72390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 / 4</a:t>
            </a:r>
            <a:endParaRPr lang="ko-KR" altLang="en-US" sz="420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2E215A-D266-54E1-5037-69C05F793D2C}"/>
              </a:ext>
            </a:extLst>
          </p:cNvPr>
          <p:cNvSpPr txBox="1"/>
          <p:nvPr/>
        </p:nvSpPr>
        <p:spPr>
          <a:xfrm>
            <a:off x="12649200" y="79171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동 모두 연속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F68FAB-4AB2-DE4F-705A-2C32C72775B9}"/>
              </a:ext>
            </a:extLst>
          </p:cNvPr>
          <p:cNvSpPr txBox="1"/>
          <p:nvPr/>
        </p:nvSpPr>
        <p:spPr>
          <a:xfrm>
            <a:off x="12649200" y="82410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대상 선정 근거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(22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581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F39DC72-708C-9282-4431-04D4AD722F88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59B4E7A-F856-A381-392D-6D8D0FAC14A2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2A82C-14B0-D888-4755-66B6B7C2524A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AD64B-19AA-FEA0-1238-880C8C0EEC6C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A7D5A-A83F-9124-96A9-7598C68DFF1C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6EC98A-4714-7DBD-4536-206BC1994D08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22AC7-E205-B0F9-3D3F-10D93ADDE0D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CFC6D-53EB-DDC0-DE51-D58F35A1D006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9A94E2-02D9-F720-498B-44A9CDF43E77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DFD40-9320-C3CB-709D-9CBA1DC7501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D1ECE-2D91-0370-FBBF-7533164A041C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C2286-9426-60B6-A66B-8F611C06B44B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A1498-6BC8-9BAB-C771-6800C5C56EA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공급 점검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48D2D-A495-71FD-B2C9-9425C0CAB1C9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 주문 가게가 이미 거의 모든 아이에게 닿아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가게를 더 모아도 효과 없음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D722E38-5761-50E7-DEC4-1209E78FF2F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5AEAED1-CAD9-EEA5-755E-75A214410F8E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E827B8-95D8-011A-3089-4302582B5591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점검 코드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80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266,222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71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후보 법정동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290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가정 아래 계산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29642-FCBE-CFF6-1579-BC312902A146}"/>
              </a:ext>
            </a:extLst>
          </p:cNvPr>
          <p:cNvSpPr txBox="1"/>
          <p:nvPr/>
        </p:nvSpPr>
        <p:spPr>
          <a:xfrm>
            <a:off x="3314700" y="2247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가게가 닿는 아이 비율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04F4C1-1458-707C-7177-9169443B06A4}"/>
              </a:ext>
            </a:extLst>
          </p:cNvPr>
          <p:cNvSpPr txBox="1"/>
          <p:nvPr/>
        </p:nvSpPr>
        <p:spPr>
          <a:xfrm>
            <a:off x="3314700" y="2628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78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99.9%</a:t>
            </a:r>
            <a:endParaRPr lang="ko-KR" altLang="en-US" sz="78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06ABDD-C6C3-5FDA-CF1C-8730F0CEA46F}"/>
              </a:ext>
            </a:extLst>
          </p:cNvPr>
          <p:cNvSpPr txBox="1"/>
          <p:nvPr/>
        </p:nvSpPr>
        <p:spPr>
          <a:xfrm>
            <a:off x="3314700" y="38862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점검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(MCLP)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방학에 실제 급식 주문을 받은 가게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맞닿은 동까지 닿음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KCB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소득으로 필요 반영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문턱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1~50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모두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0.999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E73E1-B211-E5EF-A362-C5F5C4D8B18F}"/>
              </a:ext>
            </a:extLst>
          </p:cNvPr>
          <p:cNvSpPr txBox="1"/>
          <p:nvPr/>
        </p:nvSpPr>
        <p:spPr>
          <a:xfrm>
            <a:off x="3314700" y="501015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가장 빡빡한 설정에서도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786DC50-CB32-B0DC-443F-18182317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984841"/>
              </p:ext>
            </p:extLst>
          </p:nvPr>
        </p:nvGraphicFramePr>
        <p:xfrm>
          <a:off x="3314700" y="5410200"/>
          <a:ext cx="4762500" cy="2705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10134959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380507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닿는 범위 </a:t>
                      </a:r>
                      <a:r>
                        <a:rPr lang="en-US" altLang="ko-KR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문턱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닿는 비율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99063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맞닿은 동까지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1~50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99.9%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6084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99.9%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23971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20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98.5%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129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89.3%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185559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B7BD5AE-9FB2-841F-FB01-E04A5E72A47F}"/>
              </a:ext>
            </a:extLst>
          </p:cNvPr>
          <p:cNvCxnSpPr/>
          <p:nvPr/>
        </p:nvCxnSpPr>
        <p:spPr>
          <a:xfrm>
            <a:off x="8362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80DC05-DEAA-7CF1-8041-21088CA7B8BE}"/>
              </a:ext>
            </a:extLst>
          </p:cNvPr>
          <p:cNvSpPr txBox="1"/>
          <p:nvPr/>
        </p:nvSpPr>
        <p:spPr>
          <a:xfrm>
            <a:off x="8648700" y="2247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가게는 있는데 주문이 없음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471A4-C10B-ED47-30CF-4A4A7339E15F}"/>
              </a:ext>
            </a:extLst>
          </p:cNvPr>
          <p:cNvSpPr txBox="1"/>
          <p:nvPr/>
        </p:nvSpPr>
        <p:spPr>
          <a:xfrm>
            <a:off x="8648700" y="2628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631</a:t>
            </a:r>
            <a:r>
              <a:rPr lang="ko-KR" altLang="en-US" sz="54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51FD37-A0C0-A731-2D93-87C2966CAEAC}"/>
              </a:ext>
            </a:extLst>
          </p:cNvPr>
          <p:cNvSpPr txBox="1"/>
          <p:nvPr/>
        </p:nvSpPr>
        <p:spPr>
          <a:xfrm>
            <a:off x="8648700" y="3543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 등록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영업 중인데 급식 결제가 없는 가게</a:t>
            </a:r>
          </a:p>
          <a:p>
            <a:pPr>
              <a:lnSpc>
                <a:spcPct val="135000"/>
              </a:lnSpc>
            </a:pP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(3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영업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서비스 유지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E0DB5A-E064-AC26-A453-22A20DC9199B}"/>
              </a:ext>
            </a:extLst>
          </p:cNvPr>
          <p:cNvSpPr txBox="1"/>
          <p:nvPr/>
        </p:nvSpPr>
        <p:spPr>
          <a:xfrm>
            <a:off x="8648700" y="44386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부족이 아니라 이용 쪽 문제</a:t>
            </a:r>
          </a:p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가게 수 대신 이유 판정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(16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과</a:t>
            </a:r>
          </a:p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0FD88DD-64B7-C6DD-6234-97262ACF4E4F}"/>
              </a:ext>
            </a:extLst>
          </p:cNvPr>
          <p:cNvCxnSpPr/>
          <p:nvPr/>
        </p:nvCxnSpPr>
        <p:spPr>
          <a:xfrm>
            <a:off x="13125450" y="2247900"/>
            <a:ext cx="0" cy="4191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DADF3C-BDA1-D187-43E6-A1C7A459FFF3}"/>
              </a:ext>
            </a:extLst>
          </p:cNvPr>
          <p:cNvSpPr txBox="1"/>
          <p:nvPr/>
        </p:nvSpPr>
        <p:spPr>
          <a:xfrm>
            <a:off x="13411200" y="22479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외곽 예외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FA169-BFFE-FCC2-EBCE-9290384484BA}"/>
              </a:ext>
            </a:extLst>
          </p:cNvPr>
          <p:cNvSpPr txBox="1"/>
          <p:nvPr/>
        </p:nvSpPr>
        <p:spPr>
          <a:xfrm>
            <a:off x="13411200" y="26098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점검 후보로 유지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D-018)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2B131A-99F3-CEE6-69E7-CBDACFE224FB}"/>
              </a:ext>
            </a:extLst>
          </p:cNvPr>
          <p:cNvSpPr txBox="1"/>
          <p:nvPr/>
        </p:nvSpPr>
        <p:spPr>
          <a:xfrm>
            <a:off x="13411200" y="30480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가창면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하빈면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공산동</a:t>
            </a:r>
          </a:p>
          <a:p>
            <a:pPr>
              <a:lnSpc>
                <a:spcPct val="14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안심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검단동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파동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5D194-DB7E-AA8A-88A1-E39262D851ED}"/>
              </a:ext>
            </a:extLst>
          </p:cNvPr>
          <p:cNvSpPr txBox="1"/>
          <p:nvPr/>
        </p:nvSpPr>
        <p:spPr>
          <a:xfrm>
            <a:off x="13411200" y="40576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실제 주문받는 가게 기준 공급과 주문 흐름 자료가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결함으로 일부만 반출 → 공급형 해결방안 판정 보류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다음 회차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1A0692C-91A0-FF6A-CDD0-F680BFFB4064}"/>
              </a:ext>
            </a:extLst>
          </p:cNvPr>
          <p:cNvCxnSpPr/>
          <p:nvPr/>
        </p:nvCxnSpPr>
        <p:spPr>
          <a:xfrm>
            <a:off x="8648700" y="6724650"/>
            <a:ext cx="9029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AC7BC0F-44E3-086B-D2C9-9CE35C945613}"/>
              </a:ext>
            </a:extLst>
          </p:cNvPr>
          <p:cNvSpPr txBox="1"/>
          <p:nvPr/>
        </p:nvSpPr>
        <p:spPr>
          <a:xfrm>
            <a:off x="8648700" y="69723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 · 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가정 아래 계산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C16370-B25D-CA2D-1508-E0C827700D9F}"/>
              </a:ext>
            </a:extLst>
          </p:cNvPr>
          <p:cNvSpPr txBox="1"/>
          <p:nvPr/>
        </p:nvSpPr>
        <p:spPr>
          <a:xfrm>
            <a:off x="8648700" y="7315200"/>
            <a:ext cx="902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모집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활성화 → 방학 월 이용자 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A9E76E-3890-42A9-C719-2017DFCEB955}"/>
              </a:ext>
            </a:extLst>
          </p:cNvPr>
          <p:cNvSpPr txBox="1"/>
          <p:nvPr/>
        </p:nvSpPr>
        <p:spPr>
          <a:xfrm>
            <a:off x="8648700" y="7772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8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+0</a:t>
            </a:r>
            <a:endParaRPr lang="ko-KR" altLang="en-US" sz="585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55EE05-E624-F27F-DAD3-D3BEFECFB63A}"/>
              </a:ext>
            </a:extLst>
          </p:cNvPr>
          <p:cNvSpPr txBox="1"/>
          <p:nvPr/>
        </p:nvSpPr>
        <p:spPr>
          <a:xfrm>
            <a:off x="10744200" y="79629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가장 후한 가정에서도 최대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+35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방학 월평균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3,785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대비</a:t>
            </a:r>
          </a:p>
        </p:txBody>
      </p:sp>
    </p:spTree>
    <p:extLst>
      <p:ext uri="{BB962C8B-B14F-4D97-AF65-F5344CB8AC3E}">
        <p14:creationId xmlns:p14="http://schemas.microsoft.com/office/powerpoint/2010/main" val="2219997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22B6219-A95A-4CBA-4D2D-1A5D3F26217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0E905A-A782-EC4B-8343-B693DD10F59E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79F14-D260-23B9-FA04-D7C5B33FC1A4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F69E4-AE1F-2DB2-7C04-543174D242A1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B8341-7848-95F9-C15D-DCFF0F21487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D66EB3-7E7D-0343-9FE2-0E4D846172CE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A4F97-046F-1FE2-F927-7F5D1FDDD1A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52FBE-7F0E-A694-C993-44F21E40750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95086-D1EF-2844-22B4-AD481290D648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4FBD6-D13A-8EB1-FA96-C1168D3C96E3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75C53-4FF7-884A-12BB-7B2701F26937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34B32-3641-794D-44CA-F163860D68BE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54CDF-5102-AD36-7129-FA8C95D785A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판정표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2DF0D9-8FA3-68CA-1A3C-2DDCBCB859CF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옆 동네 이용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필요 적음을 먼저 빼고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남은 곳만 해결방안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현장 확인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015EB2E-FB25-1224-634C-210F42CC07A7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ADE7A22-C7FB-320D-0778-C25BE3F26F79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16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2F0E8-56C3-3E7D-95ED-50DA9834A976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● 해당  ○ 아님 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?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판단 불가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다른 경로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안내는 동별 자료 없음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가게는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결함으로 판단 불가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규칙은 반출 전 고정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(D-019)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7775101-747B-5F1A-75C5-2768F3EE3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05932"/>
              </p:ext>
            </p:extLst>
          </p:nvPr>
        </p:nvGraphicFramePr>
        <p:xfrm>
          <a:off x="3314700" y="2209800"/>
          <a:ext cx="9867900" cy="6896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53120061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76777362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093815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9267684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26056482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0743096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14183038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67380731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11811675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325673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9880417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번호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경로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안내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228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논공읍 금포리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7758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화원읍 본리리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1897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검단동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2040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학정동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55932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화원읍 명곡리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05955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읍내동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0137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침산동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563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8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구지면 화산리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02864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옥포읍 본리리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1679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지묘동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6097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11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서구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원대동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014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12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서구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이현동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8625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13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다사읍 매곡리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871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14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다사읍 서재리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1977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15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다사읍 죽곡리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117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칠성동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8644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수성구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노변동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523233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4570F5F-4F08-2805-0F58-F1B9FC14AC3F}"/>
              </a:ext>
            </a:extLst>
          </p:cNvPr>
          <p:cNvCxnSpPr/>
          <p:nvPr/>
        </p:nvCxnSpPr>
        <p:spPr>
          <a:xfrm>
            <a:off x="134683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7596CF3-9330-9C3F-1ADB-3758B5FFE3F4}"/>
              </a:ext>
            </a:extLst>
          </p:cNvPr>
          <p:cNvSpPr txBox="1"/>
          <p:nvPr/>
        </p:nvSpPr>
        <p:spPr>
          <a:xfrm>
            <a:off x="13754100" y="22479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사각지대 아님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5A855-9E90-12E2-6B13-9C611C59302E}"/>
              </a:ext>
            </a:extLst>
          </p:cNvPr>
          <p:cNvSpPr txBox="1"/>
          <p:nvPr/>
        </p:nvSpPr>
        <p:spPr>
          <a:xfrm>
            <a:off x="13754100" y="26098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10</a:t>
            </a:r>
            <a:r>
              <a:rPr lang="ko-KR" altLang="en-US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F7A3D-62FD-1A19-0EE3-1970E284095A}"/>
              </a:ext>
            </a:extLst>
          </p:cNvPr>
          <p:cNvSpPr txBox="1"/>
          <p:nvPr/>
        </p:nvSpPr>
        <p:spPr>
          <a:xfrm>
            <a:off x="13754100" y="33528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옆 동네 가게 이용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 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필요 가구 적음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조치 없이 다음 회차 관찰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AF74755-6513-A766-23DD-FB63C52B091B}"/>
              </a:ext>
            </a:extLst>
          </p:cNvPr>
          <p:cNvCxnSpPr/>
          <p:nvPr/>
        </p:nvCxnSpPr>
        <p:spPr>
          <a:xfrm>
            <a:off x="13754100" y="4533900"/>
            <a:ext cx="39243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1370B30-289C-20D7-93D2-E8A959988692}"/>
              </a:ext>
            </a:extLst>
          </p:cNvPr>
          <p:cNvSpPr txBox="1"/>
          <p:nvPr/>
        </p:nvSpPr>
        <p:spPr>
          <a:xfrm>
            <a:off x="13754100" y="47434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1DAC5-0EE9-6B51-EEF3-00EA4D651B71}"/>
              </a:ext>
            </a:extLst>
          </p:cNvPr>
          <p:cNvSpPr txBox="1"/>
          <p:nvPr/>
        </p:nvSpPr>
        <p:spPr>
          <a:xfrm>
            <a:off x="13754100" y="51054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</a:t>
            </a:r>
            <a:r>
              <a:rPr lang="ko-KR" altLang="en-US" sz="42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B288B6-A945-2C49-125F-54DD4BB02E07}"/>
              </a:ext>
            </a:extLst>
          </p:cNvPr>
          <p:cNvSpPr txBox="1"/>
          <p:nvPr/>
        </p:nvSpPr>
        <p:spPr>
          <a:xfrm>
            <a:off x="13754100" y="58483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자체가 적거나 오래 걸림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배달팁 아님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정기 배달편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9F87B6E-6554-E513-80C3-A93B5BB2F694}"/>
              </a:ext>
            </a:extLst>
          </p:cNvPr>
          <p:cNvCxnSpPr/>
          <p:nvPr/>
        </p:nvCxnSpPr>
        <p:spPr>
          <a:xfrm>
            <a:off x="13754100" y="7029450"/>
            <a:ext cx="39243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3ACE9E8-3A85-6B47-ED27-9E2CB73B78DD}"/>
              </a:ext>
            </a:extLst>
          </p:cNvPr>
          <p:cNvSpPr txBox="1"/>
          <p:nvPr/>
        </p:nvSpPr>
        <p:spPr>
          <a:xfrm>
            <a:off x="13754100" y="72390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필요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F41A2D-DED3-AB56-A474-56CB7E26382A}"/>
              </a:ext>
            </a:extLst>
          </p:cNvPr>
          <p:cNvSpPr txBox="1"/>
          <p:nvPr/>
        </p:nvSpPr>
        <p:spPr>
          <a:xfrm>
            <a:off x="13754100" y="76009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A09C9B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3</a:t>
            </a:r>
            <a:r>
              <a:rPr lang="ko-KR" altLang="en-US" sz="4200">
                <a:solidFill>
                  <a:srgbClr val="A09C9B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A18F9C-2E3E-B5EE-ED7C-7AA7B7AB6440}"/>
              </a:ext>
            </a:extLst>
          </p:cNvPr>
          <p:cNvSpPr txBox="1"/>
          <p:nvPr/>
        </p:nvSpPr>
        <p:spPr>
          <a:xfrm>
            <a:off x="13754100" y="83439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이유 판정 불가 항목 남음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구청 현장 확인 후 다음 회차</a:t>
            </a:r>
          </a:p>
        </p:txBody>
      </p:sp>
    </p:spTree>
    <p:extLst>
      <p:ext uri="{BB962C8B-B14F-4D97-AF65-F5344CB8AC3E}">
        <p14:creationId xmlns:p14="http://schemas.microsoft.com/office/powerpoint/2010/main" val="23034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7F8981E-2F49-8DD3-1BF1-3FFD165B9A7F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F849F8-4FD9-DDB7-8090-EA2EDB2990A0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A860C-7AC7-1A96-777A-B0646DB4015D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1491E-A25D-3ADB-F1BA-F41EA6F04B2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EDB1E-9E30-41F8-05A6-0FA34DD03F2C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0E74A-31FC-5584-0D56-70ACCFF384C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B4680C-288E-17AF-7F50-C03E0C325FA9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9A90C-034D-9DDE-FF98-5445B7D9552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23194-2496-6393-2405-F6750DEE4CC9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8151D-7BC0-089B-38B7-7C9C7FD92B64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691AFA-5B0F-36A4-6A34-7495755A7A5A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110D4-B314-F66A-9CF0-A361D5BB4F84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3F9496-D27C-65EB-FCC0-98338737B83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앱 점검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9FCBED-8829-B102-46FD-058C0C263E66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급식카드 최소주문 면제 가게는 있지만 앱 목록에는 표시 안 됨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1815C38-773F-36E1-D786-3488F1897714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0B57BD-E03C-5ECC-257A-91FFF38D8FFA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97A81-ACEA-5421-5938-185D7F797A79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 기록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2026-10-15 17:26~17:53,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상세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18:01~20:58) · 1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 기준 개정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확인 후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9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14AFA0-6C18-7EF8-F0BC-70F1C0ED1129}"/>
              </a:ext>
            </a:extLst>
          </p:cNvPr>
          <p:cNvSpPr txBox="1"/>
          <p:nvPr/>
        </p:nvSpPr>
        <p:spPr>
          <a:xfrm>
            <a:off x="3314700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동별 실제 주소 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8A9D80-9512-BB52-CF0E-F1CE4C6363ED}"/>
              </a:ext>
            </a:extLst>
          </p:cNvPr>
          <p:cNvSpPr txBox="1"/>
          <p:nvPr/>
        </p:nvSpPr>
        <p:spPr>
          <a:xfrm>
            <a:off x="6905625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‘1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인분’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가까운 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B76A0-E18E-7E3C-75E3-1AD8DC405A93}"/>
              </a:ext>
            </a:extLst>
          </p:cNvPr>
          <p:cNvSpPr txBox="1"/>
          <p:nvPr/>
        </p:nvSpPr>
        <p:spPr>
          <a:xfrm>
            <a:off x="10496550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상위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최소주문 기록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4D2A4-F5AB-E3AC-559E-E1BF1BD4E405}"/>
              </a:ext>
            </a:extLst>
          </p:cNvPr>
          <p:cNvSpPr txBox="1"/>
          <p:nvPr/>
        </p:nvSpPr>
        <p:spPr>
          <a:xfrm>
            <a:off x="14087475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상세 화면 면제 문구 확인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6EDDEFA-19C6-3EA5-92B7-5E3DBB47F8A8}"/>
              </a:ext>
            </a:extLst>
          </p:cNvPr>
          <p:cNvCxnSpPr/>
          <p:nvPr/>
        </p:nvCxnSpPr>
        <p:spPr>
          <a:xfrm>
            <a:off x="3314700" y="28765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F91EB62-6602-0D0F-B665-5946F952236C}"/>
              </a:ext>
            </a:extLst>
          </p:cNvPr>
          <p:cNvSpPr txBox="1"/>
          <p:nvPr/>
        </p:nvSpPr>
        <p:spPr>
          <a:xfrm>
            <a:off x="3314700" y="31623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64</a:t>
            </a:r>
            <a:r>
              <a:rPr lang="ko-KR" altLang="en-US" sz="42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곳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695ED-7CF2-469C-850A-DCDC74718736}"/>
              </a:ext>
            </a:extLst>
          </p:cNvPr>
          <p:cNvSpPr txBox="1"/>
          <p:nvPr/>
        </p:nvSpPr>
        <p:spPr>
          <a:xfrm>
            <a:off x="3314700" y="384048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기록한 가게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B0D59F-95CE-6872-92A6-85A975ABCE83}"/>
              </a:ext>
            </a:extLst>
          </p:cNvPr>
          <p:cNvSpPr txBox="1"/>
          <p:nvPr/>
        </p:nvSpPr>
        <p:spPr>
          <a:xfrm>
            <a:off x="3314700" y="416433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대조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주소의</a:t>
            </a:r>
            <a:b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‘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인분’ 목록 상위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2026-10-15</a:t>
            </a:r>
            <a:endParaRPr lang="ko-KR" altLang="en-US" sz="127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C40C3E2-BD68-BDE0-206E-A3D3A7F175E5}"/>
              </a:ext>
            </a:extLst>
          </p:cNvPr>
          <p:cNvCxnSpPr/>
          <p:nvPr/>
        </p:nvCxnSpPr>
        <p:spPr>
          <a:xfrm>
            <a:off x="6838950" y="3162300"/>
            <a:ext cx="0" cy="2286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B4055FD-B9B8-7BB6-8F8E-3B1765DDE06F}"/>
              </a:ext>
            </a:extLst>
          </p:cNvPr>
          <p:cNvSpPr txBox="1"/>
          <p:nvPr/>
        </p:nvSpPr>
        <p:spPr>
          <a:xfrm>
            <a:off x="7124700" y="31623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5 / 13</a:t>
            </a:r>
            <a:endParaRPr lang="ko-KR" altLang="en-US" sz="420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3591F-335E-060D-6B5A-3B5463350892}"/>
              </a:ext>
            </a:extLst>
          </p:cNvPr>
          <p:cNvSpPr txBox="1"/>
          <p:nvPr/>
        </p:nvSpPr>
        <p:spPr>
          <a:xfrm>
            <a:off x="7124700" y="384048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상세 확인 가게 중 면제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DE2A2E-2E09-C858-7FCD-3058D7BE9A08}"/>
              </a:ext>
            </a:extLst>
          </p:cNvPr>
          <p:cNvSpPr txBox="1"/>
          <p:nvPr/>
        </p:nvSpPr>
        <p:spPr>
          <a:xfrm>
            <a:off x="7124700" y="416433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‘최소주문 미적용’ 문구 확인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BC1B963-AAE5-6083-755F-48328BF4817D}"/>
              </a:ext>
            </a:extLst>
          </p:cNvPr>
          <p:cNvCxnSpPr/>
          <p:nvPr/>
        </p:nvCxnSpPr>
        <p:spPr>
          <a:xfrm>
            <a:off x="10648950" y="3162300"/>
            <a:ext cx="0" cy="2286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E160D18-48A4-7DCE-A835-5B618EBBC51E}"/>
              </a:ext>
            </a:extLst>
          </p:cNvPr>
          <p:cNvSpPr txBox="1"/>
          <p:nvPr/>
        </p:nvSpPr>
        <p:spPr>
          <a:xfrm>
            <a:off x="10934700" y="31623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 표시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없음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A96D6-CB04-345F-3830-C574E9BAEC76}"/>
              </a:ext>
            </a:extLst>
          </p:cNvPr>
          <p:cNvSpPr txBox="1"/>
          <p:nvPr/>
        </p:nvSpPr>
        <p:spPr>
          <a:xfrm>
            <a:off x="10934700" y="35052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면제 여부는 가게 상세 화면 문구로만 확인 가능</a:t>
            </a:r>
          </a:p>
          <a:p>
            <a:pPr>
              <a:lnSpc>
                <a:spcPct val="135000"/>
              </a:lnSpc>
            </a:pP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 목록에는 최소주문 금액만 노출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80350D-3552-04C1-3DA3-1EDC5D181646}"/>
              </a:ext>
            </a:extLst>
          </p:cNvPr>
          <p:cNvSpPr txBox="1"/>
          <p:nvPr/>
        </p:nvSpPr>
        <p:spPr>
          <a:xfrm>
            <a:off x="10934700" y="45720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해결방안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목록에 ‘급식카드 최소주문 면제’ 표시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전역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비용이 작고 해가 없어 시범 없이 시행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4C4E53A-1699-7DB1-2071-D5A64A3B8780}"/>
              </a:ext>
            </a:extLst>
          </p:cNvPr>
          <p:cNvCxnSpPr/>
          <p:nvPr/>
        </p:nvCxnSpPr>
        <p:spPr>
          <a:xfrm>
            <a:off x="3314700" y="58293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9FF368-827F-1AC5-6E77-4CB96E9EAFA0}"/>
              </a:ext>
            </a:extLst>
          </p:cNvPr>
          <p:cNvSpPr txBox="1"/>
          <p:nvPr/>
        </p:nvSpPr>
        <p:spPr>
          <a:xfrm>
            <a:off x="3314700" y="61150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곳의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 판정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673F5B-84AD-9826-8683-931804A2811A}"/>
              </a:ext>
            </a:extLst>
          </p:cNvPr>
          <p:cNvSpPr txBox="1"/>
          <p:nvPr/>
        </p:nvSpPr>
        <p:spPr>
          <a:xfrm>
            <a:off x="3314700" y="65341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해당 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en-US" altLang="ko-KR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·  </a:t>
            </a:r>
            <a:r>
              <a:rPr lang="ko-KR" altLang="en-US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아님 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en-US" altLang="ko-KR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·  </a:t>
            </a:r>
            <a:r>
              <a:rPr lang="ko-KR" altLang="en-US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판단 불가 </a:t>
            </a:r>
            <a:r>
              <a:rPr lang="en-US" altLang="ko-KR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</a:t>
            </a:r>
            <a:endParaRPr lang="ko-KR" altLang="en-US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68F532-74A6-3562-66BD-0FB9EC410E06}"/>
              </a:ext>
            </a:extLst>
          </p:cNvPr>
          <p:cNvSpPr txBox="1"/>
          <p:nvPr/>
        </p:nvSpPr>
        <p:spPr>
          <a:xfrm>
            <a:off x="3314700" y="70675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판단 불가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 =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면제 여부 미확인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 +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 안 한 동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해당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옥포 본리리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지묘동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은 옆 동네 이용으로 최종 제외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3F1048-1DBA-C27F-05ED-E8AE0E955238}"/>
              </a:ext>
            </a:extLst>
          </p:cNvPr>
          <p:cNvSpPr txBox="1"/>
          <p:nvPr/>
        </p:nvSpPr>
        <p:spPr>
          <a:xfrm>
            <a:off x="3314700" y="77914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카드 한 끼 값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만으로 주문할 수 있는가</a:t>
            </a:r>
            <a:b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 끼만 신청했거나 돈을 더 낼 수 없는 아이 기준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(18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A1690F7-B0C7-EB37-E628-ADD07C185D92}"/>
              </a:ext>
            </a:extLst>
          </p:cNvPr>
          <p:cNvCxnSpPr/>
          <p:nvPr/>
        </p:nvCxnSpPr>
        <p:spPr>
          <a:xfrm>
            <a:off x="9315450" y="61150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51716EB-1A54-B35B-461F-F86EF3932185}"/>
              </a:ext>
            </a:extLst>
          </p:cNvPr>
          <p:cNvSpPr txBox="1"/>
          <p:nvPr/>
        </p:nvSpPr>
        <p:spPr>
          <a:xfrm>
            <a:off x="9601200" y="6115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지역 공통 장벽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5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4C3DC6-2A80-BC69-9EA8-33748CE6673D}"/>
              </a:ext>
            </a:extLst>
          </p:cNvPr>
          <p:cNvSpPr txBox="1"/>
          <p:nvPr/>
        </p:nvSpPr>
        <p:spPr>
          <a:xfrm>
            <a:off x="9601200" y="6457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화원 명곡리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본리리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옥포 본리리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 칠성동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침산동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AD90E0-D04F-9BA1-B102-B4662F235DD3}"/>
              </a:ext>
            </a:extLst>
          </p:cNvPr>
          <p:cNvSpPr txBox="1"/>
          <p:nvPr/>
        </p:nvSpPr>
        <p:spPr>
          <a:xfrm>
            <a:off x="9601200" y="7219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같은 구 대조 동도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가능 가게가 똑같이 적음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동이 아니라 구 단위 가격 장벽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F05129C-1644-A1CF-5B24-0BC5F8D7E8B6}"/>
              </a:ext>
            </a:extLst>
          </p:cNvPr>
          <p:cNvCxnSpPr/>
          <p:nvPr/>
        </p:nvCxnSpPr>
        <p:spPr>
          <a:xfrm>
            <a:off x="13982700" y="61150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F19B2B4-F580-E757-D710-08C106AAAF01}"/>
              </a:ext>
            </a:extLst>
          </p:cNvPr>
          <p:cNvSpPr txBox="1"/>
          <p:nvPr/>
        </p:nvSpPr>
        <p:spPr>
          <a:xfrm>
            <a:off x="14268450" y="61150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 자체가 짧은 곳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AE847B-A597-5857-CC6A-F79667E287B2}"/>
              </a:ext>
            </a:extLst>
          </p:cNvPr>
          <p:cNvSpPr txBox="1"/>
          <p:nvPr/>
        </p:nvSpPr>
        <p:spPr>
          <a:xfrm>
            <a:off x="14268450" y="64579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동구 지묘동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옥포 본리리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E70649-D16B-6654-EF0B-A0952BA11514}"/>
              </a:ext>
            </a:extLst>
          </p:cNvPr>
          <p:cNvSpPr txBox="1"/>
          <p:nvPr/>
        </p:nvSpPr>
        <p:spPr>
          <a:xfrm>
            <a:off x="14268450" y="68770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주소 기준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 목록에 가게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곳뿐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집 근처보다 옆 동네에서 주문</a:t>
            </a:r>
          </a:p>
        </p:txBody>
      </p:sp>
    </p:spTree>
    <p:extLst>
      <p:ext uri="{BB962C8B-B14F-4D97-AF65-F5344CB8AC3E}">
        <p14:creationId xmlns:p14="http://schemas.microsoft.com/office/powerpoint/2010/main" val="2681808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DBB9D10-10B2-831F-E42B-A409B6C6FBB2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CFEE87-6458-B40D-B68F-778403A901A7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FFB8D-5F09-E745-6D00-F424D755D3FE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C4445-4FFB-1961-A18B-2A166D894460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0AD2F-B353-EB96-AC8A-65FD7B5A016D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C2029-F521-6673-1FEB-D337297984F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E80501-2FB3-B1D1-6541-E8EC2BC9D0F0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6637E-80B4-A10F-13B7-D9D9CAA5B40B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7956D-91D9-235F-BD60-061887DD3CC3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ABACF-FF3E-E2E1-DC2A-237F8CD787A1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A1DB3-9C0C-3967-BE0A-07341D289FA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A42ED1-C33E-CE26-066F-5EEC4713251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F57E0D-2873-E4D3-856E-D0D0AE117680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결제 금액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66F5F-5111-37F6-FD28-C944F32205D6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쓰는 아이는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1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끼 값에 막히지 않음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여러 끼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형제 카드를 합쳐 카드로 결제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02B49F-ACC1-3F1C-1FF1-F5FC9D306FE2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1BA02A-3FA6-4592-421D-628A1AB5FFC5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18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AE031-1AA1-AA45-B9B1-4F51F66071D1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하루 결제 금액표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원장 직접 집계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정상 파일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주문 합계 분포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3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한도는 신청한 끼니 수만큼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대구시청 복지과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529B0-65B2-2B40-617B-7E7ED724B338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중 하루 최대 카드 승인액별 이용자 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3AF39F-239D-56D6-BD6E-C85295A1B550}"/>
              </a:ext>
            </a:extLst>
          </p:cNvPr>
          <p:cNvSpPr txBox="1"/>
          <p:nvPr/>
        </p:nvSpPr>
        <p:spPr>
          <a:xfrm>
            <a:off x="3314700" y="2552700"/>
            <a:ext cx="895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방학에 결제한 이용자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6,223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금액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 승인액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본인이 더 낸 돈은 빠짐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C17CF98-67BF-3472-587E-3640AACA9287}"/>
              </a:ext>
            </a:extLst>
          </p:cNvPr>
          <p:cNvCxnSpPr/>
          <p:nvPr/>
        </p:nvCxnSpPr>
        <p:spPr>
          <a:xfrm>
            <a:off x="3886200" y="602615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F738435-89A7-8EB4-9504-41F27781DDD1}"/>
              </a:ext>
            </a:extLst>
          </p:cNvPr>
          <p:cNvSpPr txBox="1"/>
          <p:nvPr/>
        </p:nvSpPr>
        <p:spPr>
          <a:xfrm>
            <a:off x="3276600" y="591185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500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66D35E3-E912-2188-382A-BFBDC94CE5E6}"/>
              </a:ext>
            </a:extLst>
          </p:cNvPr>
          <p:cNvCxnSpPr/>
          <p:nvPr/>
        </p:nvCxnSpPr>
        <p:spPr>
          <a:xfrm>
            <a:off x="3886200" y="52324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A8249-5666-AF2D-478B-3ED7B45947C2}"/>
              </a:ext>
            </a:extLst>
          </p:cNvPr>
          <p:cNvSpPr txBox="1"/>
          <p:nvPr/>
        </p:nvSpPr>
        <p:spPr>
          <a:xfrm>
            <a:off x="3276600" y="511810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1,000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5AFF930-6094-D28A-388F-9591C9FB1277}"/>
              </a:ext>
            </a:extLst>
          </p:cNvPr>
          <p:cNvCxnSpPr/>
          <p:nvPr/>
        </p:nvCxnSpPr>
        <p:spPr>
          <a:xfrm>
            <a:off x="3886200" y="443865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831F4B-7D17-4F68-5787-E5DE2864B2EB}"/>
              </a:ext>
            </a:extLst>
          </p:cNvPr>
          <p:cNvSpPr txBox="1"/>
          <p:nvPr/>
        </p:nvSpPr>
        <p:spPr>
          <a:xfrm>
            <a:off x="3276600" y="432435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1,500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0B69919-C4F9-EAD6-660C-1D14DDC3DCE8}"/>
              </a:ext>
            </a:extLst>
          </p:cNvPr>
          <p:cNvCxnSpPr/>
          <p:nvPr/>
        </p:nvCxnSpPr>
        <p:spPr>
          <a:xfrm>
            <a:off x="3886200" y="36449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E4CA96-94B6-DE51-7A15-86996817BB3B}"/>
              </a:ext>
            </a:extLst>
          </p:cNvPr>
          <p:cNvSpPr txBox="1"/>
          <p:nvPr/>
        </p:nvSpPr>
        <p:spPr>
          <a:xfrm>
            <a:off x="3276600" y="353060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2,000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1F0B7C-F110-10C8-BD67-420A5150A312}"/>
              </a:ext>
            </a:extLst>
          </p:cNvPr>
          <p:cNvSpPr/>
          <p:nvPr/>
        </p:nvSpPr>
        <p:spPr>
          <a:xfrm>
            <a:off x="39624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397888-1331-D0A4-77F0-C42F2DAC7977}"/>
              </a:ext>
            </a:extLst>
          </p:cNvPr>
          <p:cNvSpPr txBox="1"/>
          <p:nvPr/>
        </p:nvSpPr>
        <p:spPr>
          <a:xfrm>
            <a:off x="38481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</a:t>
            </a:r>
            <a:endParaRPr lang="ko-KR" altLang="en-US" sz="10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951046-2FA3-65B1-FE31-132BBFE7732C}"/>
              </a:ext>
            </a:extLst>
          </p:cNvPr>
          <p:cNvSpPr txBox="1"/>
          <p:nvPr/>
        </p:nvSpPr>
        <p:spPr>
          <a:xfrm>
            <a:off x="38481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~8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A7DB776-0CE2-BC72-4454-B8F26F9DD194}"/>
              </a:ext>
            </a:extLst>
          </p:cNvPr>
          <p:cNvSpPr/>
          <p:nvPr/>
        </p:nvSpPr>
        <p:spPr>
          <a:xfrm>
            <a:off x="48006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7349AE-BC39-221C-04BF-73DAF505C7EB}"/>
              </a:ext>
            </a:extLst>
          </p:cNvPr>
          <p:cNvSpPr txBox="1"/>
          <p:nvPr/>
        </p:nvSpPr>
        <p:spPr>
          <a:xfrm>
            <a:off x="46863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endParaRPr lang="ko-KR" altLang="en-US" sz="10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D1DC5A-624A-1F40-CA99-E3453F2C0617}"/>
              </a:ext>
            </a:extLst>
          </p:cNvPr>
          <p:cNvSpPr txBox="1"/>
          <p:nvPr/>
        </p:nvSpPr>
        <p:spPr>
          <a:xfrm>
            <a:off x="46863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~9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AF79A0-F726-3A21-6E1C-B086CDA5FE94}"/>
              </a:ext>
            </a:extLst>
          </p:cNvPr>
          <p:cNvSpPr/>
          <p:nvPr/>
        </p:nvSpPr>
        <p:spPr>
          <a:xfrm>
            <a:off x="56388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D86B15-3F7A-6C82-6393-6F0BE47BF87F}"/>
              </a:ext>
            </a:extLst>
          </p:cNvPr>
          <p:cNvSpPr txBox="1"/>
          <p:nvPr/>
        </p:nvSpPr>
        <p:spPr>
          <a:xfrm>
            <a:off x="55245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</a:t>
            </a:r>
            <a:endParaRPr lang="ko-KR" altLang="en-US" sz="1050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BF3FEA-B60C-52BF-21E4-2C03F7995A9F}"/>
              </a:ext>
            </a:extLst>
          </p:cNvPr>
          <p:cNvSpPr txBox="1"/>
          <p:nvPr/>
        </p:nvSpPr>
        <p:spPr>
          <a:xfrm>
            <a:off x="55245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~1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3D2F04-896F-C4EB-8A18-67BDEF590C7B}"/>
              </a:ext>
            </a:extLst>
          </p:cNvPr>
          <p:cNvSpPr/>
          <p:nvPr/>
        </p:nvSpPr>
        <p:spPr>
          <a:xfrm>
            <a:off x="6477000" y="6648450"/>
            <a:ext cx="685800" cy="1714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79A49-F08F-0FF6-E125-89F5BB0FAB4D}"/>
              </a:ext>
            </a:extLst>
          </p:cNvPr>
          <p:cNvSpPr txBox="1"/>
          <p:nvPr/>
        </p:nvSpPr>
        <p:spPr>
          <a:xfrm>
            <a:off x="6362700" y="64008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108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C0133F-A80B-6BB8-793D-B7C605D4B405}"/>
              </a:ext>
            </a:extLst>
          </p:cNvPr>
          <p:cNvSpPr txBox="1"/>
          <p:nvPr/>
        </p:nvSpPr>
        <p:spPr>
          <a:xfrm>
            <a:off x="63627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~1.6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04EBC7-5CAB-0537-9750-BAD0D690769E}"/>
              </a:ext>
            </a:extLst>
          </p:cNvPr>
          <p:cNvSpPr/>
          <p:nvPr/>
        </p:nvSpPr>
        <p:spPr>
          <a:xfrm>
            <a:off x="7315200" y="6694488"/>
            <a:ext cx="685800" cy="1254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916DC0-6522-CE36-8500-6B2FE8929DDB}"/>
              </a:ext>
            </a:extLst>
          </p:cNvPr>
          <p:cNvSpPr txBox="1"/>
          <p:nvPr/>
        </p:nvSpPr>
        <p:spPr>
          <a:xfrm>
            <a:off x="7200900" y="644683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79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0F43A1-3B81-2E08-D96F-E94598BDFD5D}"/>
              </a:ext>
            </a:extLst>
          </p:cNvPr>
          <p:cNvSpPr txBox="1"/>
          <p:nvPr/>
        </p:nvSpPr>
        <p:spPr>
          <a:xfrm>
            <a:off x="72009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~1.8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08709F5-F7C7-F061-D32B-BC2D4DFE1EBA}"/>
              </a:ext>
            </a:extLst>
          </p:cNvPr>
          <p:cNvSpPr/>
          <p:nvPr/>
        </p:nvSpPr>
        <p:spPr>
          <a:xfrm>
            <a:off x="8153400" y="6607175"/>
            <a:ext cx="685800" cy="21272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E2E2FE-1E5A-42D2-5843-75D9D05B8266}"/>
              </a:ext>
            </a:extLst>
          </p:cNvPr>
          <p:cNvSpPr txBox="1"/>
          <p:nvPr/>
        </p:nvSpPr>
        <p:spPr>
          <a:xfrm>
            <a:off x="8039100" y="635952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134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A160FF-9F20-9FF2-D917-1B8F23E84D28}"/>
              </a:ext>
            </a:extLst>
          </p:cNvPr>
          <p:cNvSpPr txBox="1"/>
          <p:nvPr/>
        </p:nvSpPr>
        <p:spPr>
          <a:xfrm>
            <a:off x="80391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~2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A643AB6-C6FA-DC1E-F250-F3FD137AE6DF}"/>
              </a:ext>
            </a:extLst>
          </p:cNvPr>
          <p:cNvSpPr/>
          <p:nvPr/>
        </p:nvSpPr>
        <p:spPr>
          <a:xfrm>
            <a:off x="8991600" y="5295900"/>
            <a:ext cx="685800" cy="152400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0DBB3F-4D6F-1C7C-6C5A-E48F81FE4B32}"/>
              </a:ext>
            </a:extLst>
          </p:cNvPr>
          <p:cNvSpPr txBox="1"/>
          <p:nvPr/>
        </p:nvSpPr>
        <p:spPr>
          <a:xfrm>
            <a:off x="8877300" y="50482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960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FD3364-2204-BF89-406E-A157E11D0A97}"/>
              </a:ext>
            </a:extLst>
          </p:cNvPr>
          <p:cNvSpPr txBox="1"/>
          <p:nvPr/>
        </p:nvSpPr>
        <p:spPr>
          <a:xfrm>
            <a:off x="88773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~2.4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FB6466F-D475-E690-7BC4-B4BE8A59F4BA}"/>
              </a:ext>
            </a:extLst>
          </p:cNvPr>
          <p:cNvSpPr/>
          <p:nvPr/>
        </p:nvSpPr>
        <p:spPr>
          <a:xfrm>
            <a:off x="9829800" y="4376738"/>
            <a:ext cx="685800" cy="2443162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4732FB-6A07-BA12-93FF-20029A5687F1}"/>
              </a:ext>
            </a:extLst>
          </p:cNvPr>
          <p:cNvSpPr txBox="1"/>
          <p:nvPr/>
        </p:nvSpPr>
        <p:spPr>
          <a:xfrm>
            <a:off x="9715500" y="412908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1,539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BAFCBD-D4A3-C2ED-90B2-2EC2D0E720B0}"/>
              </a:ext>
            </a:extLst>
          </p:cNvPr>
          <p:cNvSpPr txBox="1"/>
          <p:nvPr/>
        </p:nvSpPr>
        <p:spPr>
          <a:xfrm>
            <a:off x="97155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~2.7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E740B00-3047-EDA3-36A8-1AF47F89F7FF}"/>
              </a:ext>
            </a:extLst>
          </p:cNvPr>
          <p:cNvSpPr/>
          <p:nvPr/>
        </p:nvSpPr>
        <p:spPr>
          <a:xfrm>
            <a:off x="10668000" y="5054600"/>
            <a:ext cx="685800" cy="176530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825C5B-CB85-F4E2-AA36-71ED440281DF}"/>
              </a:ext>
            </a:extLst>
          </p:cNvPr>
          <p:cNvSpPr txBox="1"/>
          <p:nvPr/>
        </p:nvSpPr>
        <p:spPr>
          <a:xfrm>
            <a:off x="10553700" y="48069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1,112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A94073-1C1E-890C-5731-0C42CA090C3D}"/>
              </a:ext>
            </a:extLst>
          </p:cNvPr>
          <p:cNvSpPr txBox="1"/>
          <p:nvPr/>
        </p:nvSpPr>
        <p:spPr>
          <a:xfrm>
            <a:off x="105537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~3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94D3E69-5EA9-03B2-19F3-5BF19EFB0FA7}"/>
              </a:ext>
            </a:extLst>
          </p:cNvPr>
          <p:cNvSpPr/>
          <p:nvPr/>
        </p:nvSpPr>
        <p:spPr>
          <a:xfrm>
            <a:off x="11506200" y="3232150"/>
            <a:ext cx="685800" cy="35877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C02D09-9FD3-ED52-0612-151F690F9CA9}"/>
              </a:ext>
            </a:extLst>
          </p:cNvPr>
          <p:cNvSpPr txBox="1"/>
          <p:nvPr/>
        </p:nvSpPr>
        <p:spPr>
          <a:xfrm>
            <a:off x="11391900" y="29845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2,260</a:t>
            </a:r>
            <a:endParaRPr lang="ko-KR" altLang="en-US" sz="10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AD66C6-C788-E020-FFAF-D3D2525C4EBA}"/>
              </a:ext>
            </a:extLst>
          </p:cNvPr>
          <p:cNvSpPr txBox="1"/>
          <p:nvPr/>
        </p:nvSpPr>
        <p:spPr>
          <a:xfrm>
            <a:off x="113919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</a:t>
            </a: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7BACC0D-BF74-D0CB-ACB4-1F7A0BB29DAD}"/>
              </a:ext>
            </a:extLst>
          </p:cNvPr>
          <p:cNvCxnSpPr/>
          <p:nvPr/>
        </p:nvCxnSpPr>
        <p:spPr>
          <a:xfrm>
            <a:off x="3886200" y="6819900"/>
            <a:ext cx="838200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BCED13A-7203-48EC-E9E5-D08919F951CF}"/>
              </a:ext>
            </a:extLst>
          </p:cNvPr>
          <p:cNvSpPr txBox="1"/>
          <p:nvPr/>
        </p:nvSpPr>
        <p:spPr>
          <a:xfrm>
            <a:off x="3886200" y="72390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이하는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31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(0.5%)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뿐이고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나머지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99.5%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는 하루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넘게 결제한 날이 있음</a:t>
            </a:r>
            <a:b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2.4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초과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4,911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(78.9%) · 3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초과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2,260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(36.3%,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카드 한 장의 하루 한도를 넘는 금액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0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2A0071F-D3E7-C2F2-EC1E-27FE8856C000}"/>
              </a:ext>
            </a:extLst>
          </p:cNvPr>
          <p:cNvCxnSpPr/>
          <p:nvPr/>
        </p:nvCxnSpPr>
        <p:spPr>
          <a:xfrm>
            <a:off x="12553950" y="2247900"/>
            <a:ext cx="0" cy="5524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6F30366-0F7C-F244-5716-79C86DB3B590}"/>
              </a:ext>
            </a:extLst>
          </p:cNvPr>
          <p:cNvSpPr txBox="1"/>
          <p:nvPr/>
        </p:nvSpPr>
        <p:spPr>
          <a:xfrm>
            <a:off x="12839700" y="224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18,626</a:t>
            </a:r>
            <a:r>
              <a:rPr lang="ko-KR" altLang="en-US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원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4E8FE4-9268-F3EA-0C89-EED73788B623}"/>
              </a:ext>
            </a:extLst>
          </p:cNvPr>
          <p:cNvSpPr txBox="1"/>
          <p:nvPr/>
        </p:nvSpPr>
        <p:spPr>
          <a:xfrm>
            <a:off x="12839700" y="2857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평균 카드 승인액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95C800-1909-9A56-9848-5233A11165D3}"/>
              </a:ext>
            </a:extLst>
          </p:cNvPr>
          <p:cNvSpPr txBox="1"/>
          <p:nvPr/>
        </p:nvSpPr>
        <p:spPr>
          <a:xfrm>
            <a:off x="12839700" y="3181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승인액 합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6,355,520,400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÷ 341,216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AA5D31C-4650-54A1-E2F2-998A5B196DAF}"/>
              </a:ext>
            </a:extLst>
          </p:cNvPr>
          <p:cNvCxnSpPr/>
          <p:nvPr/>
        </p:nvCxnSpPr>
        <p:spPr>
          <a:xfrm>
            <a:off x="12839700" y="39814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BA24333-7051-C6EC-6908-A9026EA39FBD}"/>
              </a:ext>
            </a:extLst>
          </p:cNvPr>
          <p:cNvSpPr txBox="1"/>
          <p:nvPr/>
        </p:nvSpPr>
        <p:spPr>
          <a:xfrm>
            <a:off x="12839700" y="4152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82.9%</a:t>
            </a:r>
            <a:endParaRPr lang="ko-KR" altLang="en-US" sz="3750">
              <a:solidFill>
                <a:srgbClr val="2B2320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0FE8D1-858A-A6C7-9038-7CFE8EBD4AC4}"/>
              </a:ext>
            </a:extLst>
          </p:cNvPr>
          <p:cNvSpPr txBox="1"/>
          <p:nvPr/>
        </p:nvSpPr>
        <p:spPr>
          <a:xfrm>
            <a:off x="12839700" y="4762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회만 결제한 날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A0AF7B-010F-E1F5-4196-3B56A0FFFE63}"/>
              </a:ext>
            </a:extLst>
          </p:cNvPr>
          <p:cNvSpPr txBox="1"/>
          <p:nvPr/>
        </p:nvSpPr>
        <p:spPr>
          <a:xfrm>
            <a:off x="12839700" y="5086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이용자별 결제일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284,110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 중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235,512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6CEC355-9C71-2007-5983-B02EE031087F}"/>
              </a:ext>
            </a:extLst>
          </p:cNvPr>
          <p:cNvCxnSpPr/>
          <p:nvPr/>
        </p:nvCxnSpPr>
        <p:spPr>
          <a:xfrm>
            <a:off x="12839700" y="58864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31F5F13-0C6E-6420-B46E-74B09D2168F3}"/>
              </a:ext>
            </a:extLst>
          </p:cNvPr>
          <p:cNvSpPr txBox="1"/>
          <p:nvPr/>
        </p:nvSpPr>
        <p:spPr>
          <a:xfrm>
            <a:off x="12839700" y="605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8.4%</a:t>
            </a:r>
            <a:endParaRPr lang="ko-KR" altLang="en-US" sz="3750">
              <a:solidFill>
                <a:srgbClr val="E63946"/>
              </a:solidFill>
              <a:latin typeface="Black Han Sans" panose="02000600000000000000" pitchFamily="2" charset="-127"/>
              <a:ea typeface="Black Han Sans" panose="020006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38A78E-BD22-39A9-4FEB-0B8C5C07D060}"/>
              </a:ext>
            </a:extLst>
          </p:cNvPr>
          <p:cNvSpPr txBox="1"/>
          <p:nvPr/>
        </p:nvSpPr>
        <p:spPr>
          <a:xfrm>
            <a:off x="12839700" y="6667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주문 합계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이상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B63AD6-5174-6717-A784-CC0DE4F04D94}"/>
              </a:ext>
            </a:extLst>
          </p:cNvPr>
          <p:cNvSpPr txBox="1"/>
          <p:nvPr/>
        </p:nvSpPr>
        <p:spPr>
          <a:xfrm>
            <a:off x="12839700" y="6991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일반 결제는 </a:t>
            </a:r>
            <a:r>
              <a:rPr lang="en-US" altLang="ko-KR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24.4%, </a:t>
            </a:r>
            <a:r>
              <a:rPr lang="ko-KR" altLang="en-US" sz="127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주문은 카드 한도 근처에서 끊김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ECF76F8-37C6-894E-02F2-2ECDD9C739BF}"/>
              </a:ext>
            </a:extLst>
          </p:cNvPr>
          <p:cNvCxnSpPr/>
          <p:nvPr/>
        </p:nvCxnSpPr>
        <p:spPr>
          <a:xfrm>
            <a:off x="3314700" y="81534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56E1D96-EFAD-0F97-A654-767CC033FCA4}"/>
              </a:ext>
            </a:extLst>
          </p:cNvPr>
          <p:cNvSpPr txBox="1"/>
          <p:nvPr/>
        </p:nvSpPr>
        <p:spPr>
          <a:xfrm>
            <a:off x="3314700" y="83820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넘는 결제의 출처 </a:t>
            </a: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추정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863ED8-F458-50EB-299D-9812B5B96B8B}"/>
              </a:ext>
            </a:extLst>
          </p:cNvPr>
          <p:cNvSpPr txBox="1"/>
          <p:nvPr/>
        </p:nvSpPr>
        <p:spPr>
          <a:xfrm>
            <a:off x="3314700" y="870585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여러 끼를 한 번에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한도는 신청한 끼니 수만큼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 결제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82.9%</a:t>
            </a:r>
          </a:p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형제 카드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초과는 카드 한 장으로 안 되는 금액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(36.3%)</a:t>
            </a:r>
          </a:p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본인 돈 추가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승인액에는 없지만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주문 합계가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원에서 끊겨 흔하지 않아 보임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FEC0B75-80E3-2FD0-35C0-6454B8A1BB2B}"/>
              </a:ext>
            </a:extLst>
          </p:cNvPr>
          <p:cNvCxnSpPr/>
          <p:nvPr/>
        </p:nvCxnSpPr>
        <p:spPr>
          <a:xfrm>
            <a:off x="10458450" y="8382000"/>
            <a:ext cx="0" cy="12573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B7DAF5-0871-FA5D-378F-EED32DEB2CEE}"/>
              </a:ext>
            </a:extLst>
          </p:cNvPr>
          <p:cNvSpPr txBox="1"/>
          <p:nvPr/>
        </p:nvSpPr>
        <p:spPr>
          <a:xfrm>
            <a:off x="10744200" y="83820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그래서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 점검의 뜻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CA8E77-A9B7-FFE7-D3D7-A0247C04B708}"/>
              </a:ext>
            </a:extLst>
          </p:cNvPr>
          <p:cNvSpPr txBox="1"/>
          <p:nvPr/>
        </p:nvSpPr>
        <p:spPr>
          <a:xfrm>
            <a:off x="10744200" y="87058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기준은 ‘카드 한 끼 값만으로 한 끼’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 끼만 신청했거나 돈을 더 낼 수 없는 아이 기준</a:t>
            </a:r>
            <a:b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쓰는 아이는 막히지 않음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막힌 아이는 로그에 없음</a:t>
            </a:r>
            <a:b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운영 회차 지표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신규 이용자 수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1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이하 결제 비중</a:t>
            </a:r>
          </a:p>
        </p:txBody>
      </p:sp>
    </p:spTree>
    <p:extLst>
      <p:ext uri="{BB962C8B-B14F-4D97-AF65-F5344CB8AC3E}">
        <p14:creationId xmlns:p14="http://schemas.microsoft.com/office/powerpoint/2010/main" val="2609657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8485525-E655-1B09-9DD6-A9242F2D54AF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AC4EC0-4388-5A5C-B077-02B9D3C60AED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E73E7-DB29-1137-6735-AF018119907C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5A07F-7479-A755-FDD9-81A6BC4C02B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50E77-1E97-7168-3F50-EF93ADD0E050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3F411-D248-94C7-9609-58F5FD39D7B7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FE552B-528E-5C08-4E66-F0C918B9DCEE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FC590-7B3A-3FEE-2273-6AED2DFA2B9E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6C67F-930E-1317-E62C-6EC9396A0A76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9535-224F-5205-69A4-F36E1BD0A576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32130-C49E-A425-C331-22381CC3C973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6232E-96A5-3E26-85CB-E3224882AC1A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E7D93-22A8-101B-AB17-D6F08336AA3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대표 사례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EF00F-2551-4281-8F9E-F4DD1A7EDE2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가격은 구 단위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배달은 동 단위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나머지는 사각지대 아님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89A8D37-35E9-FC42-AB54-B3505206DAD5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706D2D-A1E7-86CA-940A-E245FB94F024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19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CC4101-E0B0-B144-1266-F9DB3E49A4ED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결과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2026-10-15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설계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docs/topics/T2_pilot_design.md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6CA362-CE9A-98B9-B0E4-DB95B38E3C0A}"/>
              </a:ext>
            </a:extLst>
          </p:cNvPr>
          <p:cNvSpPr txBox="1"/>
          <p:nvPr/>
        </p:nvSpPr>
        <p:spPr>
          <a:xfrm>
            <a:off x="3314700" y="2247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가격형 </a:t>
            </a:r>
            <a:r>
              <a:rPr lang="en-US" altLang="ko-KR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 단위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14230-06AA-913E-8C9C-8C14D644FBCF}"/>
              </a:ext>
            </a:extLst>
          </p:cNvPr>
          <p:cNvSpPr txBox="1"/>
          <p:nvPr/>
        </p:nvSpPr>
        <p:spPr>
          <a:xfrm>
            <a:off x="3314700" y="2590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화원읍 일대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9FFA70-72EB-333A-E0E4-4ED507D728CA}"/>
              </a:ext>
            </a:extLst>
          </p:cNvPr>
          <p:cNvSpPr txBox="1"/>
          <p:nvPr/>
        </p:nvSpPr>
        <p:spPr>
          <a:xfrm>
            <a:off x="3314700" y="3314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대상 동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명곡리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본리리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과 많이 쓰는 대조 동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구라리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모두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 목록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중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가능 급식 가게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수준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동별 판정 대신 ‘지역 공통 장벽’ 표시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8A09FBF-FF8C-AFF7-48E7-64721795E85D}"/>
              </a:ext>
            </a:extLst>
          </p:cNvPr>
          <p:cNvCxnSpPr/>
          <p:nvPr/>
        </p:nvCxnSpPr>
        <p:spPr>
          <a:xfrm>
            <a:off x="3314700" y="5105400"/>
            <a:ext cx="4953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B5E519-ACC0-8DCF-275B-9A95E5996788}"/>
              </a:ext>
            </a:extLst>
          </p:cNvPr>
          <p:cNvSpPr txBox="1"/>
          <p:nvPr/>
        </p:nvSpPr>
        <p:spPr>
          <a:xfrm>
            <a:off x="33147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0599F-9C7F-8B6B-5FA8-FA7E29239E59}"/>
              </a:ext>
            </a:extLst>
          </p:cNvPr>
          <p:cNvSpPr txBox="1"/>
          <p:nvPr/>
        </p:nvSpPr>
        <p:spPr>
          <a:xfrm>
            <a:off x="3314700" y="55816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B(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탐색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):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면제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·1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이하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 메뉴 가게 모집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 면제 표시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53F8A34-58F2-DA32-DEF6-2A328FE184BB}"/>
              </a:ext>
            </a:extLst>
          </p:cNvPr>
          <p:cNvCxnSpPr/>
          <p:nvPr/>
        </p:nvCxnSpPr>
        <p:spPr>
          <a:xfrm>
            <a:off x="3314700" y="6724650"/>
            <a:ext cx="4953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8E29D5E-55D1-98AC-CFEA-5A16BE3433EB}"/>
              </a:ext>
            </a:extLst>
          </p:cNvPr>
          <p:cNvSpPr txBox="1"/>
          <p:nvPr/>
        </p:nvSpPr>
        <p:spPr>
          <a:xfrm>
            <a:off x="33147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지표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3DE36-851E-EAD7-6DAD-EEC5563F52B6}"/>
              </a:ext>
            </a:extLst>
          </p:cNvPr>
          <p:cNvSpPr txBox="1"/>
          <p:nvPr/>
        </p:nvSpPr>
        <p:spPr>
          <a:xfrm>
            <a:off x="3314700" y="7200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신규 이용자 수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처음 쓴 이용자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 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 이하 결제 비중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대조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다른 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C58C24-9BE5-459C-6AC4-E7D6285F8DFD}"/>
              </a:ext>
            </a:extLst>
          </p:cNvPr>
          <p:cNvSpPr txBox="1"/>
          <p:nvPr/>
        </p:nvSpPr>
        <p:spPr>
          <a:xfrm>
            <a:off x="3314700" y="8153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대구시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구 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6F0621A-AA12-28D7-8D85-1EBB052DFEC5}"/>
              </a:ext>
            </a:extLst>
          </p:cNvPr>
          <p:cNvCxnSpPr/>
          <p:nvPr/>
        </p:nvCxnSpPr>
        <p:spPr>
          <a:xfrm>
            <a:off x="8553450" y="2247900"/>
            <a:ext cx="0" cy="6286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877CA69-155E-7902-6BDB-E16852DC43D5}"/>
              </a:ext>
            </a:extLst>
          </p:cNvPr>
          <p:cNvSpPr txBox="1"/>
          <p:nvPr/>
        </p:nvSpPr>
        <p:spPr>
          <a:xfrm>
            <a:off x="8839200" y="2247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 단위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A30CD6-D826-533D-0278-6B6850A89441}"/>
              </a:ext>
            </a:extLst>
          </p:cNvPr>
          <p:cNvSpPr txBox="1"/>
          <p:nvPr/>
        </p:nvSpPr>
        <p:spPr>
          <a:xfrm>
            <a:off x="8839200" y="25908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 검단동</a:t>
            </a:r>
            <a:r>
              <a:rPr lang="en-US" altLang="ko-KR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학정동</a:t>
            </a:r>
            <a:r>
              <a:rPr lang="en-US" altLang="ko-KR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논공 금포리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F03C5F-DD63-C52A-4F3E-0EA68AE9DB53}"/>
              </a:ext>
            </a:extLst>
          </p:cNvPr>
          <p:cNvSpPr txBox="1"/>
          <p:nvPr/>
        </p:nvSpPr>
        <p:spPr>
          <a:xfrm>
            <a:off x="8839200" y="33147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배달 자체가 적음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세 곳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시간이 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금포리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배달팁은 걸리지 않음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세 곳 모두 방학 앞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뒤 반기 연속 하위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25%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중 화원 본리리는 시범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B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지역 안이라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B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로 평가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E1CE6BB-9274-32D3-0A3B-9D89A8251E76}"/>
              </a:ext>
            </a:extLst>
          </p:cNvPr>
          <p:cNvCxnSpPr/>
          <p:nvPr/>
        </p:nvCxnSpPr>
        <p:spPr>
          <a:xfrm>
            <a:off x="8839200" y="5105400"/>
            <a:ext cx="476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DC1C88-7077-4247-EABA-C576FDF3C184}"/>
              </a:ext>
            </a:extLst>
          </p:cNvPr>
          <p:cNvSpPr txBox="1"/>
          <p:nvPr/>
        </p:nvSpPr>
        <p:spPr>
          <a:xfrm>
            <a:off x="88392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CAA27F-0392-C098-D4AE-D33E6A5DD760}"/>
              </a:ext>
            </a:extLst>
          </p:cNvPr>
          <p:cNvSpPr txBox="1"/>
          <p:nvPr/>
        </p:nvSpPr>
        <p:spPr>
          <a:xfrm>
            <a:off x="8839200" y="558165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A: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정기 배달편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점심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저녁 묶음 배달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가능 급식 가게 우선 노출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C797B8F-BDC8-82F0-1A83-ABDE342DDF8C}"/>
              </a:ext>
            </a:extLst>
          </p:cNvPr>
          <p:cNvCxnSpPr/>
          <p:nvPr/>
        </p:nvCxnSpPr>
        <p:spPr>
          <a:xfrm>
            <a:off x="8839200" y="6724650"/>
            <a:ext cx="476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C380804-EEED-6209-A746-5DACE413A0E9}"/>
              </a:ext>
            </a:extLst>
          </p:cNvPr>
          <p:cNvSpPr txBox="1"/>
          <p:nvPr/>
        </p:nvSpPr>
        <p:spPr>
          <a:xfrm>
            <a:off x="88392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지표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2BC794-4E17-F8BE-FF94-0BF0D8C3AC64}"/>
              </a:ext>
            </a:extLst>
          </p:cNvPr>
          <p:cNvSpPr txBox="1"/>
          <p:nvPr/>
        </p:nvSpPr>
        <p:spPr>
          <a:xfrm>
            <a:off x="8839200" y="7200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수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아동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명당 결제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평균 배달 시간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가능 급식 가게 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86865-0962-6131-3F2C-CE3A4C6EF695}"/>
              </a:ext>
            </a:extLst>
          </p:cNvPr>
          <p:cNvSpPr txBox="1"/>
          <p:nvPr/>
        </p:nvSpPr>
        <p:spPr>
          <a:xfrm>
            <a:off x="8839200" y="81534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운영사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ABA4E32-BBC5-78DD-5985-C066C7919FFD}"/>
              </a:ext>
            </a:extLst>
          </p:cNvPr>
          <p:cNvCxnSpPr/>
          <p:nvPr/>
        </p:nvCxnSpPr>
        <p:spPr>
          <a:xfrm>
            <a:off x="13887450" y="2247900"/>
            <a:ext cx="0" cy="6286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49E68C8-B835-5CE3-F3FD-B4A8C862D26D}"/>
              </a:ext>
            </a:extLst>
          </p:cNvPr>
          <p:cNvSpPr txBox="1"/>
          <p:nvPr/>
        </p:nvSpPr>
        <p:spPr>
          <a:xfrm>
            <a:off x="14173200" y="22479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사각지대 아님 </a:t>
            </a:r>
            <a:r>
              <a:rPr lang="en-US" altLang="ko-KR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 제외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66C5C0-C227-4381-67FE-DBABB024EB89}"/>
              </a:ext>
            </a:extLst>
          </p:cNvPr>
          <p:cNvSpPr txBox="1"/>
          <p:nvPr/>
        </p:nvSpPr>
        <p:spPr>
          <a:xfrm>
            <a:off x="14173200" y="25908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동구 지묘동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2748B4-A797-B1A3-F1B1-76A9560F253A}"/>
              </a:ext>
            </a:extLst>
          </p:cNvPr>
          <p:cNvSpPr txBox="1"/>
          <p:nvPr/>
        </p:nvSpPr>
        <p:spPr>
          <a:xfrm>
            <a:off x="14173200" y="33147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필요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모두 해당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그러나 옆 동네 가게에서 주문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84910E0-F60A-8F9E-5D2C-A72908378C97}"/>
              </a:ext>
            </a:extLst>
          </p:cNvPr>
          <p:cNvCxnSpPr/>
          <p:nvPr/>
        </p:nvCxnSpPr>
        <p:spPr>
          <a:xfrm>
            <a:off x="14173200" y="5105400"/>
            <a:ext cx="3505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A4FF0F6-44E0-0740-9849-4AA6EB8E305A}"/>
              </a:ext>
            </a:extLst>
          </p:cNvPr>
          <p:cNvSpPr txBox="1"/>
          <p:nvPr/>
        </p:nvSpPr>
        <p:spPr>
          <a:xfrm>
            <a:off x="141732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53B39B-D025-452C-69FA-7CAFE61010F7}"/>
              </a:ext>
            </a:extLst>
          </p:cNvPr>
          <p:cNvSpPr txBox="1"/>
          <p:nvPr/>
        </p:nvSpPr>
        <p:spPr>
          <a:xfrm>
            <a:off x="14173200" y="558165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조치 없이 다음 회차 관찰</a:t>
            </a:r>
          </a:p>
          <a:p>
            <a:pPr>
              <a:lnSpc>
                <a:spcPct val="135000"/>
              </a:lnSpc>
            </a:pP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없이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전체에 사업하면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포함될 곳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425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EE8D68E-64A1-D389-3885-1E8A98C3A88A}"/>
              </a:ext>
            </a:extLst>
          </p:cNvPr>
          <p:cNvCxnSpPr/>
          <p:nvPr/>
        </p:nvCxnSpPr>
        <p:spPr>
          <a:xfrm>
            <a:off x="14173200" y="6724650"/>
            <a:ext cx="3505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9551A51-9EA6-5CFD-A141-70A7A6D8AA8A}"/>
              </a:ext>
            </a:extLst>
          </p:cNvPr>
          <p:cNvSpPr txBox="1"/>
          <p:nvPr/>
        </p:nvSpPr>
        <p:spPr>
          <a:xfrm>
            <a:off x="141732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지표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BA17D3-C2EB-55E6-5F14-AE33E516D2A8}"/>
              </a:ext>
            </a:extLst>
          </p:cNvPr>
          <p:cNvSpPr txBox="1"/>
          <p:nvPr/>
        </p:nvSpPr>
        <p:spPr>
          <a:xfrm>
            <a:off x="14173200" y="72009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다음 회차 이동표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 주소 기준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동별 급식카드 대상 아동 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516ED4-C672-5470-04F0-EB76E5BFF32D}"/>
              </a:ext>
            </a:extLst>
          </p:cNvPr>
          <p:cNvSpPr txBox="1"/>
          <p:nvPr/>
        </p:nvSpPr>
        <p:spPr>
          <a:xfrm>
            <a:off x="14173200" y="81534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216346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EDE4ECA-214A-72C0-0838-9DA474FAE987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AC9E0C-AB03-6CFC-2729-50ED4480A581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366CB-CD66-63EC-8FB5-F3E7DE84E31F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34404-01F4-9BA9-EAB0-4925EDFF56BF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E248A5-11B3-2295-6139-CB0A4A56E29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33859-17B3-7DBF-3099-64C276BB83E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37DC0-C612-42BD-779F-F5EF8FED42C1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AD2423-5440-A6F7-E6F9-1924CA650719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1F0D2-CE15-8990-96E1-E3265A1F5572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BF041-AFFD-0F5D-DD86-C77EA4DDF768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227D0-8B7C-345E-59B4-F3B9D8860FCF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B8C3F-E66D-820B-6F0C-DB5F920A9E5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28C3C-22F5-2F63-8792-E2F1F558842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유형별 조치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17C41C-3EB4-CEBA-0195-F07C694A5711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담당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조치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확인 지표를 판정 유형에 고정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F0FC004-C2B7-36C4-9626-6021686A8FF4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44F706-DF40-CB42-39B7-3AA1449867DD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A027B7-FE81-4E13-9E11-3895CCAC8C1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배달비 지원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매일신문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2024-02-29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유형 설계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점검표 설계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docs/topics/T2_checkup_tool.md §6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F1A37AB-8542-150D-AD80-367412E9D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92494"/>
              </p:ext>
            </p:extLst>
          </p:nvPr>
        </p:nvGraphicFramePr>
        <p:xfrm>
          <a:off x="3314700" y="2247900"/>
          <a:ext cx="14363700" cy="5924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158192841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46076417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8099604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17247165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09215619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364346252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유형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걸린 이유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담당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조치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지표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이번 분석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31033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정기 배달편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점심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저녁 묶음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가능 급식 가게 우선 노출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결제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시간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37808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가격형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최소주문 면제 가게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 이하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인 메뉴 확대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앱 목록 면제 표시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가능 가게 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신규 이용자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공통 장벽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28674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공급형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쉬는 등록 가게 다시 살리기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가맹점 모집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공급 점검 순서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주문받는 가게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판단 불가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21403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안내형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안내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전 보호자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아이 모두에게 안내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 끼니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 유형 비중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자료 없음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24144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판단 불가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현장 확인 질문지 → 다음 회차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다음 회차 유형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1278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사각지대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없음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조치 없음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다음 회차 관찰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이동표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대상 아동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00145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C0B5784-799A-7EE5-E712-2EEF52B8E3F8}"/>
              </a:ext>
            </a:extLst>
          </p:cNvPr>
          <p:cNvSpPr txBox="1"/>
          <p:nvPr/>
        </p:nvSpPr>
        <p:spPr>
          <a:xfrm>
            <a:off x="3314700" y="86677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배달비는 이미 지원 중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누적 약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 명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·2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억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천만 원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→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쟁점은 비용이 아니라 배달이 오느냐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2049E-08D2-B3B0-5A85-077C774602D1}"/>
              </a:ext>
            </a:extLst>
          </p:cNvPr>
          <p:cNvSpPr txBox="1"/>
          <p:nvPr/>
        </p:nvSpPr>
        <p:spPr>
          <a:xfrm>
            <a:off x="3314700" y="90297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안내형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약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분의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(4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11%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표본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참고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→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안내 대상은 보호자와 아이 모두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공급형은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결함으로 이번 회차 판정 불가</a:t>
            </a:r>
          </a:p>
        </p:txBody>
      </p:sp>
    </p:spTree>
    <p:extLst>
      <p:ext uri="{BB962C8B-B14F-4D97-AF65-F5344CB8AC3E}">
        <p14:creationId xmlns:p14="http://schemas.microsoft.com/office/powerpoint/2010/main" val="249985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65EA481-6D70-A33F-518D-F38D9B9C7F11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FC43EF-7994-DC25-2CF1-6E28A9786C27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90A28-FA9F-9D57-533C-D76995F7290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475A0-3545-CAA5-14B1-826DDF26D845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13B78-F8F3-5500-59F5-407F9D8CA145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36BFE-216E-DC5A-48CC-88378DF0D707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03906-B165-BA6A-B110-878690F1246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31E6CB-18D9-9206-D2BE-D40AC414DA2F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DC397-2D78-816B-E37F-B20954B126F0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D9DD7-C857-D8C4-0DD0-26F8C7A867CF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196DAD-72CB-4E1A-9AF7-A74A49E0E10F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26C1F-FA71-8E3E-20E3-B5D75C293A1F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2DB92-DDD8-6C81-F421-823A327E5A6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기대효과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3869E-0764-3801-78D3-D3857513F78A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진짜 공백은 작고 몇 곳에 있어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큰 사업 대신 판정한 곳에 정확히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29BF46C-5323-994F-54AE-C7CC05EABAE3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CB8E74-C0E9-5910-80A1-7D8BCCD34F6C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21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41EF4-6C7D-14C1-0B35-63D2357FFD4F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코드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85·80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기대 이용 모형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70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R² 0.746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16BF1-EB13-131A-15C4-C90E617746BC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늘어나는 방학 월 이용자 수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하한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~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상한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F8D566-D336-B612-7DDA-CA8AA886837F}"/>
              </a:ext>
            </a:extLst>
          </p:cNvPr>
          <p:cNvSpPr txBox="1"/>
          <p:nvPr/>
        </p:nvSpPr>
        <p:spPr>
          <a:xfrm>
            <a:off x="3314700" y="2552700"/>
            <a:ext cx="895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단위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방학 한 달 이용자 수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월평균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3,785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가정 아래 계산이라 진단 결과와 분리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888E10C-C65A-F02E-34D2-04ED718B4531}"/>
              </a:ext>
            </a:extLst>
          </p:cNvPr>
          <p:cNvCxnSpPr/>
          <p:nvPr/>
        </p:nvCxnSpPr>
        <p:spPr>
          <a:xfrm>
            <a:off x="6934200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558FF1-4042-0B92-3CC9-E79D500FF64C}"/>
              </a:ext>
            </a:extLst>
          </p:cNvPr>
          <p:cNvSpPr txBox="1"/>
          <p:nvPr/>
        </p:nvSpPr>
        <p:spPr>
          <a:xfrm>
            <a:off x="6648450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EEF04FD-4E3F-185D-89AB-921EA981FD71}"/>
              </a:ext>
            </a:extLst>
          </p:cNvPr>
          <p:cNvCxnSpPr/>
          <p:nvPr/>
        </p:nvCxnSpPr>
        <p:spPr>
          <a:xfrm>
            <a:off x="8194862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D8B268-4BF8-DD1D-C60F-1EDFD04B8E35}"/>
              </a:ext>
            </a:extLst>
          </p:cNvPr>
          <p:cNvSpPr txBox="1"/>
          <p:nvPr/>
        </p:nvSpPr>
        <p:spPr>
          <a:xfrm>
            <a:off x="7909112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00A5EDB-C2F0-3273-1780-1502C0E2E993}"/>
              </a:ext>
            </a:extLst>
          </p:cNvPr>
          <p:cNvCxnSpPr/>
          <p:nvPr/>
        </p:nvCxnSpPr>
        <p:spPr>
          <a:xfrm>
            <a:off x="9455524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89BBDC-C218-B2DE-C6A4-813604D12DA3}"/>
              </a:ext>
            </a:extLst>
          </p:cNvPr>
          <p:cNvSpPr txBox="1"/>
          <p:nvPr/>
        </p:nvSpPr>
        <p:spPr>
          <a:xfrm>
            <a:off x="9169774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6002017-39C6-E882-6B9B-FA42C8BD395B}"/>
              </a:ext>
            </a:extLst>
          </p:cNvPr>
          <p:cNvCxnSpPr/>
          <p:nvPr/>
        </p:nvCxnSpPr>
        <p:spPr>
          <a:xfrm>
            <a:off x="10716185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A67E17-E7E4-AF4D-CF25-DF3F9F96BF70}"/>
              </a:ext>
            </a:extLst>
          </p:cNvPr>
          <p:cNvSpPr txBox="1"/>
          <p:nvPr/>
        </p:nvSpPr>
        <p:spPr>
          <a:xfrm>
            <a:off x="10430435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150</a:t>
            </a:r>
            <a:endParaRPr lang="ko-KR" altLang="en-US" sz="105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E2A8F9-C55A-AC33-C1BA-F8C88786AFB4}"/>
              </a:ext>
            </a:extLst>
          </p:cNvPr>
          <p:cNvSpPr txBox="1"/>
          <p:nvPr/>
        </p:nvSpPr>
        <p:spPr>
          <a:xfrm>
            <a:off x="3314700" y="3086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더 모집하기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어디서나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56264CD-DA60-2CE2-549E-B2AF3F766E18}"/>
              </a:ext>
            </a:extLst>
          </p:cNvPr>
          <p:cNvSpPr/>
          <p:nvPr/>
        </p:nvSpPr>
        <p:spPr>
          <a:xfrm>
            <a:off x="6934200" y="3162300"/>
            <a:ext cx="57150" cy="209550"/>
          </a:xfrm>
          <a:prstGeom prst="rect">
            <a:avLst/>
          </a:prstGeom>
          <a:solidFill>
            <a:srgbClr val="BFBD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F60273-C47F-65F5-F750-F933B12D39DF}"/>
              </a:ext>
            </a:extLst>
          </p:cNvPr>
          <p:cNvSpPr txBox="1"/>
          <p:nvPr/>
        </p:nvSpPr>
        <p:spPr>
          <a:xfrm>
            <a:off x="7086600" y="312420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ADE37-E01B-FDFD-6FF5-A3773B395E2C}"/>
              </a:ext>
            </a:extLst>
          </p:cNvPr>
          <p:cNvSpPr txBox="1"/>
          <p:nvPr/>
        </p:nvSpPr>
        <p:spPr>
          <a:xfrm>
            <a:off x="3314700" y="411162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쉬는 등록 가게 다시 살리기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A44446-AD10-58D5-5108-02D4F40D3371}"/>
              </a:ext>
            </a:extLst>
          </p:cNvPr>
          <p:cNvSpPr/>
          <p:nvPr/>
        </p:nvSpPr>
        <p:spPr>
          <a:xfrm>
            <a:off x="6934200" y="4187825"/>
            <a:ext cx="57150" cy="209550"/>
          </a:xfrm>
          <a:prstGeom prst="rect">
            <a:avLst/>
          </a:prstGeom>
          <a:solidFill>
            <a:srgbClr val="BFBD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BCE586-1B41-6697-5419-FCD0C65BD81B}"/>
              </a:ext>
            </a:extLst>
          </p:cNvPr>
          <p:cNvSpPr txBox="1"/>
          <p:nvPr/>
        </p:nvSpPr>
        <p:spPr>
          <a:xfrm>
            <a:off x="7086600" y="414972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AF446B-C449-FF30-E507-7B54D0B1B7E9}"/>
              </a:ext>
            </a:extLst>
          </p:cNvPr>
          <p:cNvSpPr txBox="1"/>
          <p:nvPr/>
        </p:nvSpPr>
        <p:spPr>
          <a:xfrm>
            <a:off x="3314700" y="513715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참고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모집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가장 후한 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7F3156A-FE3D-BB91-4B9F-291FA66E99D6}"/>
              </a:ext>
            </a:extLst>
          </p:cNvPr>
          <p:cNvSpPr/>
          <p:nvPr/>
        </p:nvSpPr>
        <p:spPr>
          <a:xfrm>
            <a:off x="7819185" y="5213350"/>
            <a:ext cx="57150" cy="209550"/>
          </a:xfrm>
          <a:prstGeom prst="rect">
            <a:avLst/>
          </a:prstGeom>
          <a:solidFill>
            <a:srgbClr val="D9D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C3EC98-E853-E089-A39B-B027A79FE52F}"/>
              </a:ext>
            </a:extLst>
          </p:cNvPr>
          <p:cNvSpPr txBox="1"/>
          <p:nvPr/>
        </p:nvSpPr>
        <p:spPr>
          <a:xfrm>
            <a:off x="7971585" y="517525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35.1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A909EF8-6D9D-0950-43A6-0345D73410A0}"/>
              </a:ext>
            </a:extLst>
          </p:cNvPr>
          <p:cNvCxnSpPr/>
          <p:nvPr/>
        </p:nvCxnSpPr>
        <p:spPr>
          <a:xfrm>
            <a:off x="3314700" y="6048375"/>
            <a:ext cx="8953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C69C422-A5A6-8D7C-173B-6CEE10267879}"/>
              </a:ext>
            </a:extLst>
          </p:cNvPr>
          <p:cNvSpPr txBox="1"/>
          <p:nvPr/>
        </p:nvSpPr>
        <p:spPr>
          <a:xfrm>
            <a:off x="3314700" y="616267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이용 회복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471948-9C6D-B3CF-5C24-CD0B55B1CE5A}"/>
              </a:ext>
            </a:extLst>
          </p:cNvPr>
          <p:cNvSpPr/>
          <p:nvPr/>
        </p:nvSpPr>
        <p:spPr>
          <a:xfrm>
            <a:off x="7082958" y="6238875"/>
            <a:ext cx="148759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EDF45A-DED8-BAE7-F51F-63EEEC09F593}"/>
              </a:ext>
            </a:extLst>
          </p:cNvPr>
          <p:cNvSpPr txBox="1"/>
          <p:nvPr/>
        </p:nvSpPr>
        <p:spPr>
          <a:xfrm>
            <a:off x="7326966" y="620077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5.9~11.8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4003C9-0077-9713-9EAF-1775C9059DDA}"/>
              </a:ext>
            </a:extLst>
          </p:cNvPr>
          <p:cNvSpPr txBox="1"/>
          <p:nvPr/>
        </p:nvSpPr>
        <p:spPr>
          <a:xfrm>
            <a:off x="3314700" y="7188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필요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최대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E336A9D-DFDF-6D6E-7924-A1B0A202AE3F}"/>
              </a:ext>
            </a:extLst>
          </p:cNvPr>
          <p:cNvSpPr/>
          <p:nvPr/>
        </p:nvSpPr>
        <p:spPr>
          <a:xfrm>
            <a:off x="6934200" y="7264400"/>
            <a:ext cx="1119467" cy="209550"/>
          </a:xfrm>
          <a:prstGeom prst="rect">
            <a:avLst/>
          </a:prstGeom>
          <a:solidFill>
            <a:srgbClr val="A09C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55DF4B-8E61-C3EA-9C59-0C4E92066409}"/>
              </a:ext>
            </a:extLst>
          </p:cNvPr>
          <p:cNvSpPr txBox="1"/>
          <p:nvPr/>
        </p:nvSpPr>
        <p:spPr>
          <a:xfrm>
            <a:off x="8148917" y="722630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0~44.4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EC89CF-EEF6-3447-CC7B-1FC1203D4D17}"/>
              </a:ext>
            </a:extLst>
          </p:cNvPr>
          <p:cNvSpPr txBox="1"/>
          <p:nvPr/>
        </p:nvSpPr>
        <p:spPr>
          <a:xfrm>
            <a:off x="3314700" y="821372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참고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없이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전체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겉보기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19FEE4C-2F1C-F46F-5D70-9AAEDF66FCE4}"/>
              </a:ext>
            </a:extLst>
          </p:cNvPr>
          <p:cNvSpPr/>
          <p:nvPr/>
        </p:nvSpPr>
        <p:spPr>
          <a:xfrm>
            <a:off x="8963865" y="8289925"/>
            <a:ext cx="2027145" cy="209550"/>
          </a:xfrm>
          <a:prstGeom prst="rect">
            <a:avLst/>
          </a:prstGeom>
          <a:solidFill>
            <a:srgbClr val="D9D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084B92-0215-F431-071E-6E771A9ECB09}"/>
              </a:ext>
            </a:extLst>
          </p:cNvPr>
          <p:cNvSpPr txBox="1"/>
          <p:nvPr/>
        </p:nvSpPr>
        <p:spPr>
          <a:xfrm>
            <a:off x="11086260" y="825182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80.5~160.9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3444305-9779-4350-2EB8-8E963019BF2A}"/>
              </a:ext>
            </a:extLst>
          </p:cNvPr>
          <p:cNvCxnSpPr/>
          <p:nvPr/>
        </p:nvCxnSpPr>
        <p:spPr>
          <a:xfrm>
            <a:off x="12553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7CCD5E0-E6FD-17E9-6BEB-9A0A7B57F4C6}"/>
              </a:ext>
            </a:extLst>
          </p:cNvPr>
          <p:cNvSpPr txBox="1"/>
          <p:nvPr/>
        </p:nvSpPr>
        <p:spPr>
          <a:xfrm>
            <a:off x="12839700" y="224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진짜 공백은 작음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FA16C0-C2D5-DB54-B285-F70B5A1322BB}"/>
              </a:ext>
            </a:extLst>
          </p:cNvPr>
          <p:cNvSpPr txBox="1"/>
          <p:nvPr/>
        </p:nvSpPr>
        <p:spPr>
          <a:xfrm>
            <a:off x="12839700" y="25717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겉보기 부족분 월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1,337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C167ED-8510-7EBC-5A14-A6D4D29B9A6F}"/>
              </a:ext>
            </a:extLst>
          </p:cNvPr>
          <p:cNvSpPr txBox="1"/>
          <p:nvPr/>
        </p:nvSpPr>
        <p:spPr>
          <a:xfrm>
            <a:off x="12839700" y="29146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8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98</a:t>
            </a:r>
            <a:r>
              <a:rPr lang="ko-KR" altLang="en-US" sz="48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F0C0C3-B3F3-5AF7-6668-D2AA7E83CC60}"/>
              </a:ext>
            </a:extLst>
          </p:cNvPr>
          <p:cNvSpPr txBox="1"/>
          <p:nvPr/>
        </p:nvSpPr>
        <p:spPr>
          <a:xfrm>
            <a:off x="14458950" y="3162300"/>
            <a:ext cx="3219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판정으로 확정한 공백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899B3F-D145-323C-E29C-108BACE341E8}"/>
              </a:ext>
            </a:extLst>
          </p:cNvPr>
          <p:cNvSpPr txBox="1"/>
          <p:nvPr/>
        </p:nvSpPr>
        <p:spPr>
          <a:xfrm>
            <a:off x="12839700" y="3771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사각지대 아님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870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(65%) 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필요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369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A4BC7A4-E7D7-1068-10B5-9E1F517072E2}"/>
              </a:ext>
            </a:extLst>
          </p:cNvPr>
          <p:cNvCxnSpPr/>
          <p:nvPr/>
        </p:nvCxnSpPr>
        <p:spPr>
          <a:xfrm>
            <a:off x="12839700" y="42862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50FFCED-7C52-9C19-DDDA-3AFE30226D36}"/>
              </a:ext>
            </a:extLst>
          </p:cNvPr>
          <p:cNvSpPr txBox="1"/>
          <p:nvPr/>
        </p:nvSpPr>
        <p:spPr>
          <a:xfrm>
            <a:off x="12839700" y="45148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그 동네에선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1.6~2.1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D99C4-1CC7-6675-D60C-A613ADF0C128}"/>
              </a:ext>
            </a:extLst>
          </p:cNvPr>
          <p:cNvSpPr txBox="1"/>
          <p:nvPr/>
        </p:nvSpPr>
        <p:spPr>
          <a:xfrm>
            <a:off x="12839700" y="48387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10</a:t>
            </a:r>
            <a:r>
              <a:rPr lang="ko-KR" altLang="en-US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명 → </a:t>
            </a:r>
            <a:r>
              <a:rPr lang="en-US" altLang="ko-KR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16~22</a:t>
            </a:r>
            <a:r>
              <a:rPr lang="ko-KR" altLang="en-US" sz="30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명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D2C58A-040C-95A3-0C84-DEE3A0C61748}"/>
              </a:ext>
            </a:extLst>
          </p:cNvPr>
          <p:cNvSpPr txBox="1"/>
          <p:nvPr/>
        </p:nvSpPr>
        <p:spPr>
          <a:xfrm>
            <a:off x="12839700" y="54292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방학 월 이용자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기대 이용의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50~100%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회복 시 </a:t>
            </a:r>
            <a:r>
              <a:rPr lang="en-US" altLang="ko-KR" sz="127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+57~114%</a:t>
            </a:r>
            <a:b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다른 기대 모형으로는 최대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+26.7~40.8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 모형이 가장 작게 잡음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31B9FC79-2CCB-AB01-E7FD-F4BD63A9572E}"/>
              </a:ext>
            </a:extLst>
          </p:cNvPr>
          <p:cNvCxnSpPr/>
          <p:nvPr/>
        </p:nvCxnSpPr>
        <p:spPr>
          <a:xfrm>
            <a:off x="12839700" y="66865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C772590-B817-2F84-EEF3-E2FEE2FFF280}"/>
              </a:ext>
            </a:extLst>
          </p:cNvPr>
          <p:cNvSpPr txBox="1"/>
          <p:nvPr/>
        </p:nvSpPr>
        <p:spPr>
          <a:xfrm>
            <a:off x="12839700" y="69151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헛수고를 막는 효과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ADB9B0-0E8B-AEEB-2EFB-722D0A50634C}"/>
              </a:ext>
            </a:extLst>
          </p:cNvPr>
          <p:cNvSpPr txBox="1"/>
          <p:nvPr/>
        </p:nvSpPr>
        <p:spPr>
          <a:xfrm>
            <a:off x="12839700" y="72390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없이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전체에 사업하면</a:t>
            </a:r>
            <a:b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부족분의 약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분의 </a:t>
            </a:r>
            <a:r>
              <a:rPr lang="en-US" altLang="ko-KR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3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를 사각지대 아닌 곳에서 추적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95AFF8-980F-5C87-A881-DB8ECF6A62F5}"/>
              </a:ext>
            </a:extLst>
          </p:cNvPr>
          <p:cNvSpPr txBox="1"/>
          <p:nvPr/>
        </p:nvSpPr>
        <p:spPr>
          <a:xfrm>
            <a:off x="12839700" y="79819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모집은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 → 큰 사업 대신 매 방학 같은 로그로 다시 판정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점검표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회차당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1~2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인일 추정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22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쪽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596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3E08FF8-3FBC-98EB-F31A-CCB51D7A385C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593831A-9749-06DD-4BEB-02E8DFC7AF5C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CA54B-8741-412F-3C9D-7D00A0ACDB70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38AE9-582A-1933-338E-FACA0FFC8CDA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985D8-8E06-0AA5-3273-CCC443DD1D59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DBACB-EFFD-05C8-80A1-6C2A5AA2BD54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68350-7EED-1D0D-4EFE-017949A87A3C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C65E89-1631-2328-967E-023DA07ACCFA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5409C-9699-43D8-9767-8C31D2CE4BA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62850-E82A-1599-74BE-8CEA8E0BDB12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2130E-507E-F833-FA67-F6A696F2EB6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EB751-A876-2432-1D04-14F5C0B7F9F1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3D888-1FFA-3061-65FE-78CB6432907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점검표 제도화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CA35D6-3818-39AB-D678-2EC9C60E09B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운영사 재공모 협약에 ‘방학 급식 사각지대 점검표’ 제출 조항을 넣음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53BFFDE-2250-B913-0C83-C7FA547031A6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3EEBA1-30F4-6F6F-14D3-8D5F8C037620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22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8070C7-6930-F105-239E-EE6169EAC2D1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docs/topics/T2_checkup_tool.md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docs/topics/T2_pilot_design.md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일정과 시범 지역은 제안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E5B168-5976-E40B-88B0-8DEC8588F735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 절차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매 방학 종료 후 </a:t>
            </a:r>
            <a:r>
              <a:rPr lang="en-US" altLang="ko-KR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</a:t>
            </a: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 이내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B814BDC9-7577-E664-53E5-49D68661A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3585"/>
              </p:ext>
            </p:extLst>
          </p:nvPr>
        </p:nvGraphicFramePr>
        <p:xfrm>
          <a:off x="3314700" y="2667000"/>
          <a:ext cx="6667500" cy="3371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2714725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43314531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97963637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할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04841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자료 점검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자동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실제 오류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종을 점검 항목화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합계 대조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취소율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코드 연결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30847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덜 쓰는 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회차 문턱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첫 회 문턱 고정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추적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지속성 표시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6728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가지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 규칙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(D-019)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그대로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가린 칸 두 번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63239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유형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담당 배정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구청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(20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쪽 해결방안 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89820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추적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다음 회차 지표로 효과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139287"/>
                  </a:ext>
                </a:extLst>
              </a:tr>
            </a:tbl>
          </a:graphicData>
        </a:graphic>
      </p:graphicFrame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4A64198-AC6E-B1A7-6B92-EA098EE16421}"/>
              </a:ext>
            </a:extLst>
          </p:cNvPr>
          <p:cNvCxnSpPr/>
          <p:nvPr/>
        </p:nvCxnSpPr>
        <p:spPr>
          <a:xfrm>
            <a:off x="3314700" y="6343650"/>
            <a:ext cx="6667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07946F-D46C-8422-267F-60FD53573046}"/>
              </a:ext>
            </a:extLst>
          </p:cNvPr>
          <p:cNvSpPr txBox="1"/>
          <p:nvPr/>
        </p:nvSpPr>
        <p:spPr>
          <a:xfrm>
            <a:off x="3314700" y="65722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협약 조항안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AE593-51CB-94F6-1C09-7E0DE73177D4}"/>
              </a:ext>
            </a:extLst>
          </p:cNvPr>
          <p:cNvSpPr txBox="1"/>
          <p:nvPr/>
        </p:nvSpPr>
        <p:spPr>
          <a:xfrm>
            <a:off x="3314700" y="69151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2000"/>
              </a:lnSpc>
            </a:pP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“운영자는 매 방학 종료 후 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 이내에 ‘방학 급식 사각지대 점검표’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법정동별 이용 지표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이유 판정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를 작성하여 시에 제출한다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 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공개본은 동 단위 집계로 작성하며 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ko-KR" altLang="en-US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 미만 칸은 가린다</a:t>
            </a:r>
            <a:r>
              <a:rPr lang="en-US" altLang="ko-KR" sz="1350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.”</a:t>
            </a:r>
            <a:endParaRPr lang="ko-KR" altLang="en-US" sz="1350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717AB-A3A1-C572-B524-6A6CF5781449}"/>
              </a:ext>
            </a:extLst>
          </p:cNvPr>
          <p:cNvSpPr txBox="1"/>
          <p:nvPr/>
        </p:nvSpPr>
        <p:spPr>
          <a:xfrm>
            <a:off x="3314700" y="84391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협약 종료 시 동 단위 집계 인계 조항 </a:t>
            </a:r>
            <a:r>
              <a:rPr lang="en-US" altLang="ko-KR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이번 분석</a:t>
            </a:r>
            <a:r>
              <a:rPr lang="en-US" altLang="ko-KR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(0</a:t>
            </a:r>
            <a:r>
              <a:rPr lang="ko-KR" altLang="en-US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회차</a:t>
            </a:r>
            <a:r>
              <a:rPr lang="en-US" altLang="ko-KR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= </a:t>
            </a:r>
            <a:r>
              <a:rPr lang="ko-KR" altLang="en-US" sz="1200" b="1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첫 기준선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7FACD9-BA98-DF3E-E94F-F38F1F662436}"/>
              </a:ext>
            </a:extLst>
          </p:cNvPr>
          <p:cNvSpPr txBox="1"/>
          <p:nvPr/>
        </p:nvSpPr>
        <p:spPr>
          <a:xfrm>
            <a:off x="3314700" y="88392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시점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 운영사 협약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2026-12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종료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새 운영사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2027-01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부터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</a:t>
            </a:r>
            <a:b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공모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10/12~11/10,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아이뉴스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 2026-10-11)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F21B5EA-D958-5C2F-6F6A-36682E4AE9D5}"/>
              </a:ext>
            </a:extLst>
          </p:cNvPr>
          <p:cNvCxnSpPr/>
          <p:nvPr/>
        </p:nvCxnSpPr>
        <p:spPr>
          <a:xfrm>
            <a:off x="10363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52765E6-2BC0-5A4A-0117-5043D74E8BFB}"/>
              </a:ext>
            </a:extLst>
          </p:cNvPr>
          <p:cNvSpPr txBox="1"/>
          <p:nvPr/>
        </p:nvSpPr>
        <p:spPr>
          <a:xfrm>
            <a:off x="10744200" y="22479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로드맵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359621F-C282-A7E5-DA4D-516E44C42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80503"/>
              </p:ext>
            </p:extLst>
          </p:nvPr>
        </p:nvGraphicFramePr>
        <p:xfrm>
          <a:off x="10744200" y="2667000"/>
          <a:ext cx="6934200" cy="2552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1448688066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29746169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시점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할 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009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2026-11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협약 조항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56963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2027-01·02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시범 전 기준 측정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3338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2027-03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회차 점검표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0295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2027-08~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시범 </a:t>
                      </a:r>
                      <a:r>
                        <a:rPr lang="en-US" altLang="ko-KR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5148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2028-03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중간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18218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2029-03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최종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2959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9AB9057-2F51-9DC4-090D-310D346C8DB5}"/>
              </a:ext>
            </a:extLst>
          </p:cNvPr>
          <p:cNvSpPr txBox="1"/>
          <p:nvPr/>
        </p:nvSpPr>
        <p:spPr>
          <a:xfrm>
            <a:off x="10744200" y="53149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2027-04~07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준비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정기 배달편 설계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화원읍 면제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·1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 메뉴 가게 모집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목록 면제 표시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36982A7-DF59-18E4-202A-8B55CEA22AC7}"/>
              </a:ext>
            </a:extLst>
          </p:cNvPr>
          <p:cNvCxnSpPr/>
          <p:nvPr/>
        </p:nvCxnSpPr>
        <p:spPr>
          <a:xfrm>
            <a:off x="10744200" y="5867400"/>
            <a:ext cx="6934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2D37AC-B366-B302-482F-8B7E4834EBB9}"/>
              </a:ext>
            </a:extLst>
          </p:cNvPr>
          <p:cNvSpPr txBox="1"/>
          <p:nvPr/>
        </p:nvSpPr>
        <p:spPr>
          <a:xfrm>
            <a:off x="10744200" y="60769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</a:t>
            </a: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 · 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6C7ABD-BB9D-105D-E968-F5BE5E3808F4}"/>
              </a:ext>
            </a:extLst>
          </p:cNvPr>
          <p:cNvSpPr txBox="1"/>
          <p:nvPr/>
        </p:nvSpPr>
        <p:spPr>
          <a:xfrm>
            <a:off x="12268200" y="60579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북구 학정동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검단동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논공 금포리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0909FA3-DFE6-FD49-A397-846DEBBD7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098488"/>
              </p:ext>
            </p:extLst>
          </p:nvPr>
        </p:nvGraphicFramePr>
        <p:xfrm>
          <a:off x="10744200" y="6477000"/>
          <a:ext cx="6934200" cy="1181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892424034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90284223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403679409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 기간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구별 가능한 최소 증가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기대 증가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 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B)</a:t>
                      </a:r>
                      <a:endParaRPr lang="ko-KR" altLang="en-US" sz="1125" b="1">
                        <a:solidFill>
                          <a:srgbClr val="59524F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04006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+75%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+47~95%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2933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(2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+49%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+47~95%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036115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8BF834A-DC56-0AA3-8A4E-80B3C2A58700}"/>
              </a:ext>
            </a:extLst>
          </p:cNvPr>
          <p:cNvSpPr txBox="1"/>
          <p:nvPr/>
        </p:nvSpPr>
        <p:spPr>
          <a:xfrm>
            <a:off x="10744200" y="77533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자연 변동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반기 표준편차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0.200,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약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238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 → 처음부터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 판정 설계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시범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B(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화원읍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배달형 본리리 포함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는 가격형 탐색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CF59AA1-9499-4EEE-70D2-1221957D01B0}"/>
              </a:ext>
            </a:extLst>
          </p:cNvPr>
          <p:cNvCxnSpPr/>
          <p:nvPr/>
        </p:nvCxnSpPr>
        <p:spPr>
          <a:xfrm>
            <a:off x="10744200" y="8439150"/>
            <a:ext cx="6934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52D076-4DAC-7A5C-B323-1A3B26736FBD}"/>
              </a:ext>
            </a:extLst>
          </p:cNvPr>
          <p:cNvSpPr txBox="1"/>
          <p:nvPr/>
        </p:nvSpPr>
        <p:spPr>
          <a:xfrm>
            <a:off x="10744200" y="86296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비용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03F6B4-5506-0DAD-89DC-6E630A9CB79F}"/>
              </a:ext>
            </a:extLst>
          </p:cNvPr>
          <p:cNvSpPr txBox="1"/>
          <p:nvPr/>
        </p:nvSpPr>
        <p:spPr>
          <a:xfrm>
            <a:off x="10744200" y="89725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새 자료 수집 없음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집계표 → 판정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 노트북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PC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약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회차당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1~2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인일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추정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급식카드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공공배달앱을 쓰는 다른 지자체 </a:t>
            </a:r>
            <a:r>
              <a:rPr lang="en-US" altLang="ko-KR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매장 결제 결합 시 앱 밖 이용까지</a:t>
            </a:r>
          </a:p>
        </p:txBody>
      </p:sp>
    </p:spTree>
    <p:extLst>
      <p:ext uri="{BB962C8B-B14F-4D97-AF65-F5344CB8AC3E}">
        <p14:creationId xmlns:p14="http://schemas.microsoft.com/office/powerpoint/2010/main" val="1218221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2C9E81-A522-95E6-8D14-7E5B24BA8D6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FCD73-344E-0B97-5429-EFFFB2DE8FD3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A2AFA-058E-443B-2C1B-44AE52E743F3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FCBC2-9E8E-0F55-C1B9-DE640B1263D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6F1C0-19A2-1FDF-585C-FCB48361E66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048DD-70C4-7192-1BA8-DD887BF2198F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0B39F-9AEF-5A9D-0614-D62480D8133E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84BBC-7894-6F20-D371-17CB263E1713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F7CB43-6E78-D5D6-0C02-BFDFA68389B8}"/>
              </a:ext>
            </a:extLst>
          </p:cNvPr>
          <p:cNvSpPr/>
          <p:nvPr/>
        </p:nvSpPr>
        <p:spPr>
          <a:xfrm>
            <a:off x="381000" y="763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92CA1-7BC0-C98B-C890-81DDD5A3E8ED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BF437-6955-FC6A-61F2-F1A7E4E741DC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F107E-6B67-1087-DD24-8C9F9FB8BB2C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4A3AB3-E5B3-3FB7-06FA-E0BFAC7E2198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07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한계와 대응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D5E0F-44FB-FCA0-16B0-9875F8ED2D71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지표는 배달 경로 접근성의 하한이고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판단 불가와 사후 개정은 숨기지 않고 기록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99B23EF-F0D8-CF88-F8B2-F945D8F21169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95BEE4-BCE2-6166-D107-7F99196D6B76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23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583CF-3D81-BCF9-15FD-62D6DE1B65A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설계서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§7.1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주장 범위 한정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D-019 · 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결함 처리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docs/topics/T2_export_1016_results.md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7F3AC3E-6B3F-0C29-400D-17AF0F291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169088"/>
              </p:ext>
            </p:extLst>
          </p:nvPr>
        </p:nvGraphicFramePr>
        <p:xfrm>
          <a:off x="3314700" y="2247900"/>
          <a:ext cx="14363700" cy="7296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05500">
                  <a:extLst>
                    <a:ext uri="{9D8B030D-6E8A-4147-A177-3AD203B41FA5}">
                      <a16:colId xmlns:a16="http://schemas.microsoft.com/office/drawing/2014/main" val="3382717441"/>
                    </a:ext>
                  </a:extLst>
                </a:gridCol>
                <a:gridCol w="8458200">
                  <a:extLst>
                    <a:ext uri="{9D8B030D-6E8A-4147-A177-3AD203B41FA5}">
                      <a16:colId xmlns:a16="http://schemas.microsoft.com/office/drawing/2014/main" val="344139538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한계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대응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88001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대구로는 사용처 중 하나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편의점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일반음식점 매장 결제는 미관측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경로 접근성의 하한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기대효과는 ‘식당 한 끼로 가는 경로 회복’으로 한정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 회차에서 시 보유 매장 결제 결합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9191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덜 쓰는 동의 편의점 대체 가능성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‘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경로’ 이유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지역아동센터 정원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로 미포착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‘다른 경로’는 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?’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로 유지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 근거로 쓰지 않음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17616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위치는 아이 집이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 이용 판정으로 보정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4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이동표 결함 → 이웃 동 비교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약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로 대체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4137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성인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(30·40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소득 대리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‘간접’ 근거로 표시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 회차에서 동별 급식카드 대상 아동 수로 교체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71723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배달형 판정은 부분 설명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여건은 아동 수 대비 이용이 적은 이유만 설명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 배달도 함께 줄어 급식 비중 지수는 설명 못 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시범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A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로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984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앱 점검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2026-10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화면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단가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기준 ‘지금 남은 장벽’으로만 해석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34596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본인이 더 낸 돈은 안 보임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금액은 카드 승인액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주문 합계 분포로 간접 확인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(3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원에서 끊김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운영 회차에서 ‘카드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결제’ 비율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73043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이용자 수는 아동 수와 다름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효과 단위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한 달 이용자 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이용자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앱 회원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형제 카드 합산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보호자 명의 가능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58964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반출 결함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미리 정한 대체 규칙으로 판정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이유는 전부 판단 불가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재반출 시 수정 목록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약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보유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81568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결과 확인 후 바꾼 규칙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개정 전 판정 함께 공개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(9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쪽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419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810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808DB61-7737-FF39-B155-3596EC6D216A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5D7444-9F9A-1FFD-60FD-776EEDC5C68A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98D77-808E-CFE7-E0BA-25AC1FE22553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14955-BFCE-4415-0476-64D80A82D420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1FAC2-6F4F-2EB6-D46C-7EB687A948F4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74107-73EC-5776-BC12-FE44C3F83234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08B1C-4A79-66B9-3F82-B14ECED84223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55F20-B32A-E00B-9E6B-9A7FD31F3A99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2BBBA-3242-0878-C16F-66851806C0F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8D982C-0527-AB19-5773-88CED61B5A9C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24297-B17D-E11B-DB03-A4F45A80C94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88B7F-0B03-1CD7-56EA-454F60B64B5D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053DD-897F-C537-B85C-5D4F1328A50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1: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활용 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B56B6-2A4C-4EE9-22F9-8AD55275AB6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미개방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종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공개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3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종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현장 확인을 가맹점 법정동과 행정동으로 연결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7E9A210-B9EC-337A-45DA-082FB7ED1B89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32CADC-D483-349D-D440-C3E5734448A5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A672700-9157-71B9-4279-291FE4AE3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426153"/>
              </p:ext>
            </p:extLst>
          </p:nvPr>
        </p:nvGraphicFramePr>
        <p:xfrm>
          <a:off x="3314700" y="2247900"/>
          <a:ext cx="14363700" cy="68389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114038218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448820016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35949119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21845909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962049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87243699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데이터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제공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쓰임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7605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결제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2023-06~2025-06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 → 가게 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 결제 집계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금액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45559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가맹점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현재 상태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급식카드 등록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영업 상태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주소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794636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배달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고객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2023-06~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건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이용자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시간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배달팁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이용자 연령대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864058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KCB 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 소득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한국데이터산업진흥원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(KCB)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2023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분기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연령대별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부모 세대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(30·40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저소득 비율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필요의 대리 지표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045087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주민등록 연령별 인구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행정안전부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2023-06~2025-06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6~18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세 아이 수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27835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 대응표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행정안전부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2025-06-30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대응 관계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인구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와 가게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를 잇는 동네 묶음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507835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리 경계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국가공간정보포털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2026-09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이웃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8526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현장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현장 확인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동구청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대구시청 복지과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앱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2026-10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 방식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2026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단가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끼로 시킬 수 있는 가게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95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89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101CF59-02C7-5E00-6FD5-72923EFC39E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AA84E6-EAA6-DD9A-304D-EBE44CF9EE57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5FC43-B6AB-C436-7AE4-C2D9E74A5CE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0A06A-8B0F-9D90-F89F-798922D3EFCF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10461-1DC8-3619-5D02-3E5B53F809A4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FD0CF-AB86-E16A-E9AC-87370DFB4489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FF366-7257-8714-5F09-9AB697C0BB91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B0B30-8234-D05B-1E3B-EF0A305669CC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66F07-B746-C905-5431-274C13A3D2B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16C6B0-8FDC-D6E1-0A24-030D1133FF71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FDD5A-3FC0-A960-E17B-FC2A05731261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30A27-BEC6-C5CE-A1A6-CB81A829E240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65AB9B-33BC-ACD9-2942-C7CB3E271F4A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2: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방문과 반출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E4CAF-9358-9BD5-33A0-48977EC353A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데이터안심구역 방문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회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반출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회의 기록과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차 결함 처리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9B66557-3068-BB89-B781-762080A3347A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25B291-7B0B-8559-2843-9158FB59F62C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730563-3A50-45EA-971C-36994C7510D3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가림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고객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명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미만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역산 칸 보완 가림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전 자동 검사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B5F3105-34D9-26FA-1189-D021FC4DA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895091"/>
              </p:ext>
            </p:extLst>
          </p:nvPr>
        </p:nvGraphicFramePr>
        <p:xfrm>
          <a:off x="3314700" y="2247900"/>
          <a:ext cx="14363700" cy="31813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62498592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6756958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193891181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86451109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69042952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회차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날짜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한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반출물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발견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256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2026-09-11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급식카드 결제가 언제 있나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월별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요일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시간대별 집계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방학이 결제의 절반 이상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이용자는 학기의 약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2545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2026-09-18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 정의 확정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 결제와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월별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시간대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가맹점 표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급식은 점심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오후가 두껍고 저녁 피크가 얇다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. 23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시에 끊긴다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75198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2026-10-02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단위로 나누기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시기별 결제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금액 분포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방학에 덜 쓰는 동네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37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아이 수로 봐도 적은 우선 점검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17797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현장 확인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2026-10-08 ~ 10-15</a:t>
                      </a:r>
                      <a:endParaRPr lang="ko-KR" altLang="en-US" sz="1125" b="0">
                        <a:solidFill>
                          <a:srgbClr val="59524F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구청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시청 문의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대구로 앱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 방식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2026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단가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인분 목록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결제는 하루 한도로만 막힌다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. 2026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년 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만 원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. 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최소주문 면제 가게가 있으나 목록에 안 보인다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2232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2026-10-16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상태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소득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결제 금액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집계표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11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(6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개는 일부 결함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판정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사각지대 아님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10 ·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개선 대상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 ·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확인 필요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6797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770599B-93B4-AA9C-525D-E4BD7A4FFD0A}"/>
              </a:ext>
            </a:extLst>
          </p:cNvPr>
          <p:cNvSpPr txBox="1"/>
          <p:nvPr/>
        </p:nvSpPr>
        <p:spPr>
          <a:xfrm>
            <a:off x="3314700" y="5810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반출 결함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건과 처리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현장 손입력 오류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미리 정한 대체 규칙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425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B67F53E-94EE-0431-56E7-882BE3EF2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92560"/>
              </p:ext>
            </p:extLst>
          </p:nvPr>
        </p:nvGraphicFramePr>
        <p:xfrm>
          <a:off x="3314700" y="6229350"/>
          <a:ext cx="14363700" cy="20764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1718848819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684316358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1614493369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424075497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항목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원인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영향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처리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9755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 결제 추출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반복문 안에 들어가야 할 한 줄이 밖으로 나가 마지막 덩어리만 담김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가게 현황의 급식 칸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집→가게 이동표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 대 나머지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이유는 판단 불가로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 이유는 이웃 동네 비교로 대신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미리 정한 규칙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0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24508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여건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날짜 조건과 취소 조건 오타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취소율을 쓸 수 없음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매달 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1~20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일만 집계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 시간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배달팁만 사용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3154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0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KCB </a:t>
                      </a: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소득 연결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KCB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 출장소 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논공 공단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다사 서재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을 본 읍에 합쳐 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논공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다사 동네 묶음의 필요 판정이 비었음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출장소를 본 읍에 연결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인구로 확인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).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규칙 자체는 그대로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06383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8C7F5D-4805-5AC1-9A1E-314DAE4C7F66}"/>
              </a:ext>
            </a:extLst>
          </p:cNvPr>
          <p:cNvSpPr txBox="1"/>
          <p:nvPr/>
        </p:nvSpPr>
        <p:spPr>
          <a:xfrm>
            <a:off x="3314700" y="85344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반출물 폴더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9_11 · 9_18 · 10_2 · 10_16: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회차별 반출 파일과 노트북</a:t>
            </a:r>
          </a:p>
        </p:txBody>
      </p:sp>
    </p:spTree>
    <p:extLst>
      <p:ext uri="{BB962C8B-B14F-4D97-AF65-F5344CB8AC3E}">
        <p14:creationId xmlns:p14="http://schemas.microsoft.com/office/powerpoint/2010/main" val="34446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25E468D-DEE8-F81F-CA2B-3315A965C58B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A54189-CAB5-5FE2-3EF2-FB97BF193145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46730-8A7E-9ADB-0387-ADE69F5A4096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5748F-30B9-D48D-84B7-4557B0B952D2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E23B2-521E-7C09-DA40-9AEADBD74479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9FBCF-F221-A1F4-C87B-AF4211AE7CC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75AF6-22A9-BACC-631C-F569665A210C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1EC6-31A4-0EED-110F-196011673E41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9AB3E-7622-8654-5B4F-AC20E85BD5A4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4C1F2B-1985-2486-EEA9-84BECC3AC763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8033E-BC86-AE24-B579-F80CB6A85694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8F045-F68C-B568-267F-C6CB2D90CE9E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E50F03-CF87-58F9-7C07-61BF4EF6391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3: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센터 안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68ABBC-C5E0-F175-C7F5-B17BC055984B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급식 정의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반출 전 가림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자동 검사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현장 손입력 오류도 점검 항목으로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B253501-A754-F8B9-5D27-187C3B7C45B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48F4A0-622B-0A74-32A0-4742317884CC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26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49F9B-BA0E-2624-9358-27AC6AAC6A32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전체 셀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방문 입력 코드 인쇄본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docs/report/T2_4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_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입력코드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.html 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노트북 함께 제출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8F756-F38A-F0CD-6F49-2D5DDE8B327C}"/>
              </a:ext>
            </a:extLst>
          </p:cNvPr>
          <p:cNvSpPr txBox="1"/>
          <p:nvPr/>
        </p:nvSpPr>
        <p:spPr>
          <a:xfrm>
            <a:off x="3314700" y="2247900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급식 결제 정의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C9A871B-F3F6-B566-42B6-E2CF80EFD44E}"/>
              </a:ext>
            </a:extLst>
          </p:cNvPr>
          <p:cNvCxnSpPr/>
          <p:nvPr/>
        </p:nvCxnSpPr>
        <p:spPr>
          <a:xfrm>
            <a:off x="3314700" y="2686050"/>
            <a:ext cx="0" cy="221361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C8D2C2-D983-D0A9-25CA-6E3FF2407BD6}"/>
              </a:ext>
            </a:extLst>
          </p:cNvPr>
          <p:cNvSpPr txBox="1"/>
          <p:nvPr/>
        </p:nvSpPr>
        <p:spPr>
          <a:xfrm>
            <a:off x="3543300" y="2724150"/>
            <a:ext cx="681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for ch in pd.read_csv(PAY, usecols=[...], dtype=str,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                  chunksize=1_000_000):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ch = ch.apply(lambda s: s.str.strip())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mr.append(ch[(ch[C_GBN].isin(MEAL)) &amp;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             (ch[C_STAT] == DONE)])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m = pd.concat(mr)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m = m[(m.ym &gt;= "202306") &amp; (m.ym &lt;= "202506")]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# 4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차 현장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: mr.append 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줄이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for 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밖으로 →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11%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만 집계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BB5BF9-453C-C2B5-78CA-EA0846C27311}"/>
              </a:ext>
            </a:extLst>
          </p:cNvPr>
          <p:cNvSpPr txBox="1"/>
          <p:nvPr/>
        </p:nvSpPr>
        <p:spPr>
          <a:xfrm>
            <a:off x="10934700" y="22479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전 가림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자동 검사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36BE233-529B-BEEA-73A1-0199536DABB5}"/>
              </a:ext>
            </a:extLst>
          </p:cNvPr>
          <p:cNvCxnSpPr/>
          <p:nvPr/>
        </p:nvCxnSpPr>
        <p:spPr>
          <a:xfrm>
            <a:off x="10934700" y="2686050"/>
            <a:ext cx="0" cy="1946434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F79B18-DB5A-9157-60EA-DE1276A54092}"/>
              </a:ext>
            </a:extLst>
          </p:cNvPr>
          <p:cNvSpPr txBox="1"/>
          <p:nvPr/>
        </p:nvSpPr>
        <p:spPr>
          <a:xfrm>
            <a:off x="11163300" y="2724150"/>
            <a:ext cx="6515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gd[gd &lt; 5] = np.nan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gd.loc[gd.isna().any(axis=1)] = np.nan   # 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한 칸 가리면 동 전체</a:t>
            </a:r>
          </a:p>
          <a:p>
            <a:pPr>
              <a:lnSpc>
                <a:spcPct val="132000"/>
              </a:lnSpc>
            </a:pPr>
            <a:endParaRPr lang="ko-KR" altLang="en-US" sz="1275">
              <a:solidFill>
                <a:srgbClr val="2B2320"/>
              </a:solidFill>
              <a:latin typeface="Roboto Mono" panose="020B0609020204030204" pitchFamily="49" charset="0"/>
            </a:endParaRP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for f in sorted(glob.glob("EXPORT_v4_*.csv")):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e = pd.read_csv(f, encoding="utf-8-sig")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low = int((e[cols] &lt; lim).sum().sum())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print("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통과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 if low == 0 else "※ 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억제 누락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", low, f)</a:t>
            </a:r>
            <a:endParaRPr lang="ko-KR" altLang="en-US" sz="1275">
              <a:solidFill>
                <a:srgbClr val="2B2320"/>
              </a:solidFill>
              <a:latin typeface="Roboto Mono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E72882-A3B8-D197-0913-7E26474B2E2C}"/>
              </a:ext>
            </a:extLst>
          </p:cNvPr>
          <p:cNvSpPr txBox="1"/>
          <p:nvPr/>
        </p:nvSpPr>
        <p:spPr>
          <a:xfrm>
            <a:off x="11163300" y="4765834"/>
            <a:ext cx="6515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자동 검사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저장한 파일을 다시 읽어 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 </a:t>
            </a: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미만 칸을 셈 → ‘통과’ 파일만 반출 신청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3A8C165-B96E-544E-2051-4EF05A7718AF}"/>
              </a:ext>
            </a:extLst>
          </p:cNvPr>
          <p:cNvCxnSpPr/>
          <p:nvPr/>
        </p:nvCxnSpPr>
        <p:spPr>
          <a:xfrm>
            <a:off x="10648950" y="2247900"/>
            <a:ext cx="0" cy="5280184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C2B0585-9321-EF4A-CFC5-29AB8640FA60}"/>
              </a:ext>
            </a:extLst>
          </p:cNvPr>
          <p:cNvCxnSpPr/>
          <p:nvPr/>
        </p:nvCxnSpPr>
        <p:spPr>
          <a:xfrm>
            <a:off x="3314700" y="5623084"/>
            <a:ext cx="7048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F12BF7-1A10-2D8A-717A-55600A14A9B1}"/>
              </a:ext>
            </a:extLst>
          </p:cNvPr>
          <p:cNvSpPr txBox="1"/>
          <p:nvPr/>
        </p:nvSpPr>
        <p:spPr>
          <a:xfrm>
            <a:off x="3314700" y="5851684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현장 오류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C2FF9A-8784-9D51-835D-EE952AE3D94F}"/>
              </a:ext>
            </a:extLst>
          </p:cNvPr>
          <p:cNvSpPr txBox="1"/>
          <p:nvPr/>
        </p:nvSpPr>
        <p:spPr>
          <a:xfrm>
            <a:off x="3314700" y="6194584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2000"/>
              </a:lnSpc>
            </a:pP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mr.append(...)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for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밖으로 나가 마지막 덩어리만 집계 →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38,854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(11%)</a:t>
            </a:r>
          </a:p>
          <a:p>
            <a:pPr>
              <a:lnSpc>
                <a:spcPct val="142000"/>
              </a:lnSpc>
            </a:pP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점검표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단계 ‘급식 결제 합 </a:t>
            </a:r>
            <a:r>
              <a:rPr lang="en-US" altLang="ko-KR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75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원장 합’으로 차단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9ADB2AE-FBC7-3525-0E82-A4A99C7CA38C}"/>
              </a:ext>
            </a:extLst>
          </p:cNvPr>
          <p:cNvCxnSpPr/>
          <p:nvPr/>
        </p:nvCxnSpPr>
        <p:spPr>
          <a:xfrm>
            <a:off x="10934700" y="5623084"/>
            <a:ext cx="674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64E5D84-8BAC-4D2E-2EAB-7BF890F809E4}"/>
              </a:ext>
            </a:extLst>
          </p:cNvPr>
          <p:cNvSpPr txBox="1"/>
          <p:nvPr/>
        </p:nvSpPr>
        <p:spPr>
          <a:xfrm>
            <a:off x="10934700" y="5851684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 자동 검사 결과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1604D3-716B-0BDD-66FA-64FB8E563BE3}"/>
              </a:ext>
            </a:extLst>
          </p:cNvPr>
          <p:cNvSpPr txBox="1"/>
          <p:nvPr/>
        </p:nvSpPr>
        <p:spPr>
          <a:xfrm>
            <a:off x="10934700" y="6213634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CSV 11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 모두 ‘통과’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(5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미만 칸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0)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노트북 출력의 가림 전 표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건은 반출됨 → 그 값은 인용하지 않음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→ 점검표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단계에 ‘출력에 가림 전 표 없음’ 추가</a:t>
            </a:r>
          </a:p>
        </p:txBody>
      </p:sp>
    </p:spTree>
    <p:extLst>
      <p:ext uri="{BB962C8B-B14F-4D97-AF65-F5344CB8AC3E}">
        <p14:creationId xmlns:p14="http://schemas.microsoft.com/office/powerpoint/2010/main" val="862257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27EA6B5-03BB-CC30-02DC-D5922DB0226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0E8560-BBF7-7AAB-34DC-7369937B308D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0D1A9-B5E6-656A-E400-173C3AB82BE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A10EE-F2EC-021E-AEB0-03EF8F225A12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CFD7B-4D06-B6B7-AB80-81B72002FECE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172E6-961A-7839-13A2-B6490DAE7FA6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DDB25-BB5B-BFEA-F696-0F5E2064ADFF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5FFE5-6DC4-DE89-0541-7643810E10D9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F7713-1699-32CD-2585-19178BE90E82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99A61D-4A01-5E7F-1BF4-227262504ED0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E383E9-E6D3-56FA-986B-2F637D8A1397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0FC20A-7B56-7886-8B5E-4B5901442CE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95903-6BEF-B553-AD49-80444B1723D3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4: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센터 밖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8BE484-5E49-8C13-E2F6-21FDC8BE77D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반출 집계에서 판정표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시나리오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지도까지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노트북에서 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1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분 안에 다시 계산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0DA2856-CDFE-83BE-764D-ECA1B3FC119B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2C7E33B-C868-9459-8B4C-C61A0A59617F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27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D860E5-A7AA-DBEC-8A61-4D67AF1AAAFD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가짜 자료로 전 과정 회귀 점검 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코드와 결정은 버전 기록</a:t>
            </a:r>
            <a:r>
              <a:rPr lang="en-US" altLang="ko-KR" sz="11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(git)</a:t>
            </a:r>
            <a:endParaRPr lang="ko-KR" altLang="en-US" sz="1125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EBF70F1-8CB9-BE4F-48B5-2D4F96D35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09733"/>
              </p:ext>
            </p:extLst>
          </p:nvPr>
        </p:nvGraphicFramePr>
        <p:xfrm>
          <a:off x="3314700" y="2247900"/>
          <a:ext cx="6896100" cy="39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71319246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148149144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47542413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코드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출력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66843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10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군구 아동 대비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구별 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10706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20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 아동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144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 25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개월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67981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30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묶음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71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14317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40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지표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진단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후보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37 · 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우선 점검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endParaRPr lang="ko-KR" altLang="en-US" sz="1350" b="0">
                        <a:solidFill>
                          <a:srgbClr val="88838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2672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50·55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지도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군집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Moran’s I · LISA</a:t>
                      </a:r>
                      <a:endParaRPr lang="ko-KR" altLang="en-US" sz="1350" b="0">
                        <a:solidFill>
                          <a:srgbClr val="88838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31899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70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이웃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28676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52749FD-A832-7D99-F8AB-F81370F38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951170"/>
              </p:ext>
            </p:extLst>
          </p:nvPr>
        </p:nvGraphicFramePr>
        <p:xfrm>
          <a:off x="10782300" y="2247900"/>
          <a:ext cx="6896100" cy="39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3299753017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00901936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174601623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코드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단계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출력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49978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80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공급 점검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(MCLP)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공급 기준선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후보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74048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85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B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대 이용 회복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63144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90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이유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32503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95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앱 점검 기록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가능 가게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08252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97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점검표 지도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첫 회 시안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65127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Black Han Sans" panose="02000600000000000000" pitchFamily="2" charset="-127"/>
                          <a:ea typeface="Black Han Sans" panose="02000600000000000000" pitchFamily="2" charset="-127"/>
                        </a:rPr>
                        <a:t>98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Black Han Sans" panose="02000600000000000000" pitchFamily="2" charset="-127"/>
                        <a:ea typeface="Black Han Sans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팀 대시보드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공유 자료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466547"/>
                  </a:ext>
                </a:extLst>
              </a:tr>
            </a:tbl>
          </a:graphicData>
        </a:graphic>
      </p:graphicFrame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779283C-A5E6-EC08-FC8E-548F8F7CDE15}"/>
              </a:ext>
            </a:extLst>
          </p:cNvPr>
          <p:cNvCxnSpPr/>
          <p:nvPr/>
        </p:nvCxnSpPr>
        <p:spPr>
          <a:xfrm>
            <a:off x="10496550" y="2247900"/>
            <a:ext cx="0" cy="3962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747FA3E-F531-D4D6-F11B-26619D07E8E8}"/>
              </a:ext>
            </a:extLst>
          </p:cNvPr>
          <p:cNvCxnSpPr/>
          <p:nvPr/>
        </p:nvCxnSpPr>
        <p:spPr>
          <a:xfrm>
            <a:off x="3314700" y="67246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4DD9A2-3F3A-19F0-D2F2-0DBC71CF0EC7}"/>
              </a:ext>
            </a:extLst>
          </p:cNvPr>
          <p:cNvSpPr txBox="1"/>
          <p:nvPr/>
        </p:nvSpPr>
        <p:spPr>
          <a:xfrm>
            <a:off x="3314700" y="6953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입력과 출력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A220C7-A92D-CC8A-24D6-5CD7ADC168A2}"/>
              </a:ext>
            </a:extLst>
          </p:cNvPr>
          <p:cNvSpPr txBox="1"/>
          <p:nvPr/>
        </p:nvSpPr>
        <p:spPr>
          <a:xfrm>
            <a:off x="3314700" y="73152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입력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집계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CSV(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가림 적용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+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 인구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대응표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+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앱 점검 기록 → 출력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공개본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=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기호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유형만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대시보드 자료</a:t>
            </a:r>
            <a:b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실행 시간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노트북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PC):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11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공급 점검 약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시나리오 약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지도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5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코드 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analysis/outside/10~98</a:t>
            </a:r>
            <a:endParaRPr lang="ko-KR" altLang="en-US" sz="127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00FEBE8-4807-B96C-3E43-3D4FCE15B311}"/>
              </a:ext>
            </a:extLst>
          </p:cNvPr>
          <p:cNvCxnSpPr/>
          <p:nvPr/>
        </p:nvCxnSpPr>
        <p:spPr>
          <a:xfrm>
            <a:off x="3314700" y="82486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A965F1-B826-D27B-BAEE-F5FF2BB0F287}"/>
              </a:ext>
            </a:extLst>
          </p:cNvPr>
          <p:cNvSpPr txBox="1"/>
          <p:nvPr/>
        </p:nvSpPr>
        <p:spPr>
          <a:xfrm>
            <a:off x="3314700" y="8477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 과정 공개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65026A-8883-D361-27E0-CD50B2050FFF}"/>
              </a:ext>
            </a:extLst>
          </p:cNvPr>
          <p:cNvSpPr txBox="1"/>
          <p:nvPr/>
        </p:nvSpPr>
        <p:spPr>
          <a:xfrm>
            <a:off x="3314700" y="88201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코드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센터 입력 코드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결과 문서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작업 기록 전체를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GitHub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저장소에 공개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github.com/________</a:t>
            </a:r>
            <a:endParaRPr lang="ko-KR" altLang="en-US" sz="1425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671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5A24E19-3A33-2B3B-9192-CC95EC91E7A7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DCD516-C701-A538-0787-1D226711444E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0A2FB-7491-4235-B44C-B4B0DAFC6F9A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86B86-D580-FF44-6CD1-4D457C17FA44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E4B3B-ACB5-713C-0EC1-114B69AD42B2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1CBCC-F822-A94D-FE1F-D422D1C946E8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5F6D3-183F-3563-655A-B2AE7090B9F5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F82781-0B02-F42A-9540-BBABE5903324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F05EB-790D-7E3A-EB79-3BEFD6B69BF2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593445-ADA3-2018-E207-746491E37EDE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8A25F-ED24-56F7-019A-E80DD50261D3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C28694-910B-A176-BBC2-E459EFF7AEE0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56E924-9A61-D428-1B94-85F581DB62C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5: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판정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ADB2A-B539-C22B-495C-45527671B5C7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가려진 칸은 최솟값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최댓값으로 두 번 판정해 같을 때만 확정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BC92E7F-7A36-4BD7-6015-BEADAA76D63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B0A629-009C-3342-E19E-0A31EB2EAEA7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28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7B8D29-9A98-47FE-6324-B1ACABBEA1F8}"/>
              </a:ext>
            </a:extLst>
          </p:cNvPr>
          <p:cNvSpPr txBox="1"/>
          <p:nvPr/>
        </p:nvSpPr>
        <p:spPr>
          <a:xfrm>
            <a:off x="3314700" y="224790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핵심 함수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· analysis/outside/90_reason_table.py 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판정 규칙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D-019</a:t>
            </a:r>
            <a:endParaRPr lang="ko-KR" altLang="en-US" sz="1425" b="1">
              <a:solidFill>
                <a:srgbClr val="2B232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450C50-C551-F6A8-04F7-FEA05047A016}"/>
              </a:ext>
            </a:extLst>
          </p:cNvPr>
          <p:cNvCxnSpPr/>
          <p:nvPr/>
        </p:nvCxnSpPr>
        <p:spPr>
          <a:xfrm>
            <a:off x="3314700" y="2686050"/>
            <a:ext cx="0" cy="2747963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E1A4C7-BBB1-BAC2-6C23-C6F2924BCCEC}"/>
              </a:ext>
            </a:extLst>
          </p:cNvPr>
          <p:cNvSpPr txBox="1"/>
          <p:nvPr/>
        </p:nvSpPr>
        <p:spPr>
          <a:xfrm>
            <a:off x="3543300" y="27241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def judge_one(x, hit, ok, bad):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if pd.isna(x):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    return "?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자료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if bad == "low":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    return "●" if x &lt;= hit else ("○" if x &gt;= ok else "?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경계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return "●" if x &gt;= hit else ("○" if x &lt;= ok else "?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경계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")</a:t>
            </a:r>
          </a:p>
          <a:p>
            <a:pPr>
              <a:lnSpc>
                <a:spcPct val="132000"/>
              </a:lnSpc>
            </a:pPr>
            <a:endParaRPr lang="en-US" altLang="ko-KR" sz="1275">
              <a:solidFill>
                <a:srgbClr val="2B2320"/>
              </a:solidFill>
              <a:latin typeface="Roboto Mono" panose="020B0609020204030204" pitchFamily="49" charset="0"/>
            </a:endParaRP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def merge2(a, b, conflict="?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억제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"):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    # 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가린 칸을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0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과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(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가림 문턱 −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1)</a:t>
            </a: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로 채운 두 판정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2B2320"/>
                </a:solidFill>
                <a:latin typeface="Roboto Mono" panose="020B0609020204030204" pitchFamily="49" charset="0"/>
              </a:rPr>
              <a:t>    </a:t>
            </a:r>
            <a:r>
              <a:rPr lang="en-US" altLang="ko-KR" sz="1275">
                <a:solidFill>
                  <a:srgbClr val="2B2320"/>
                </a:solidFill>
                <a:latin typeface="Roboto Mono" panose="020B0609020204030204" pitchFamily="49" charset="0"/>
              </a:rPr>
              <a:t>return a if a == b else conflict</a:t>
            </a:r>
            <a:endParaRPr lang="ko-KR" altLang="en-US" sz="1275">
              <a:solidFill>
                <a:srgbClr val="2B2320"/>
              </a:solidFill>
              <a:latin typeface="Roboto Mono" panose="020B0609020204030204" pitchFamily="49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03082B5-E81E-78DB-AC6B-701DD960A2FA}"/>
              </a:ext>
            </a:extLst>
          </p:cNvPr>
          <p:cNvCxnSpPr/>
          <p:nvPr/>
        </p:nvCxnSpPr>
        <p:spPr>
          <a:xfrm>
            <a:off x="3314700" y="5719763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0E6564-3234-8777-84A7-C73018485B6C}"/>
              </a:ext>
            </a:extLst>
          </p:cNvPr>
          <p:cNvSpPr txBox="1"/>
          <p:nvPr/>
        </p:nvSpPr>
        <p:spPr>
          <a:xfrm>
            <a:off x="3314700" y="5948363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이번 분석 결과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우선 점검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17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곳 </a:t>
            </a:r>
            <a:r>
              <a:rPr lang="en-US" altLang="ko-KR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이유별 판정 수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FB235FB-0BAE-0DEF-5F43-A6232D499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85061"/>
              </p:ext>
            </p:extLst>
          </p:nvPr>
        </p:nvGraphicFramePr>
        <p:xfrm>
          <a:off x="3314700" y="6367463"/>
          <a:ext cx="8191500" cy="2667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60470514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02838109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1208806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83120252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2375188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80268402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4478454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825387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다른 경로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안내</a:t>
                      </a:r>
                      <a:r>
                        <a:rPr lang="en-US" altLang="ko-KR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35438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● 해당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8144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○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9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0726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경계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3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9282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면제 미확인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395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가림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5094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자료 없음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00381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C9A6A0C-E70A-0EA5-A8CE-3BECA384FA5D}"/>
              </a:ext>
            </a:extLst>
          </p:cNvPr>
          <p:cNvCxnSpPr/>
          <p:nvPr/>
        </p:nvCxnSpPr>
        <p:spPr>
          <a:xfrm>
            <a:off x="11791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C17129-FD0A-DA2F-1904-654615E77787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9570B5-02B6-03BB-B175-BC407F8C470D}"/>
              </a:ext>
            </a:extLst>
          </p:cNvPr>
          <p:cNvSpPr txBox="1"/>
          <p:nvPr/>
        </p:nvSpPr>
        <p:spPr>
          <a:xfrm>
            <a:off x="12077700" y="26860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분포 하위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25%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면 해당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중앙값 반대편이면 아님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사이는 경계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(?)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9C41A32-543A-1C4C-38EC-5264027DFD12}"/>
              </a:ext>
            </a:extLst>
          </p:cNvPr>
          <p:cNvCxnSpPr/>
          <p:nvPr/>
        </p:nvCxnSpPr>
        <p:spPr>
          <a:xfrm>
            <a:off x="12077700" y="39052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650E44-F43E-78BE-1302-02E532DF3E1F}"/>
              </a:ext>
            </a:extLst>
          </p:cNvPr>
          <p:cNvSpPr txBox="1"/>
          <p:nvPr/>
        </p:nvSpPr>
        <p:spPr>
          <a:xfrm>
            <a:off x="12077700" y="4095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가린 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08CD1-2E03-2D84-4163-256D1C3047AF}"/>
              </a:ext>
            </a:extLst>
          </p:cNvPr>
          <p:cNvSpPr txBox="1"/>
          <p:nvPr/>
        </p:nvSpPr>
        <p:spPr>
          <a:xfrm>
            <a:off x="12077700" y="4533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과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가림 문턱 −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1)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로 채워 두 번 판정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A2240B0-BA76-4025-C15B-295AC97DCD9E}"/>
              </a:ext>
            </a:extLst>
          </p:cNvPr>
          <p:cNvCxnSpPr/>
          <p:nvPr/>
        </p:nvCxnSpPr>
        <p:spPr>
          <a:xfrm>
            <a:off x="12077700" y="575310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5D01ED2-5E12-A72D-9FE2-9B2412F1067A}"/>
              </a:ext>
            </a:extLst>
          </p:cNvPr>
          <p:cNvSpPr txBox="1"/>
          <p:nvPr/>
        </p:nvSpPr>
        <p:spPr>
          <a:xfrm>
            <a:off x="12077700" y="5943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36FB6F-E877-6247-0147-DBF61DA24212}"/>
              </a:ext>
            </a:extLst>
          </p:cNvPr>
          <p:cNvSpPr txBox="1"/>
          <p:nvPr/>
        </p:nvSpPr>
        <p:spPr>
          <a:xfrm>
            <a:off x="12077700" y="6381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두 판정이 같을 때만 확정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다르면 판단 불가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(?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가림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C5F87C2-9645-4670-6391-06066E9321FE}"/>
              </a:ext>
            </a:extLst>
          </p:cNvPr>
          <p:cNvCxnSpPr/>
          <p:nvPr/>
        </p:nvCxnSpPr>
        <p:spPr>
          <a:xfrm>
            <a:off x="12077700" y="76009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0EE8993-C91C-5C5B-1854-8A0EF6D8CC24}"/>
              </a:ext>
            </a:extLst>
          </p:cNvPr>
          <p:cNvSpPr txBox="1"/>
          <p:nvPr/>
        </p:nvSpPr>
        <p:spPr>
          <a:xfrm>
            <a:off x="12077700" y="77914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4</a:t>
            </a:r>
            <a:r>
              <a:rPr lang="en-US" altLang="ko-KR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묶기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DDF296-56C6-D58E-AB2D-9DCBCA9CE5B3}"/>
              </a:ext>
            </a:extLst>
          </p:cNvPr>
          <p:cNvSpPr txBox="1"/>
          <p:nvPr/>
        </p:nvSpPr>
        <p:spPr>
          <a:xfrm>
            <a:off x="12077700" y="8229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제외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옆 동네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필요 적음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개선 대상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값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남은 이유 추정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안내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2830128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CE8B8B-0A98-4E35-AC14-CF58C34882F4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006F0F-6DB9-DCC1-FC27-D4BBAC57CCC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8C61B-F673-01C1-F782-C4E1F8C4E8BC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1BCD2-2CF8-1DD5-3647-AD01B8904285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DD4FF-BB07-C00F-F0B5-F3ABD5B8007C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FB9CC-F990-6F5C-4D6F-9C79B064353B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57F0D-A4CE-0682-38FE-4F8E7308C836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2B4DD-11F6-D234-1D27-E50AAE20C25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4171F-F97B-2C54-EAF5-6C34FD28BFDE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06BBCC-E5A7-40BE-4A1A-CF4806082F0F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061564-379F-AAD4-148B-D7DB190D09AB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A7F837-F67C-9412-F468-4A95561D82A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B671C-D310-5205-09C8-D5C26A1CA913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6: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분석 기술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D2272D-F74F-08E6-04E1-8B2C63CB3AC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모든 출력은 가림을 적용한 집계에서 계산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11FB925-4F94-9693-DD00-F39ED5ED31B8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044321-7275-C4CB-90F0-C72BD1F7CC6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29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778F7B1-BA81-761A-58FE-BD8B3CAC9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4643"/>
              </p:ext>
            </p:extLst>
          </p:nvPr>
        </p:nvGraphicFramePr>
        <p:xfrm>
          <a:off x="3314700" y="2247900"/>
          <a:ext cx="14363700" cy="68389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3415843229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699653677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42483596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기법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용도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설정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68646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입지계수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급식 비중 지수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LQ)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일반 배달 대비 급식 비중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기준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대구 평균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1,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분모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= 4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차 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시기별 일반 결제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465495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Moran’s I · LISA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공간 군집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뭉침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KNN 6 / Queen, 9,999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회 순열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493308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퍼지 인접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이웃 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닿는 범위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경계 틈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5m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허용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7787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MCLP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부분 커버 탐욕 선택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공급 점검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: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가게 활성화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모집 위치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A)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(1 − 1/e)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보장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문턱 격자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1~50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968858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로그 선형 기대 모형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비슷한 조건 동의 기대 이용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시나리오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B)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자기 단위 빼고 예측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묶음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R² 0.746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085487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가린 칸 두 번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가림이 있어도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과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가림 문턱 −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1)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68179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반기 자연 변동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시범 효과의 최소 구별 크기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방학 앞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뒤 반기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d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의 표준편차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양측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5%·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검정력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80% →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표준편차의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2.8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7278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결합 단위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동네 묶음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Noto Sans KR" panose="02000503000000020004" pitchFamily="2" charset="-127"/>
                        <a:ea typeface="Noto Sans KR" panose="02000503000000020004" pitchFamily="2" charset="-127"/>
                        <a:cs typeface="Noto Sans KR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행정동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법정동 불일치 해결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연결 성분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71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Noto Sans KR" panose="02000503000000020004" pitchFamily="2" charset="-127"/>
                          <a:ea typeface="Noto Sans KR" panose="02000503000000020004" pitchFamily="2" charset="-127"/>
                          <a:cs typeface="Noto Sans KR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576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5636273-B3B6-D921-C49D-B1490CDED787}"/>
              </a:ext>
            </a:extLst>
          </p:cNvPr>
          <p:cNvSpPr txBox="1"/>
          <p:nvPr/>
        </p:nvSpPr>
        <p:spPr>
          <a:xfrm>
            <a:off x="3314700" y="92773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도구</a:t>
            </a: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Python(pandas, geopandas, libpysal, esda)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40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E5B0E9D-1418-7513-9588-4413E299CED4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F26C4A-415A-75AB-17F4-CD1AB7EBF82A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D5F3B-DDFE-4F08-4B4E-5FBC8C02AEC3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A74C7-78F3-8EEF-A95A-178F83A73A8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9F6B7-60E7-5D58-17AD-865B65B16C64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6CFB1-2DDA-B855-4E76-F53A9C95E4A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88C82-24A3-BCAE-A7AF-F7ECBE1B412C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6F97E-0D86-0FE6-EBBF-21E66D133AE8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90500-DDA9-8DBC-18B8-4531CED4C5C4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034483-AFFA-1FBD-B6E1-E40A41A36161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232E82-0AEA-D000-436C-92A2265AA03A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FEF39-4AAF-0B4A-7EE6-206AE581256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83DF58-15AA-11BA-C0C7-1F9C599526FC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7: </a:t>
            </a:r>
            <a:r>
              <a:rPr lang="ko-KR" altLang="en-US" sz="4500">
                <a:solidFill>
                  <a:srgbClr val="2B2320"/>
                </a:solidFill>
                <a:latin typeface="Black Han Sans" panose="02000600000000000000" pitchFamily="2" charset="-127"/>
                <a:ea typeface="Black Han Sans" panose="02000600000000000000" pitchFamily="2" charset="-127"/>
              </a:rPr>
              <a:t>출처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51DE77-FCB6-13CC-44AA-BCB95F96E30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모든 숫자와 확인 사항의 출처를 부서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매체</a:t>
            </a:r>
            <a:r>
              <a:rPr lang="en-US" altLang="ko-KR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Nanum Myeongjo" panose="02000603000000020004" pitchFamily="2" charset="-127"/>
                <a:ea typeface="Nanum Myeongjo" panose="02000603000000020004" pitchFamily="2" charset="-127"/>
                <a:cs typeface="Nanum Myeongjo" panose="02000603000000020004" pitchFamily="2" charset="-127"/>
              </a:rPr>
              <a:t>날짜까지 기록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23B826B-7AA1-ED24-6789-A51915FBA267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50B147-979D-29E1-E546-C411824CBCEF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30 / 30</a:t>
            </a:r>
            <a:endParaRPr lang="ko-KR" altLang="en-US" sz="1200">
              <a:solidFill>
                <a:srgbClr val="888380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D04BB-FAB4-54B6-B603-9E67CF0DA3B9}"/>
              </a:ext>
            </a:extLst>
          </p:cNvPr>
          <p:cNvSpPr txBox="1"/>
          <p:nvPr/>
        </p:nvSpPr>
        <p:spPr>
          <a:xfrm>
            <a:off x="3314700" y="22479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데이터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D58E1-F20B-EF4F-4189-00BA69E871E1}"/>
              </a:ext>
            </a:extLst>
          </p:cNvPr>
          <p:cNvSpPr txBox="1"/>
          <p:nvPr/>
        </p:nvSpPr>
        <p:spPr>
          <a:xfrm>
            <a:off x="3314700" y="27432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플랫폼 데이터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결제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가맹점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배달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고객</a:t>
            </a:r>
            <a:b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경북대 첨단정보통신융합산업기술원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상호제공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 단위 소득 관련 통계</a:t>
            </a:r>
            <a:b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한국데이터산업진흥원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·KCB,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상호제공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주민등록 연령별 인구현황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행정안전부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2023-06~2025-06)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행정동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 대응표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행정안전부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2025-06-30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법정동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리 경계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국가공간정보포털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2026-09)</a:t>
            </a:r>
            <a:endParaRPr lang="ko-KR" altLang="en-US" sz="1350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BCEFF91-A3EA-770E-44FD-C7F05FCFF08E}"/>
              </a:ext>
            </a:extLst>
          </p:cNvPr>
          <p:cNvCxnSpPr/>
          <p:nvPr/>
        </p:nvCxnSpPr>
        <p:spPr>
          <a:xfrm>
            <a:off x="8743950" y="224790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E5F009-E837-C026-B73E-710029C351A2}"/>
              </a:ext>
            </a:extLst>
          </p:cNvPr>
          <p:cNvSpPr txBox="1"/>
          <p:nvPr/>
        </p:nvSpPr>
        <p:spPr>
          <a:xfrm>
            <a:off x="9029700" y="22479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확인 기록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D10D6-7A18-1759-167F-201CDAA19A57}"/>
              </a:ext>
            </a:extLst>
          </p:cNvPr>
          <p:cNvSpPr txBox="1"/>
          <p:nvPr/>
        </p:nvSpPr>
        <p:spPr>
          <a:xfrm>
            <a:off x="9029700" y="27432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동구청 아동청소년과 전화 확인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(2026-10-08)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신청 유형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하루 한도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대구시청 복지과 문의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(2026-10-15)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2026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끼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만 원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 공통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앱 점검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팀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2026-10-15)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인분 목록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가게 상세 화면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기록 시각 보존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C77FE94-6D2E-07A8-DF09-E080FBF95E56}"/>
              </a:ext>
            </a:extLst>
          </p:cNvPr>
          <p:cNvCxnSpPr/>
          <p:nvPr/>
        </p:nvCxnSpPr>
        <p:spPr>
          <a:xfrm>
            <a:off x="13411200" y="224790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26A6A1-149E-9F56-D091-FE0D0925C1F1}"/>
              </a:ext>
            </a:extLst>
          </p:cNvPr>
          <p:cNvSpPr txBox="1"/>
          <p:nvPr/>
        </p:nvSpPr>
        <p:spPr>
          <a:xfrm>
            <a:off x="13696950" y="22479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보도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C97AA-5F65-4FBF-3741-F46039FABDE7}"/>
              </a:ext>
            </a:extLst>
          </p:cNvPr>
          <p:cNvSpPr txBox="1"/>
          <p:nvPr/>
        </p:nvSpPr>
        <p:spPr>
          <a:xfrm>
            <a:off x="13696950" y="27432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경북매일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(2023-05-31)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급식카드 배달 결제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월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일 시행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매일신문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(2024-02-29)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급식 배달비 지원 누적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경북매일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아주경제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(2024-08-01)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달성군 여름방학 아동급식 지원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아이뉴스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24 (2026-10-11)</a:t>
            </a:r>
            <a:b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대구로 운영사 재공모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, 2027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년부터 </a:t>
            </a:r>
            <a:r>
              <a:rPr lang="en-US" altLang="ko-KR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3</a:t>
            </a:r>
            <a:r>
              <a:rPr lang="ko-KR" altLang="en-US" sz="1350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년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422CD3B-60AF-1584-8B1D-1FC67EA2CEAB}"/>
              </a:ext>
            </a:extLst>
          </p:cNvPr>
          <p:cNvCxnSpPr/>
          <p:nvPr/>
        </p:nvCxnSpPr>
        <p:spPr>
          <a:xfrm>
            <a:off x="3314700" y="61531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3C2D0C-E8B8-59E7-714A-A9A63F8D9C99}"/>
              </a:ext>
            </a:extLst>
          </p:cNvPr>
          <p:cNvSpPr txBox="1"/>
          <p:nvPr/>
        </p:nvSpPr>
        <p:spPr>
          <a:xfrm>
            <a:off x="3314700" y="638175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재현 자료 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 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 과정 </a:t>
            </a:r>
            <a:r>
              <a:rPr lang="en-US" altLang="ko-KR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GitHub </a:t>
            </a:r>
            <a:r>
              <a:rPr lang="ko-KR" altLang="en-US" sz="15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CC67F-DDEA-3F23-1C1D-6BD17AA35B1F}"/>
              </a:ext>
            </a:extLst>
          </p:cNvPr>
          <p:cNvSpPr txBox="1"/>
          <p:nvPr/>
        </p:nvSpPr>
        <p:spPr>
          <a:xfrm>
            <a:off x="11010900" y="64198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github.com/________</a:t>
            </a:r>
            <a:endParaRPr lang="ko-KR" altLang="en-US" sz="1425" b="1">
              <a:solidFill>
                <a:srgbClr val="E6394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68EDC3-E912-DD7A-9216-609861ED33ED}"/>
              </a:ext>
            </a:extLst>
          </p:cNvPr>
          <p:cNvSpPr txBox="1"/>
          <p:nvPr/>
        </p:nvSpPr>
        <p:spPr>
          <a:xfrm>
            <a:off x="33147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코드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90730B-FE9D-98CC-F182-ACA798D41406}"/>
              </a:ext>
            </a:extLst>
          </p:cNvPr>
          <p:cNvSpPr txBox="1"/>
          <p:nvPr/>
        </p:nvSpPr>
        <p:spPr>
          <a:xfrm>
            <a:off x="33147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analysis/outside/10~98 (Python)</a:t>
            </a:r>
            <a:endParaRPr lang="ko-KR" altLang="en-US" sz="11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C6DE164-B9AA-2EB0-93AA-BDB580B58C2D}"/>
              </a:ext>
            </a:extLst>
          </p:cNvPr>
          <p:cNvCxnSpPr/>
          <p:nvPr/>
        </p:nvCxnSpPr>
        <p:spPr>
          <a:xfrm>
            <a:off x="67627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C639FB-3FAF-F4D0-4785-3D55B25E9489}"/>
              </a:ext>
            </a:extLst>
          </p:cNvPr>
          <p:cNvSpPr txBox="1"/>
          <p:nvPr/>
        </p:nvSpPr>
        <p:spPr>
          <a:xfrm>
            <a:off x="70485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센터 입력 코드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CFBC8D-8047-632D-9C1D-BF3AE8C4C3E2}"/>
              </a:ext>
            </a:extLst>
          </p:cNvPr>
          <p:cNvSpPr txBox="1"/>
          <p:nvPr/>
        </p:nvSpPr>
        <p:spPr>
          <a:xfrm>
            <a:off x="70485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docs/report/T2_4</a:t>
            </a:r>
            <a:r>
              <a:rPr lang="ko-KR" altLang="en-US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_</a:t>
            </a:r>
            <a:r>
              <a:rPr lang="ko-KR" altLang="en-US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입력코드</a:t>
            </a: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.html</a:t>
            </a:r>
            <a:endParaRPr lang="ko-KR" altLang="en-US" sz="11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2D9B432-D9D6-195B-6A58-8137C6BDC724}"/>
              </a:ext>
            </a:extLst>
          </p:cNvPr>
          <p:cNvCxnSpPr/>
          <p:nvPr/>
        </p:nvCxnSpPr>
        <p:spPr>
          <a:xfrm>
            <a:off x="104965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1C25C4-AE3F-B2EF-058A-E5B152AA85EE}"/>
              </a:ext>
            </a:extLst>
          </p:cNvPr>
          <p:cNvSpPr txBox="1"/>
          <p:nvPr/>
        </p:nvSpPr>
        <p:spPr>
          <a:xfrm>
            <a:off x="107823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9D6213-7F33-10FC-0139-9B46110F5FFA}"/>
              </a:ext>
            </a:extLst>
          </p:cNvPr>
          <p:cNvSpPr txBox="1"/>
          <p:nvPr/>
        </p:nvSpPr>
        <p:spPr>
          <a:xfrm>
            <a:off x="107823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docs/DECISIONS.md (D-012~D-020)</a:t>
            </a:r>
            <a:endParaRPr lang="ko-KR" altLang="en-US" sz="11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E88162B-C45D-77C4-D41C-5D0871ADFF30}"/>
              </a:ext>
            </a:extLst>
          </p:cNvPr>
          <p:cNvCxnSpPr/>
          <p:nvPr/>
        </p:nvCxnSpPr>
        <p:spPr>
          <a:xfrm>
            <a:off x="142303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1B94B2C-2264-DD7C-C9FA-698813794A9A}"/>
              </a:ext>
            </a:extLst>
          </p:cNvPr>
          <p:cNvSpPr txBox="1"/>
          <p:nvPr/>
        </p:nvSpPr>
        <p:spPr>
          <a:xfrm>
            <a:off x="145161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결과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F29E0-E529-D031-521D-875879555A9C}"/>
              </a:ext>
            </a:extLst>
          </p:cNvPr>
          <p:cNvSpPr txBox="1"/>
          <p:nvPr/>
        </p:nvSpPr>
        <p:spPr>
          <a:xfrm>
            <a:off x="145161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docs/topics/T2_export_*_results.md (1~4</a:t>
            </a:r>
            <a:r>
              <a:rPr lang="ko-KR" altLang="en-US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차</a:t>
            </a:r>
            <a:r>
              <a:rPr lang="en-US" altLang="ko-KR" sz="112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)</a:t>
            </a:r>
            <a:endParaRPr lang="ko-KR" altLang="en-US" sz="1125">
              <a:solidFill>
                <a:srgbClr val="59524F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A438E7-B443-DD42-44DC-8E5A3E38494D}"/>
              </a:ext>
            </a:extLst>
          </p:cNvPr>
          <p:cNvSpPr txBox="1"/>
          <p:nvPr/>
        </p:nvSpPr>
        <p:spPr>
          <a:xfrm>
            <a:off x="3314700" y="80581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분석 코드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센터 입력 코드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결정 기록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반출 결과 문서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작업 기록</a:t>
            </a:r>
            <a:r>
              <a:rPr lang="en-US" altLang="ko-KR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(git) </a:t>
            </a:r>
            <a:r>
              <a:rPr lang="ko-KR" altLang="en-US" sz="1275">
                <a:solidFill>
                  <a:srgbClr val="59524F"/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전체를 같은 저장소에 공개</a:t>
            </a:r>
          </a:p>
        </p:txBody>
      </p:sp>
    </p:spTree>
    <p:extLst>
      <p:ext uri="{BB962C8B-B14F-4D97-AF65-F5344CB8AC3E}">
        <p14:creationId xmlns:p14="http://schemas.microsoft.com/office/powerpoint/2010/main" val="3957057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2B2320"/>
      </a:dk1>
      <a:lt1>
        <a:srgbClr val="FFFFFF"/>
      </a:lt1>
      <a:dk2>
        <a:srgbClr val="2B2320"/>
      </a:dk2>
      <a:lt2>
        <a:srgbClr val="FAF8F5"/>
      </a:lt2>
      <a:accent1>
        <a:srgbClr val="E63946"/>
      </a:accent1>
      <a:accent2>
        <a:srgbClr val="F4A261"/>
      </a:accent2>
      <a:accent3>
        <a:srgbClr val="A09C9B"/>
      </a:accent3>
      <a:accent4>
        <a:srgbClr val="F29CA2"/>
      </a:accent4>
      <a:accent5>
        <a:srgbClr val="FAD0B0"/>
      </a:accent5>
      <a:accent6>
        <a:srgbClr val="CAC8C7"/>
      </a:accent6>
      <a:hlink>
        <a:srgbClr val="E63946"/>
      </a:hlink>
      <a:folHlink>
        <a:srgbClr val="2B232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B232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2B2320"/>
      </a:dk1>
      <a:lt1>
        <a:srgbClr val="FFFFFF"/>
      </a:lt1>
      <a:dk2>
        <a:srgbClr val="2B2320"/>
      </a:dk2>
      <a:lt2>
        <a:srgbClr val="FAF8F5"/>
      </a:lt2>
      <a:accent1>
        <a:srgbClr val="E63946"/>
      </a:accent1>
      <a:accent2>
        <a:srgbClr val="F4A261"/>
      </a:accent2>
      <a:accent3>
        <a:srgbClr val="A09C9B"/>
      </a:accent3>
      <a:accent4>
        <a:srgbClr val="F29CA2"/>
      </a:accent4>
      <a:accent5>
        <a:srgbClr val="FAD0B0"/>
      </a:accent5>
      <a:accent6>
        <a:srgbClr val="CAC8C7"/>
      </a:accent6>
      <a:hlink>
        <a:srgbClr val="E63946"/>
      </a:hlink>
      <a:folHlink>
        <a:srgbClr val="2B232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B232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10398</Words>
  <Application>Microsoft Office PowerPoint</Application>
  <PresentationFormat>사용자 지정</PresentationFormat>
  <Paragraphs>1711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Pretendard</vt:lpstr>
      <vt:lpstr>Pretendard Medium</vt:lpstr>
      <vt:lpstr>맑은 고딕</vt:lpstr>
      <vt:lpstr>Suseong Dotum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김동훈(학부생-AI빅데이터융합경영학과)</dc:creator>
  <cp:lastModifiedBy>김동훈(학부생-AI빅데이터융합경영학과)</cp:lastModifiedBy>
  <cp:revision>1</cp:revision>
  <dcterms:created xsi:type="dcterms:W3CDTF">2026-10-21T01:39:42Z</dcterms:created>
  <dcterms:modified xsi:type="dcterms:W3CDTF">2026-10-21T01:39:42Z</dcterms:modified>
</cp:coreProperties>
</file>