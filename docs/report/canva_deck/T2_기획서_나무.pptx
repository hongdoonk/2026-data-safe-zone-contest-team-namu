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9BC11-AC1A-4C5D-8418-ACE4EDC2F3A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1AE4D-BC0F-4792-A7CB-CDD0CA66B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76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표지</a:t>
            </a:r>
            <a:r>
              <a:rPr lang="en-US" altLang="ko-KR"/>
              <a:t>. </a:t>
            </a:r>
            <a:r>
              <a:rPr lang="ko-KR" altLang="en-US"/>
              <a:t>팀 나무</a:t>
            </a:r>
            <a:r>
              <a:rPr lang="en-US" altLang="ko-KR"/>
              <a:t>: </a:t>
            </a:r>
            <a:r>
              <a:rPr lang="ko-KR" altLang="en-US"/>
              <a:t>김동훈</a:t>
            </a:r>
            <a:r>
              <a:rPr lang="en-US" altLang="ko-KR"/>
              <a:t>·</a:t>
            </a:r>
            <a:r>
              <a:rPr lang="ko-KR" altLang="en-US"/>
              <a:t>나선엽</a:t>
            </a:r>
            <a:r>
              <a:rPr lang="en-US" altLang="ko-KR"/>
              <a:t>·</a:t>
            </a:r>
            <a:r>
              <a:rPr lang="ko-KR" altLang="en-US"/>
              <a:t>이승혁</a:t>
            </a:r>
            <a:r>
              <a:rPr lang="en-US" altLang="ko-KR"/>
              <a:t>·</a:t>
            </a:r>
            <a:r>
              <a:rPr lang="ko-KR" altLang="en-US"/>
              <a:t>정다현</a:t>
            </a:r>
            <a:r>
              <a:rPr lang="en-US" altLang="ko-KR"/>
              <a:t>.
</a:t>
            </a:r>
            <a:r>
              <a:rPr lang="ko-KR" altLang="en-US"/>
              <a:t>오른쪽 그래프는 실제 월별 급식카드 결제 건수</a:t>
            </a:r>
            <a:r>
              <a:rPr lang="en-US" altLang="ko-KR"/>
              <a:t>(2</a:t>
            </a:r>
            <a:r>
              <a:rPr lang="ko-KR" altLang="en-US"/>
              <a:t>차 반출</a:t>
            </a:r>
            <a:r>
              <a:rPr lang="en-US" altLang="ko-KR"/>
              <a:t>). </a:t>
            </a:r>
            <a:r>
              <a:rPr lang="ko-KR" altLang="en-US"/>
              <a:t>레드 </a:t>
            </a:r>
            <a:r>
              <a:rPr lang="en-US" altLang="ko-KR"/>
              <a:t>= </a:t>
            </a:r>
            <a:r>
              <a:rPr lang="ko-KR" altLang="en-US"/>
              <a:t>방학 달</a:t>
            </a:r>
            <a:r>
              <a:rPr lang="en-US" altLang="ko-KR"/>
              <a:t>. </a:t>
            </a:r>
            <a:r>
              <a:rPr lang="ko-KR" altLang="en-US"/>
              <a:t>첫 발견</a:t>
            </a:r>
            <a:r>
              <a:rPr lang="en-US" altLang="ko-KR"/>
              <a:t>: </a:t>
            </a:r>
            <a:r>
              <a:rPr lang="ko-KR" altLang="en-US"/>
              <a:t>결제가 방학에 몰림</a:t>
            </a:r>
            <a:r>
              <a:rPr lang="en-US" altLang="ko-KR"/>
              <a:t>.
</a:t>
            </a:r>
            <a:r>
              <a:rPr lang="ko-KR" altLang="en-US"/>
              <a:t>분석 코드와 문서</a:t>
            </a:r>
            <a:r>
              <a:rPr lang="en-US" altLang="ko-KR"/>
              <a:t>, </a:t>
            </a:r>
            <a:r>
              <a:rPr lang="ko-KR" altLang="en-US"/>
              <a:t>작업 기록은 모두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80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 장 요약</a:t>
            </a:r>
            <a:r>
              <a:rPr lang="en-US" altLang="ko-KR"/>
              <a:t>. </a:t>
            </a:r>
            <a:r>
              <a:rPr lang="ko-KR" altLang="en-US"/>
              <a:t>결론</a:t>
            </a:r>
            <a:r>
              <a:rPr lang="en-US" altLang="ko-KR"/>
              <a:t>: </a:t>
            </a:r>
            <a:r>
              <a:rPr lang="ko-KR" altLang="en-US"/>
              <a:t>가게를 더 모으는 것보다 방학마다 덜 쓰는 동을 판정해 필요한 몇 곳에 해결방안을 모으는 장치</a:t>
            </a:r>
            <a:r>
              <a:rPr lang="en-US" altLang="ko-KR"/>
              <a:t>.
</a:t>
            </a:r>
            <a:r>
              <a:rPr lang="ko-KR" altLang="en-US"/>
              <a:t>숫자 셋</a:t>
            </a:r>
            <a:r>
              <a:rPr lang="en-US" altLang="ko-KR"/>
              <a:t>: </a:t>
            </a:r>
            <a:r>
              <a:rPr lang="ko-KR" altLang="en-US"/>
              <a:t>가게는 이미 </a:t>
            </a:r>
            <a:r>
              <a:rPr lang="en-US" altLang="ko-KR"/>
              <a:t>99.9%</a:t>
            </a:r>
            <a:r>
              <a:rPr lang="ko-KR" altLang="en-US"/>
              <a:t>의 아이에게 닿음</a:t>
            </a:r>
            <a:r>
              <a:rPr lang="en-US" altLang="ko-KR"/>
              <a:t>(</a:t>
            </a:r>
            <a:r>
              <a:rPr lang="ko-KR" altLang="en-US"/>
              <a:t>모집 효과 </a:t>
            </a:r>
            <a:r>
              <a:rPr lang="en-US" altLang="ko-KR"/>
              <a:t>0), </a:t>
            </a:r>
            <a:r>
              <a:rPr lang="ko-KR" altLang="en-US"/>
              <a:t>겉보기 부족분의 </a:t>
            </a:r>
            <a:r>
              <a:rPr lang="en-US" altLang="ko-KR"/>
              <a:t>65%</a:t>
            </a:r>
            <a:r>
              <a:rPr lang="ko-KR" altLang="en-US"/>
              <a:t>는 사각지대가 아닌 곳</a:t>
            </a:r>
            <a:r>
              <a:rPr lang="en-US" altLang="ko-KR"/>
              <a:t>, </a:t>
            </a:r>
            <a:r>
              <a:rPr lang="ko-KR" altLang="en-US"/>
              <a:t>개선이 필요한 곳은 </a:t>
            </a:r>
            <a:r>
              <a:rPr lang="en-US" altLang="ko-KR"/>
              <a:t>4</a:t>
            </a:r>
            <a:r>
              <a:rPr lang="ko-KR" altLang="en-US"/>
              <a:t>개 동</a:t>
            </a:r>
            <a:r>
              <a:rPr lang="en-US" altLang="ko-KR"/>
              <a:t>.
</a:t>
            </a:r>
            <a:r>
              <a:rPr lang="ko-KR" altLang="en-US"/>
              <a:t>해결방안 셋</a:t>
            </a:r>
            <a:r>
              <a:rPr lang="en-US" altLang="ko-KR"/>
              <a:t>: </a:t>
            </a:r>
            <a:r>
              <a:rPr lang="ko-KR" altLang="en-US"/>
              <a:t>방학 정기 배달편</a:t>
            </a:r>
            <a:r>
              <a:rPr lang="en-US" altLang="ko-KR"/>
              <a:t>, </a:t>
            </a:r>
            <a:r>
              <a:rPr lang="ko-KR" altLang="en-US"/>
              <a:t>앱 목록 면제 표시</a:t>
            </a:r>
            <a:r>
              <a:rPr lang="en-US" altLang="ko-KR"/>
              <a:t>, </a:t>
            </a:r>
            <a:r>
              <a:rPr lang="ko-KR" altLang="en-US"/>
              <a:t>운영사 협약에 점검표 조항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884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배경</a:t>
            </a:r>
            <a:r>
              <a:rPr lang="en-US" altLang="ko-KR"/>
              <a:t>. 2023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월부터 대구로 앱에서 급식카드 배달 결제가 된다</a:t>
            </a:r>
            <a:r>
              <a:rPr lang="en-US" altLang="ko-KR"/>
              <a:t>.
</a:t>
            </a:r>
            <a:r>
              <a:rPr lang="ko-KR" altLang="en-US"/>
              <a:t>지원 구조</a:t>
            </a:r>
            <a:r>
              <a:rPr lang="en-US" altLang="ko-KR"/>
              <a:t>: </a:t>
            </a:r>
            <a:r>
              <a:rPr lang="ko-KR" altLang="en-US"/>
              <a:t>끼니를 골라 신청</a:t>
            </a:r>
            <a:r>
              <a:rPr lang="en-US" altLang="ko-KR"/>
              <a:t>, </a:t>
            </a:r>
            <a:r>
              <a:rPr lang="ko-KR" altLang="en-US"/>
              <a:t>결제는 하루 한도로만 막힘</a:t>
            </a:r>
            <a:r>
              <a:rPr lang="en-US" altLang="ko-KR"/>
              <a:t>, 2026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끼 </a:t>
            </a:r>
            <a:r>
              <a:rPr lang="en-US" altLang="ko-KR"/>
              <a:t>1</a:t>
            </a:r>
            <a:r>
              <a:rPr lang="ko-KR" altLang="en-US"/>
              <a:t>만 원</a:t>
            </a:r>
            <a:r>
              <a:rPr lang="en-US" altLang="ko-KR"/>
              <a:t>(</a:t>
            </a:r>
            <a:r>
              <a:rPr lang="ko-KR" altLang="en-US"/>
              <a:t>구청</a:t>
            </a:r>
            <a:r>
              <a:rPr lang="en-US" altLang="ko-KR"/>
              <a:t>·</a:t>
            </a:r>
            <a:r>
              <a:rPr lang="ko-KR" altLang="en-US"/>
              <a:t>시청 확인</a:t>
            </a:r>
            <a:r>
              <a:rPr lang="en-US" altLang="ko-KR"/>
              <a:t>).
</a:t>
            </a:r>
            <a:r>
              <a:rPr lang="ko-KR" altLang="en-US"/>
              <a:t>기존 평가는 가맹점 수였다</a:t>
            </a:r>
            <a:r>
              <a:rPr lang="en-US" altLang="ko-KR"/>
              <a:t>. </a:t>
            </a:r>
            <a:r>
              <a:rPr lang="ko-KR" altLang="en-US"/>
              <a:t>우리는 결제 로그로 실제 주문이 일어나는지를 동 단위로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138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질문을 세 축으로 나눈다</a:t>
            </a:r>
            <a:r>
              <a:rPr lang="en-US" altLang="ko-KR"/>
              <a:t>. </a:t>
            </a:r>
            <a:r>
              <a:rPr lang="ko-KR" altLang="en-US"/>
              <a:t>시간</a:t>
            </a:r>
            <a:r>
              <a:rPr lang="en-US" altLang="ko-KR"/>
              <a:t>(</a:t>
            </a:r>
            <a:r>
              <a:rPr lang="ko-KR" altLang="en-US"/>
              <a:t>언제</a:t>
            </a:r>
            <a:r>
              <a:rPr lang="en-US" altLang="ko-KR"/>
              <a:t>), </a:t>
            </a:r>
            <a:r>
              <a:rPr lang="ko-KR" altLang="en-US"/>
              <a:t>공간</a:t>
            </a:r>
            <a:r>
              <a:rPr lang="en-US" altLang="ko-KR"/>
              <a:t>(</a:t>
            </a:r>
            <a:r>
              <a:rPr lang="ko-KR" altLang="en-US"/>
              <a:t>어디서</a:t>
            </a:r>
            <a:r>
              <a:rPr lang="en-US" altLang="ko-KR"/>
              <a:t>), </a:t>
            </a:r>
            <a:r>
              <a:rPr lang="ko-KR" altLang="en-US"/>
              <a:t>제도</a:t>
            </a:r>
            <a:r>
              <a:rPr lang="en-US" altLang="ko-KR"/>
              <a:t>(</a:t>
            </a:r>
            <a:r>
              <a:rPr lang="ko-KR" altLang="en-US"/>
              <a:t>무엇이 막나</a:t>
            </a:r>
            <a:r>
              <a:rPr lang="en-US" altLang="ko-KR"/>
              <a:t>).
</a:t>
            </a:r>
            <a:r>
              <a:rPr lang="ko-KR" altLang="en-US"/>
              <a:t>분석 질문은 넷</a:t>
            </a:r>
            <a:r>
              <a:rPr lang="en-US" altLang="ko-KR"/>
              <a:t>: </a:t>
            </a:r>
            <a:r>
              <a:rPr lang="ko-KR" altLang="en-US"/>
              <a:t>언제 쓰나</a:t>
            </a:r>
            <a:r>
              <a:rPr lang="en-US" altLang="ko-KR"/>
              <a:t>, </a:t>
            </a:r>
            <a:r>
              <a:rPr lang="ko-KR" altLang="en-US"/>
              <a:t>실제로 덜 쓰는 동은 어디인가</a:t>
            </a:r>
            <a:r>
              <a:rPr lang="en-US" altLang="ko-KR"/>
              <a:t>, </a:t>
            </a:r>
            <a:r>
              <a:rPr lang="ko-KR" altLang="en-US"/>
              <a:t>왜 덜 쓰나</a:t>
            </a:r>
            <a:r>
              <a:rPr lang="en-US" altLang="ko-KR"/>
              <a:t>, </a:t>
            </a:r>
            <a:r>
              <a:rPr lang="ko-KR" altLang="en-US"/>
              <a:t>무엇을 하면 더 쓰나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204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분석은 세 단계</a:t>
            </a:r>
            <a:r>
              <a:rPr lang="en-US" altLang="ko-KR"/>
              <a:t>. </a:t>
            </a:r>
            <a:r>
              <a:rPr lang="ko-KR" altLang="en-US"/>
              <a:t>진단에서 덜 쓰는 동을 고르고</a:t>
            </a:r>
            <a:r>
              <a:rPr lang="en-US" altLang="ko-KR"/>
              <a:t>, </a:t>
            </a:r>
            <a:r>
              <a:rPr lang="ko-KR" altLang="en-US"/>
              <a:t>이유 </a:t>
            </a:r>
            <a:r>
              <a:rPr lang="en-US" altLang="ko-KR"/>
              <a:t>7</a:t>
            </a:r>
            <a:r>
              <a:rPr lang="ko-KR" altLang="en-US"/>
              <a:t>가지를 판정하고</a:t>
            </a:r>
            <a:r>
              <a:rPr lang="en-US" altLang="ko-KR"/>
              <a:t>, </a:t>
            </a:r>
            <a:r>
              <a:rPr lang="ko-KR" altLang="en-US"/>
              <a:t>유형별로 해결방안과 효과를 낸다</a:t>
            </a:r>
            <a:r>
              <a:rPr lang="en-US" altLang="ko-KR"/>
              <a:t>.
</a:t>
            </a:r>
            <a:r>
              <a:rPr lang="ko-KR" altLang="en-US"/>
              <a:t>판정 규칙은 </a:t>
            </a:r>
            <a:r>
              <a:rPr lang="en-US" altLang="ko-KR"/>
              <a:t>4</a:t>
            </a:r>
            <a:r>
              <a:rPr lang="ko-KR" altLang="en-US"/>
              <a:t>차 반출물을 보기 전에 고정했다</a:t>
            </a:r>
            <a:r>
              <a:rPr lang="en-US" altLang="ko-KR"/>
              <a:t>. </a:t>
            </a:r>
            <a:r>
              <a:rPr lang="ko-KR" altLang="en-US"/>
              <a:t>시나리오 숫자는 가정 아래 계산이라 진단 결론과 섞지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49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 연계</a:t>
            </a:r>
            <a:r>
              <a:rPr lang="en-US" altLang="ko-KR"/>
              <a:t>. </a:t>
            </a:r>
            <a:r>
              <a:rPr lang="ko-KR" altLang="en-US"/>
              <a:t>안심구역의 미개방 상호제공 데이터</a:t>
            </a:r>
            <a:r>
              <a:rPr lang="en-US" altLang="ko-KR"/>
              <a:t>(</a:t>
            </a:r>
            <a:r>
              <a:rPr lang="ko-KR" altLang="en-US"/>
              <a:t>대구로 결제</a:t>
            </a:r>
            <a:r>
              <a:rPr lang="en-US" altLang="ko-KR"/>
              <a:t>·</a:t>
            </a:r>
            <a:r>
              <a:rPr lang="ko-KR" altLang="en-US"/>
              <a:t>가맹점</a:t>
            </a:r>
            <a:r>
              <a:rPr lang="en-US" altLang="ko-KR"/>
              <a:t>·</a:t>
            </a:r>
            <a:r>
              <a:rPr lang="ko-KR" altLang="en-US"/>
              <a:t>배달</a:t>
            </a:r>
            <a:r>
              <a:rPr lang="en-US" altLang="ko-KR"/>
              <a:t>·</a:t>
            </a:r>
            <a:r>
              <a:rPr lang="ko-KR" altLang="en-US"/>
              <a:t>고객</a:t>
            </a:r>
            <a:r>
              <a:rPr lang="en-US" altLang="ko-KR"/>
              <a:t>, KCB </a:t>
            </a:r>
            <a:r>
              <a:rPr lang="ko-KR" altLang="en-US"/>
              <a:t>소득</a:t>
            </a:r>
            <a:r>
              <a:rPr lang="en-US" altLang="ko-KR"/>
              <a:t>)</a:t>
            </a:r>
            <a:r>
              <a:rPr lang="ko-KR" altLang="en-US"/>
              <a:t>에
공개 데이터</a:t>
            </a:r>
            <a:r>
              <a:rPr lang="en-US" altLang="ko-KR"/>
              <a:t>(</a:t>
            </a:r>
            <a:r>
              <a:rPr lang="ko-KR" altLang="en-US"/>
              <a:t>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경계</a:t>
            </a:r>
            <a:r>
              <a:rPr lang="en-US" altLang="ko-KR"/>
              <a:t>)</a:t>
            </a:r>
            <a:r>
              <a:rPr lang="ko-KR" altLang="en-US"/>
              <a:t>와 현장 확인</a:t>
            </a:r>
            <a:r>
              <a:rPr lang="en-US" altLang="ko-KR"/>
              <a:t>(</a:t>
            </a:r>
            <a:r>
              <a:rPr lang="ko-KR" altLang="en-US"/>
              <a:t>앱 점검</a:t>
            </a:r>
            <a:r>
              <a:rPr lang="en-US" altLang="ko-KR"/>
              <a:t>, </a:t>
            </a:r>
            <a:r>
              <a:rPr lang="ko-KR" altLang="en-US"/>
              <a:t>구청</a:t>
            </a:r>
            <a:r>
              <a:rPr lang="en-US" altLang="ko-KR"/>
              <a:t>·</a:t>
            </a:r>
            <a:r>
              <a:rPr lang="ko-KR" altLang="en-US"/>
              <a:t>시청</a:t>
            </a:r>
            <a:r>
              <a:rPr lang="en-US" altLang="ko-KR"/>
              <a:t>)</a:t>
            </a:r>
            <a:r>
              <a:rPr lang="ko-KR" altLang="en-US"/>
              <a:t>을 붙였다</a:t>
            </a:r>
            <a:r>
              <a:rPr lang="en-US" altLang="ko-KR"/>
              <a:t>.
</a:t>
            </a:r>
            <a:r>
              <a:rPr lang="ko-KR" altLang="en-US"/>
              <a:t>가맹점은 법정동</a:t>
            </a:r>
            <a:r>
              <a:rPr lang="en-US" altLang="ko-KR"/>
              <a:t>, </a:t>
            </a:r>
            <a:r>
              <a:rPr lang="ko-KR" altLang="en-US"/>
              <a:t>인구</a:t>
            </a:r>
            <a:r>
              <a:rPr lang="en-US" altLang="ko-KR"/>
              <a:t>·</a:t>
            </a:r>
            <a:r>
              <a:rPr lang="ko-KR" altLang="en-US"/>
              <a:t>소득은 행정동이라 둘을 이은 동네 묶음 </a:t>
            </a:r>
            <a:r>
              <a:rPr lang="en-US" altLang="ko-KR"/>
              <a:t>71</a:t>
            </a:r>
            <a:r>
              <a:rPr lang="ko-KR" altLang="en-US"/>
              <a:t>곳을 연결 키로 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086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전처리 다섯 단계</a:t>
            </a:r>
            <a:r>
              <a:rPr lang="en-US" altLang="ko-KR"/>
              <a:t>. </a:t>
            </a:r>
            <a:r>
              <a:rPr lang="ko-KR" altLang="en-US"/>
              <a:t>급식 결제 </a:t>
            </a:r>
            <a:r>
              <a:rPr lang="en-US" altLang="ko-KR"/>
              <a:t>= </a:t>
            </a:r>
            <a:r>
              <a:rPr lang="ko-KR" altLang="en-US"/>
              <a:t>결제수단이 아동급식카드이고 결제 완료된 건</a:t>
            </a:r>
            <a:r>
              <a:rPr lang="en-US" altLang="ko-KR"/>
              <a:t>, 2023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월부터 </a:t>
            </a:r>
            <a:r>
              <a:rPr lang="en-US" altLang="ko-KR"/>
              <a:t>25</a:t>
            </a:r>
            <a:r>
              <a:rPr lang="ko-KR" altLang="en-US"/>
              <a:t>개월</a:t>
            </a:r>
            <a:r>
              <a:rPr lang="en-US" altLang="ko-KR"/>
              <a:t>.
</a:t>
            </a:r>
            <a:r>
              <a:rPr lang="ko-KR" altLang="en-US"/>
              <a:t>시기는 방학</a:t>
            </a:r>
            <a:r>
              <a:rPr lang="en-US" altLang="ko-KR"/>
              <a:t>·</a:t>
            </a:r>
            <a:r>
              <a:rPr lang="ko-KR" altLang="en-US"/>
              <a:t>전환</a:t>
            </a:r>
            <a:r>
              <a:rPr lang="en-US" altLang="ko-KR"/>
              <a:t>·</a:t>
            </a:r>
            <a:r>
              <a:rPr lang="ko-KR" altLang="en-US"/>
              <a:t>학기</a:t>
            </a:r>
            <a:r>
              <a:rPr lang="en-US" altLang="ko-KR"/>
              <a:t>. </a:t>
            </a:r>
            <a:r>
              <a:rPr lang="ko-KR" altLang="en-US"/>
              <a:t>공간은 가맹점 법정동을 행정동과 이어 동네 묶음 </a:t>
            </a:r>
            <a:r>
              <a:rPr lang="en-US" altLang="ko-KR"/>
              <a:t>71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반출 때는 작은 칸과 역산되는 칸을 가리고</a:t>
            </a:r>
            <a:r>
              <a:rPr lang="en-US" altLang="ko-KR"/>
              <a:t>, </a:t>
            </a:r>
            <a:r>
              <a:rPr lang="ko-KR" altLang="en-US"/>
              <a:t>저장 파일을 다시 읽어 자동 검사했다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87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덜 쓰는 동은 두 기준으로 고른다</a:t>
            </a:r>
            <a:r>
              <a:rPr lang="en-US" altLang="ko-KR"/>
              <a:t>. </a:t>
            </a:r>
            <a:r>
              <a:rPr lang="ko-KR" altLang="en-US"/>
              <a:t>일반 배달 대비로만 보면 직장 배달이 많은 동이 낮게 나와서</a:t>
            </a:r>
            <a:r>
              <a:rPr lang="en-US" altLang="ko-KR"/>
              <a:t>, </a:t>
            </a:r>
            <a:r>
              <a:rPr lang="ko-KR" altLang="en-US"/>
              <a:t>아이 수 대비로도 낮은 곳만 우선 점검 동네로 본다</a:t>
            </a:r>
            <a:r>
              <a:rPr lang="en-US" altLang="ko-KR"/>
              <a:t>.
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곳의 이유를 </a:t>
            </a:r>
            <a:r>
              <a:rPr lang="en-US" altLang="ko-KR"/>
              <a:t>7</a:t>
            </a:r>
            <a:r>
              <a:rPr lang="ko-KR" altLang="en-US"/>
              <a:t>가지로 판정하고</a:t>
            </a:r>
            <a:r>
              <a:rPr lang="en-US" altLang="ko-KR"/>
              <a:t>, </a:t>
            </a:r>
            <a:r>
              <a:rPr lang="ko-KR" altLang="en-US"/>
              <a:t>옆 동네에서 시키거나 필요가 적은 곳을 먼저 뺀다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404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신뢰성 장치</a:t>
            </a:r>
            <a:r>
              <a:rPr lang="en-US" altLang="ko-KR"/>
              <a:t>. </a:t>
            </a:r>
            <a:r>
              <a:rPr lang="ko-KR" altLang="en-US"/>
              <a:t>판정 규칙을 </a:t>
            </a:r>
            <a:r>
              <a:rPr lang="en-US" altLang="ko-KR"/>
              <a:t>4</a:t>
            </a:r>
            <a:r>
              <a:rPr lang="ko-KR" altLang="en-US"/>
              <a:t>차 반출물을 보기 전에 고정해 버전 기록을 남겼다</a:t>
            </a:r>
            <a:r>
              <a:rPr lang="en-US" altLang="ko-KR"/>
              <a:t>.
</a:t>
            </a:r>
            <a:r>
              <a:rPr lang="ko-KR" altLang="en-US"/>
              <a:t>센터에서 입력할 코드를 가짜 자료로 끝까지 돌려 봤고</a:t>
            </a:r>
            <a:r>
              <a:rPr lang="en-US" altLang="ko-KR"/>
              <a:t>, </a:t>
            </a:r>
            <a:r>
              <a:rPr lang="ko-KR" altLang="en-US"/>
              <a:t>반출 전에 저장 파일을 다시 읽어 가림 누락을 자동 검사했다</a:t>
            </a:r>
            <a:r>
              <a:rPr lang="en-US" altLang="ko-KR"/>
              <a:t>.
</a:t>
            </a:r>
            <a:r>
              <a:rPr lang="ko-KR" altLang="en-US"/>
              <a:t>앱 점검 중 결과를 보고 바꾼 규칙 </a:t>
            </a:r>
            <a:r>
              <a:rPr lang="en-US" altLang="ko-KR"/>
              <a:t>2</a:t>
            </a:r>
            <a:r>
              <a:rPr lang="ko-KR" altLang="en-US"/>
              <a:t>건은 바꾸기 전 결과와 함께 공개한다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983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급식카드 배달 결제의 </a:t>
            </a:r>
            <a:r>
              <a:rPr lang="en-US" altLang="ko-KR"/>
              <a:t>55%</a:t>
            </a:r>
            <a:r>
              <a:rPr lang="ko-KR" altLang="en-US"/>
              <a:t>가 방학 </a:t>
            </a:r>
            <a:r>
              <a:rPr lang="en-US" altLang="ko-KR"/>
              <a:t>6</a:t>
            </a:r>
            <a:r>
              <a:rPr lang="ko-KR" altLang="en-US"/>
              <a:t>개월에 몰린다</a:t>
            </a:r>
            <a:r>
              <a:rPr lang="en-US" altLang="ko-KR"/>
              <a:t>. </a:t>
            </a:r>
            <a:r>
              <a:rPr lang="ko-KR" altLang="en-US"/>
              <a:t>방학 월평균 이용자는 학기의 약 </a:t>
            </a:r>
            <a:r>
              <a:rPr lang="en-US" altLang="ko-KR"/>
              <a:t>4.9</a:t>
            </a:r>
            <a:r>
              <a:rPr lang="ko-KR" altLang="en-US"/>
              <a:t>배</a:t>
            </a:r>
            <a:r>
              <a:rPr lang="en-US" altLang="ko-KR"/>
              <a:t>.
</a:t>
            </a:r>
            <a:r>
              <a:rPr lang="ko-KR" altLang="en-US"/>
              <a:t>같은 기간</a:t>
            </a:r>
            <a:r>
              <a:rPr lang="en-US" altLang="ko-KR"/>
              <a:t>(2024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 → </a:t>
            </a:r>
            <a:r>
              <a:rPr lang="en-US" altLang="ko-KR"/>
              <a:t>2025</a:t>
            </a:r>
            <a:r>
              <a:rPr lang="ko-KR" altLang="en-US"/>
              <a:t>년 </a:t>
            </a:r>
            <a:r>
              <a:rPr lang="en-US" altLang="ko-KR"/>
              <a:t>1</a:t>
            </a:r>
            <a:r>
              <a:rPr lang="ko-KR" altLang="en-US"/>
              <a:t>월</a:t>
            </a:r>
            <a:r>
              <a:rPr lang="en-US" altLang="ko-KR"/>
              <a:t>) </a:t>
            </a:r>
            <a:r>
              <a:rPr lang="ko-KR" altLang="en-US"/>
              <a:t>아동은 </a:t>
            </a:r>
            <a:r>
              <a:rPr lang="en-US" altLang="ko-KR"/>
              <a:t>1.7% </a:t>
            </a:r>
            <a:r>
              <a:rPr lang="ko-KR" altLang="en-US"/>
              <a:t>줄었는데 아동 </a:t>
            </a:r>
            <a:r>
              <a:rPr lang="en-US" altLang="ko-KR"/>
              <a:t>1</a:t>
            </a:r>
            <a:r>
              <a:rPr lang="ko-KR" altLang="en-US"/>
              <a:t>천 명당 </a:t>
            </a:r>
            <a:r>
              <a:rPr lang="en-US" altLang="ko-KR"/>
              <a:t>1</a:t>
            </a:r>
            <a:r>
              <a:rPr lang="ko-KR" altLang="en-US"/>
              <a:t>월 이용자 수는 </a:t>
            </a:r>
            <a:r>
              <a:rPr lang="en-US" altLang="ko-KR"/>
              <a:t>13.5</a:t>
            </a:r>
            <a:r>
              <a:rPr lang="ko-KR" altLang="en-US"/>
              <a:t>명에서 </a:t>
            </a:r>
            <a:r>
              <a:rPr lang="en-US" altLang="ko-KR"/>
              <a:t>16.3</a:t>
            </a:r>
            <a:r>
              <a:rPr lang="ko-KR" altLang="en-US"/>
              <a:t>명으로 늘었다</a:t>
            </a:r>
            <a:r>
              <a:rPr lang="en-US" altLang="ko-KR"/>
              <a:t>.
</a:t>
            </a:r>
            <a:r>
              <a:rPr lang="ko-KR" altLang="en-US"/>
              <a:t>학기 평일 점심이 얇은 것은 학교급식 시간이라 사각지대가 아니라 제도의 경계로 따로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446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시간대에서 두 가지</a:t>
            </a:r>
            <a:r>
              <a:rPr lang="en-US" altLang="ko-KR"/>
              <a:t>. </a:t>
            </a:r>
            <a:r>
              <a:rPr lang="ko-KR" altLang="en-US"/>
              <a:t>급식만 </a:t>
            </a:r>
            <a:r>
              <a:rPr lang="en-US" altLang="ko-KR"/>
              <a:t>23</a:t>
            </a:r>
            <a:r>
              <a:rPr lang="ko-KR" altLang="en-US"/>
              <a:t>시에 끊긴다</a:t>
            </a:r>
            <a:r>
              <a:rPr lang="en-US" altLang="ko-KR"/>
              <a:t>: 25</a:t>
            </a:r>
            <a:r>
              <a:rPr lang="ko-KR" altLang="en-US"/>
              <a:t>개월 동안 </a:t>
            </a:r>
            <a:r>
              <a:rPr lang="en-US" altLang="ko-KR"/>
              <a:t>23</a:t>
            </a:r>
            <a:r>
              <a:rPr lang="ko-KR" altLang="en-US"/>
              <a:t>시</a:t>
            </a:r>
            <a:r>
              <a:rPr lang="en-US" altLang="ko-KR"/>
              <a:t>~05</a:t>
            </a:r>
            <a:r>
              <a:rPr lang="ko-KR" altLang="en-US"/>
              <a:t>시 급식 결제는 </a:t>
            </a:r>
            <a:r>
              <a:rPr lang="en-US" altLang="ko-KR"/>
              <a:t>11</a:t>
            </a:r>
            <a:r>
              <a:rPr lang="ko-KR" altLang="en-US"/>
              <a:t>건</a:t>
            </a:r>
            <a:r>
              <a:rPr lang="en-US" altLang="ko-KR"/>
              <a:t>, </a:t>
            </a:r>
            <a:r>
              <a:rPr lang="ko-KR" altLang="en-US"/>
              <a:t>일반은 자정에도 계속</a:t>
            </a:r>
            <a:r>
              <a:rPr lang="en-US" altLang="ko-KR"/>
              <a:t>.
</a:t>
            </a:r>
            <a:r>
              <a:rPr lang="ko-KR" altLang="en-US"/>
              <a:t>방학에는 점심 비중이 학기 </a:t>
            </a:r>
            <a:r>
              <a:rPr lang="en-US" altLang="ko-KR"/>
              <a:t>12.4%</a:t>
            </a:r>
            <a:r>
              <a:rPr lang="ko-KR" altLang="en-US"/>
              <a:t>에서 </a:t>
            </a:r>
            <a:r>
              <a:rPr lang="en-US" altLang="ko-KR"/>
              <a:t>18.6%</a:t>
            </a:r>
            <a:r>
              <a:rPr lang="ko-KR" altLang="en-US"/>
              <a:t>로 오른다</a:t>
            </a:r>
            <a:r>
              <a:rPr lang="en-US" altLang="ko-KR"/>
              <a:t>. </a:t>
            </a:r>
            <a:r>
              <a:rPr lang="ko-KR" altLang="en-US"/>
              <a:t>저녁 피크는 일반보다 얇다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35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학기에는 어느 구나 덜 쓴다</a:t>
            </a:r>
            <a:r>
              <a:rPr lang="en-US" altLang="ko-KR"/>
              <a:t>. </a:t>
            </a:r>
            <a:r>
              <a:rPr lang="ko-KR" altLang="en-US"/>
              <a:t>학기 평일 점심은 학교급식이고</a:t>
            </a:r>
            <a:r>
              <a:rPr lang="en-US" altLang="ko-KR"/>
              <a:t>, </a:t>
            </a:r>
            <a:r>
              <a:rPr lang="ko-KR" altLang="en-US"/>
              <a:t>학기에 카드를 쓰는 끼니는 평일 저녁과 주말 점심이다</a:t>
            </a:r>
            <a:r>
              <a:rPr lang="en-US" altLang="ko-KR"/>
              <a:t>(</a:t>
            </a:r>
            <a:r>
              <a:rPr lang="ko-KR" altLang="en-US"/>
              <a:t>학기 주말 점심 급식 비중이 일반의 </a:t>
            </a:r>
            <a:r>
              <a:rPr lang="en-US" altLang="ko-KR"/>
              <a:t>1.2</a:t>
            </a:r>
            <a:r>
              <a:rPr lang="ko-KR" altLang="en-US"/>
              <a:t>배</a:t>
            </a:r>
            <a:r>
              <a:rPr lang="en-US" altLang="ko-KR"/>
              <a:t>).
</a:t>
            </a:r>
            <a:r>
              <a:rPr lang="ko-KR" altLang="en-US"/>
              <a:t>그런데 같은 학기끼리 비교해도 달성군은 아동 </a:t>
            </a:r>
            <a:r>
              <a:rPr lang="en-US" altLang="ko-KR"/>
              <a:t>1</a:t>
            </a:r>
            <a:r>
              <a:rPr lang="ko-KR" altLang="en-US"/>
              <a:t>천 명당 </a:t>
            </a:r>
            <a:r>
              <a:rPr lang="en-US" altLang="ko-KR"/>
              <a:t>2.6</a:t>
            </a:r>
            <a:r>
              <a:rPr lang="ko-KR" altLang="en-US"/>
              <a:t>건으로 다른 구</a:t>
            </a:r>
            <a:r>
              <a:rPr lang="en-US" altLang="ko-KR"/>
              <a:t>(12.7~89.0</a:t>
            </a:r>
            <a:r>
              <a:rPr lang="ko-KR" altLang="en-US"/>
              <a:t>건</a:t>
            </a:r>
            <a:r>
              <a:rPr lang="en-US" altLang="ko-KR"/>
              <a:t>)</a:t>
            </a:r>
            <a:r>
              <a:rPr lang="ko-KR" altLang="en-US"/>
              <a:t>보다 훨씬 적고</a:t>
            </a:r>
            <a:r>
              <a:rPr lang="en-US" altLang="ko-KR"/>
              <a:t>, </a:t>
            </a:r>
            <a:r>
              <a:rPr lang="ko-KR" altLang="en-US"/>
              <a:t>북부 읍</a:t>
            </a:r>
            <a:r>
              <a:rPr lang="en-US" altLang="ko-KR"/>
              <a:t>(</a:t>
            </a:r>
            <a:r>
              <a:rPr lang="ko-KR" altLang="en-US"/>
              <a:t>화원</a:t>
            </a:r>
            <a:r>
              <a:rPr lang="en-US" altLang="ko-KR"/>
              <a:t>·</a:t>
            </a:r>
            <a:r>
              <a:rPr lang="ko-KR" altLang="en-US"/>
              <a:t>다사</a:t>
            </a:r>
            <a:r>
              <a:rPr lang="en-US" altLang="ko-KR"/>
              <a:t>)</a:t>
            </a:r>
            <a:r>
              <a:rPr lang="ko-KR" altLang="en-US"/>
              <a:t>도 </a:t>
            </a:r>
            <a:r>
              <a:rPr lang="en-US" altLang="ko-KR"/>
              <a:t>3.9</a:t>
            </a:r>
            <a:r>
              <a:rPr lang="ko-KR" altLang="en-US"/>
              <a:t>건이다</a:t>
            </a:r>
            <a:r>
              <a:rPr lang="en-US" altLang="ko-KR"/>
              <a:t>. </a:t>
            </a:r>
            <a:r>
              <a:rPr lang="ko-KR" altLang="en-US"/>
              <a:t>남부 </a:t>
            </a:r>
            <a:r>
              <a:rPr lang="en-US" altLang="ko-KR"/>
              <a:t>5</a:t>
            </a:r>
            <a:r>
              <a:rPr lang="ko-KR" altLang="en-US"/>
              <a:t>개 읍면은 방학의 </a:t>
            </a:r>
            <a:r>
              <a:rPr lang="en-US" altLang="ko-KR"/>
              <a:t>66~85</a:t>
            </a:r>
            <a:r>
              <a:rPr lang="ko-KR" altLang="en-US"/>
              <a:t>분의 </a:t>
            </a:r>
            <a:r>
              <a:rPr lang="en-US" altLang="ko-KR"/>
              <a:t>1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학기에 쓰는 이용자 자체가 거의 없다</a:t>
            </a:r>
            <a:r>
              <a:rPr lang="en-US" altLang="ko-KR"/>
              <a:t>.
</a:t>
            </a:r>
            <a:r>
              <a:rPr lang="ko-KR" altLang="en-US"/>
              <a:t>학교 점심으로는 설명되지 않는 군 단위 차이다</a:t>
            </a:r>
            <a:r>
              <a:rPr lang="en-US" altLang="ko-KR"/>
              <a:t>. </a:t>
            </a:r>
            <a:r>
              <a:rPr lang="ko-KR" altLang="en-US"/>
              <a:t>달성군은 여름방학 지원 대상을 따로 정해 발표한다</a:t>
            </a:r>
            <a:r>
              <a:rPr lang="en-US" altLang="ko-KR"/>
              <a:t>(2024 </a:t>
            </a:r>
            <a:r>
              <a:rPr lang="ko-KR" altLang="en-US"/>
              <a:t>보도</a:t>
            </a:r>
            <a:r>
              <a:rPr lang="en-US" altLang="ko-KR"/>
              <a:t>). </a:t>
            </a:r>
            <a:r>
              <a:rPr lang="ko-KR" altLang="en-US"/>
              <a:t>학기에 다른 경로로 먹는지</a:t>
            </a:r>
            <a:r>
              <a:rPr lang="en-US" altLang="ko-KR"/>
              <a:t>, </a:t>
            </a:r>
            <a:r>
              <a:rPr lang="ko-KR" altLang="en-US"/>
              <a:t>학기 지원이 비어 있는지는 결제 로그로 가릴 수 없어 군청 확인 항목으로 둔다</a:t>
            </a:r>
            <a:r>
              <a:rPr lang="en-US" altLang="ko-KR"/>
              <a:t>.
</a:t>
            </a:r>
            <a:r>
              <a:rPr lang="ko-KR" altLang="en-US"/>
              <a:t>그래서 ‘학기 이용 회복’ 숫자는 효과로 쓰지 않는다</a:t>
            </a:r>
            <a:r>
              <a:rPr lang="en-US" altLang="ko-KR"/>
              <a:t>. </a:t>
            </a:r>
            <a:r>
              <a:rPr lang="ko-KR" altLang="en-US"/>
              <a:t>비교 기준에 따라 대구 중앙값이면 </a:t>
            </a:r>
            <a:r>
              <a:rPr lang="en-US" altLang="ko-KR"/>
              <a:t>+39.8</a:t>
            </a:r>
            <a:r>
              <a:rPr lang="ko-KR" altLang="en-US"/>
              <a:t>명</a:t>
            </a:r>
            <a:r>
              <a:rPr lang="en-US" altLang="ko-KR"/>
              <a:t>, </a:t>
            </a:r>
            <a:r>
              <a:rPr lang="ko-KR" altLang="en-US"/>
              <a:t>달성군 북부면 </a:t>
            </a:r>
            <a:r>
              <a:rPr lang="en-US" altLang="ko-KR"/>
              <a:t>+4.8</a:t>
            </a:r>
            <a:r>
              <a:rPr lang="ko-KR" altLang="en-US"/>
              <a:t>명으로 </a:t>
            </a:r>
            <a:r>
              <a:rPr lang="en-US" altLang="ko-KR"/>
              <a:t>8</a:t>
            </a:r>
            <a:r>
              <a:rPr lang="ko-KR" altLang="en-US"/>
              <a:t>배 차이가 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82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지도</a:t>
            </a:r>
            <a:r>
              <a:rPr lang="en-US" altLang="ko-KR"/>
              <a:t>. </a:t>
            </a:r>
            <a:r>
              <a:rPr lang="ko-KR" altLang="en-US"/>
              <a:t>학기 이용은 권역 단위로 강하게 뭉친다</a:t>
            </a:r>
            <a:r>
              <a:rPr lang="en-US" altLang="ko-KR"/>
              <a:t>(I 0.53). </a:t>
            </a:r>
            <a:r>
              <a:rPr lang="ko-KR" altLang="en-US"/>
              <a:t>방학은 뭉치지 않는다</a:t>
            </a:r>
            <a:r>
              <a:rPr lang="en-US" altLang="ko-KR"/>
              <a:t>(I −0.02).
</a:t>
            </a:r>
            <a:r>
              <a:rPr lang="ko-KR" altLang="en-US"/>
              <a:t>그래서 방학 사각지대는 권역 단위 해결방안이 아니라 동 하나씩 이유를 판정해야 한다</a:t>
            </a:r>
            <a:r>
              <a:rPr lang="en-US" altLang="ko-KR"/>
              <a:t>.
</a:t>
            </a:r>
            <a:r>
              <a:rPr lang="ko-KR" altLang="en-US"/>
              <a:t>일반 배달 대비로만 고르면 달서구 서부가 낮게 나오지만 아이 수 대비로는 많이 쓰는 곳이라 걸렀다</a:t>
            </a:r>
            <a:r>
              <a:rPr lang="en-US" altLang="ko-KR"/>
              <a:t>. </a:t>
            </a:r>
            <a:r>
              <a:rPr lang="ko-KR" altLang="en-US"/>
              <a:t>이렇게 두 번째 기준으로 거른 곳이 모두 </a:t>
            </a:r>
            <a:r>
              <a:rPr lang="en-US" altLang="ko-KR"/>
              <a:t>20</a:t>
            </a:r>
            <a:r>
              <a:rPr lang="ko-KR" altLang="en-US"/>
              <a:t>곳이다</a:t>
            </a:r>
            <a:r>
              <a:rPr lang="en-US" altLang="ko-KR"/>
              <a:t>(37</a:t>
            </a:r>
            <a:r>
              <a:rPr lang="ko-KR" altLang="en-US"/>
              <a:t>곳 → </a:t>
            </a:r>
            <a:r>
              <a:rPr lang="en-US" altLang="ko-KR"/>
              <a:t>17</a:t>
            </a:r>
            <a:r>
              <a:rPr lang="ko-KR" altLang="en-US"/>
              <a:t>곳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783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선정 단계</a:t>
            </a:r>
            <a:r>
              <a:rPr lang="en-US" altLang="ko-KR"/>
              <a:t>. </a:t>
            </a:r>
            <a:r>
              <a:rPr lang="ko-KR" altLang="en-US"/>
              <a:t>비교 가능한 법정동 </a:t>
            </a:r>
            <a:r>
              <a:rPr lang="en-US" altLang="ko-KR"/>
              <a:t>181</a:t>
            </a:r>
            <a:r>
              <a:rPr lang="ko-KR" altLang="en-US"/>
              <a:t>곳 → 방학 비중 하위 </a:t>
            </a:r>
            <a:r>
              <a:rPr lang="en-US" altLang="ko-KR"/>
              <a:t>25% 37</a:t>
            </a:r>
            <a:r>
              <a:rPr lang="ko-KR" altLang="en-US"/>
              <a:t>곳 → 아이 수로 봐도 적은 우선 점검 </a:t>
            </a:r>
            <a:r>
              <a:rPr lang="en-US" altLang="ko-KR"/>
              <a:t>17</a:t>
            </a:r>
            <a:r>
              <a:rPr lang="ko-KR" altLang="en-US"/>
              <a:t>곳 → 판정 후 개선 대상 </a:t>
            </a:r>
            <a:r>
              <a:rPr lang="en-US" altLang="ko-KR"/>
              <a:t>4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재현성</a:t>
            </a:r>
            <a:r>
              <a:rPr lang="en-US" altLang="ko-KR"/>
              <a:t>: </a:t>
            </a:r>
            <a:r>
              <a:rPr lang="ko-KR" altLang="en-US"/>
              <a:t>방학 앞</a:t>
            </a:r>
            <a:r>
              <a:rPr lang="en-US" altLang="ko-KR"/>
              <a:t>·</a:t>
            </a:r>
            <a:r>
              <a:rPr lang="ko-KR" altLang="en-US"/>
              <a:t>뒤 반기의 동 순위 상관 </a:t>
            </a:r>
            <a:r>
              <a:rPr lang="en-US" altLang="ko-KR"/>
              <a:t>0.785,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 중 </a:t>
            </a:r>
            <a:r>
              <a:rPr lang="en-US" altLang="ko-KR"/>
              <a:t>13</a:t>
            </a:r>
            <a:r>
              <a:rPr lang="ko-KR" altLang="en-US"/>
              <a:t>곳은 두 반기 모두 하위 </a:t>
            </a:r>
            <a:r>
              <a:rPr lang="en-US" altLang="ko-KR"/>
              <a:t>25%.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804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공급 점검</a:t>
            </a:r>
            <a:r>
              <a:rPr lang="en-US" altLang="ko-KR"/>
              <a:t>. </a:t>
            </a:r>
            <a:r>
              <a:rPr lang="ko-KR" altLang="en-US"/>
              <a:t>방학에 실제 급식 주문을 받은 가게가 이미 도움이 필요한 정도를 반영한 아이의 </a:t>
            </a:r>
            <a:r>
              <a:rPr lang="en-US" altLang="ko-KR"/>
              <a:t>99.9%</a:t>
            </a:r>
            <a:r>
              <a:rPr lang="ko-KR" altLang="en-US"/>
              <a:t>에 닿는다</a:t>
            </a:r>
            <a:r>
              <a:rPr lang="en-US" altLang="ko-KR"/>
              <a:t>.
</a:t>
            </a:r>
            <a:r>
              <a:rPr lang="ko-KR" altLang="en-US"/>
              <a:t>등록</a:t>
            </a:r>
            <a:r>
              <a:rPr lang="en-US" altLang="ko-KR"/>
              <a:t>·</a:t>
            </a:r>
            <a:r>
              <a:rPr lang="ko-KR" altLang="en-US"/>
              <a:t>영업 중인데 급식 결제가 없는 가게도 </a:t>
            </a:r>
            <a:r>
              <a:rPr lang="en-US" altLang="ko-KR"/>
              <a:t>631</a:t>
            </a:r>
            <a:r>
              <a:rPr lang="ko-KR" altLang="en-US"/>
              <a:t>곳 있다</a:t>
            </a:r>
            <a:r>
              <a:rPr lang="en-US" altLang="ko-KR"/>
              <a:t>. </a:t>
            </a:r>
            <a:r>
              <a:rPr lang="ko-KR" altLang="en-US"/>
              <a:t>공급 부족이 아니라 이용 쪽 문제</a:t>
            </a:r>
            <a:r>
              <a:rPr lang="en-US" altLang="ko-KR"/>
              <a:t>.
</a:t>
            </a:r>
            <a:r>
              <a:rPr lang="ko-KR" altLang="en-US"/>
              <a:t>그래서 가게를 더 모으는 시나리오 </a:t>
            </a:r>
            <a:r>
              <a:rPr lang="en-US" altLang="ko-KR"/>
              <a:t>A</a:t>
            </a:r>
            <a:r>
              <a:rPr lang="ko-KR" altLang="en-US"/>
              <a:t>의 효과는 </a:t>
            </a:r>
            <a:r>
              <a:rPr lang="en-US" altLang="ko-KR"/>
              <a:t>0(</a:t>
            </a:r>
            <a:r>
              <a:rPr lang="ko-KR" altLang="en-US"/>
              <a:t>가장 후한 가정에서도 </a:t>
            </a:r>
            <a:r>
              <a:rPr lang="en-US" altLang="ko-KR"/>
              <a:t>35</a:t>
            </a:r>
            <a:r>
              <a:rPr lang="ko-KR" altLang="en-US"/>
              <a:t>명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236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판정표</a:t>
            </a:r>
            <a:r>
              <a:rPr lang="en-US" altLang="ko-KR"/>
              <a:t>.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곳마다 이유 </a:t>
            </a:r>
            <a:r>
              <a:rPr lang="en-US" altLang="ko-KR"/>
              <a:t>7</a:t>
            </a:r>
            <a:r>
              <a:rPr lang="ko-KR" altLang="en-US"/>
              <a:t>가지를 해당</a:t>
            </a:r>
            <a:r>
              <a:rPr lang="en-US" altLang="ko-KR"/>
              <a:t>·</a:t>
            </a:r>
            <a:r>
              <a:rPr lang="ko-KR" altLang="en-US"/>
              <a:t>아님</a:t>
            </a:r>
            <a:r>
              <a:rPr lang="en-US" altLang="ko-KR"/>
              <a:t>·</a:t>
            </a:r>
            <a:r>
              <a:rPr lang="ko-KR" altLang="en-US"/>
              <a:t>판단 불가로 판정했다</a:t>
            </a:r>
            <a:r>
              <a:rPr lang="en-US" altLang="ko-KR"/>
              <a:t>.
</a:t>
            </a:r>
            <a:r>
              <a:rPr lang="ko-KR" altLang="en-US"/>
              <a:t>먼저 사각지대가 아닌 곳을 뺀다</a:t>
            </a:r>
            <a:r>
              <a:rPr lang="en-US" altLang="ko-KR"/>
              <a:t>: </a:t>
            </a:r>
            <a:r>
              <a:rPr lang="ko-KR" altLang="en-US"/>
              <a:t>옆 동네 가게에서 사 먹는 곳 </a:t>
            </a:r>
            <a:r>
              <a:rPr lang="en-US" altLang="ko-KR"/>
              <a:t>5</a:t>
            </a:r>
            <a:r>
              <a:rPr lang="ko-KR" altLang="en-US"/>
              <a:t>곳</a:t>
            </a:r>
            <a:r>
              <a:rPr lang="en-US" altLang="ko-KR"/>
              <a:t>, </a:t>
            </a:r>
            <a:r>
              <a:rPr lang="ko-KR" altLang="en-US"/>
              <a:t>도움이 필요한 집이 원래 적은 곳 </a:t>
            </a:r>
            <a:r>
              <a:rPr lang="en-US" altLang="ko-KR"/>
              <a:t>5</a:t>
            </a:r>
            <a:r>
              <a:rPr lang="ko-KR" altLang="en-US"/>
              <a:t>곳</a:t>
            </a:r>
            <a:r>
              <a:rPr lang="en-US" altLang="ko-KR"/>
              <a:t>.
</a:t>
            </a:r>
            <a:r>
              <a:rPr lang="ko-KR" altLang="en-US"/>
              <a:t>남은 </a:t>
            </a:r>
            <a:r>
              <a:rPr lang="en-US" altLang="ko-KR"/>
              <a:t>7</a:t>
            </a:r>
            <a:r>
              <a:rPr lang="ko-KR" altLang="en-US"/>
              <a:t>곳 중 </a:t>
            </a:r>
            <a:r>
              <a:rPr lang="en-US" altLang="ko-KR"/>
              <a:t>4</a:t>
            </a:r>
            <a:r>
              <a:rPr lang="ko-KR" altLang="en-US"/>
              <a:t>곳은 배달 여건이 걸려 개선 대상</a:t>
            </a:r>
            <a:r>
              <a:rPr lang="en-US" altLang="ko-KR"/>
              <a:t>(</a:t>
            </a:r>
            <a:r>
              <a:rPr lang="ko-KR" altLang="en-US"/>
              <a:t>배달형</a:t>
            </a:r>
            <a:r>
              <a:rPr lang="en-US" altLang="ko-KR"/>
              <a:t>), 3</a:t>
            </a:r>
            <a:r>
              <a:rPr lang="ko-KR" altLang="en-US"/>
              <a:t>곳은 이유를 확정하지 못해 구청 현장 확인으로 넘긴다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3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앱 점검</a:t>
            </a:r>
            <a:r>
              <a:rPr lang="en-US" altLang="ko-KR"/>
              <a:t>. </a:t>
            </a:r>
            <a:r>
              <a:rPr lang="ko-KR" altLang="en-US"/>
              <a:t>우선 점검 </a:t>
            </a:r>
            <a:r>
              <a:rPr lang="en-US" altLang="ko-KR"/>
              <a:t>13</a:t>
            </a:r>
            <a:r>
              <a:rPr lang="ko-KR" altLang="en-US"/>
              <a:t>곳과 대조 </a:t>
            </a:r>
            <a:r>
              <a:rPr lang="en-US" altLang="ko-KR"/>
              <a:t>3</a:t>
            </a:r>
            <a:r>
              <a:rPr lang="ko-KR" altLang="en-US"/>
              <a:t>곳의 실제 주소로 ‘</a:t>
            </a:r>
            <a:r>
              <a:rPr lang="en-US" altLang="ko-KR"/>
              <a:t>1</a:t>
            </a:r>
            <a:r>
              <a:rPr lang="ko-KR" altLang="en-US"/>
              <a:t>인분’ 목록 상위 </a:t>
            </a:r>
            <a:r>
              <a:rPr lang="en-US" altLang="ko-KR"/>
              <a:t>10</a:t>
            </a:r>
            <a:r>
              <a:rPr lang="ko-KR" altLang="en-US"/>
              <a:t>곳을 기록했다</a:t>
            </a:r>
            <a:r>
              <a:rPr lang="en-US" altLang="ko-KR"/>
              <a:t>.
</a:t>
            </a:r>
            <a:r>
              <a:rPr lang="ko-KR" altLang="en-US"/>
              <a:t>급식카드로 주문하면 최소주문을 면제하는 가게가 있지만</a:t>
            </a:r>
            <a:r>
              <a:rPr lang="en-US" altLang="ko-KR"/>
              <a:t>, </a:t>
            </a:r>
            <a:r>
              <a:rPr lang="ko-KR" altLang="en-US"/>
              <a:t>목록에는 표시되지 않고 상세 화면 문구로만 보인다</a:t>
            </a:r>
            <a:r>
              <a:rPr lang="en-US" altLang="ko-KR"/>
              <a:t>.
</a:t>
            </a:r>
            <a:r>
              <a:rPr lang="ko-KR" altLang="en-US"/>
              <a:t>가격 장벽은 특정 동이 아니라 구 단위로 깔려 있다</a:t>
            </a:r>
            <a:r>
              <a:rPr lang="en-US" altLang="ko-KR"/>
              <a:t>(</a:t>
            </a:r>
            <a:r>
              <a:rPr lang="ko-KR" altLang="en-US"/>
              <a:t>대조 동도 같음</a:t>
            </a:r>
            <a:r>
              <a:rPr lang="en-US" altLang="ko-KR"/>
              <a:t>).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174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결제 금액으로 본 한도</a:t>
            </a:r>
            <a:r>
              <a:rPr lang="en-US" altLang="ko-KR"/>
              <a:t>. </a:t>
            </a:r>
            <a:r>
              <a:rPr lang="ko-KR" altLang="en-US"/>
              <a:t>여기 금액은 급식카드 승인액이라 본인이 더 낸 돈은 들어 있지 않다</a:t>
            </a:r>
            <a:r>
              <a:rPr lang="en-US" altLang="ko-KR"/>
              <a:t>.
</a:t>
            </a:r>
            <a:r>
              <a:rPr lang="ko-KR" altLang="en-US"/>
              <a:t>방학에 쓴 이용자 </a:t>
            </a:r>
            <a:r>
              <a:rPr lang="en-US" altLang="ko-KR"/>
              <a:t>6,223</a:t>
            </a:r>
            <a:r>
              <a:rPr lang="ko-KR" altLang="en-US"/>
              <a:t>명 중 하루 최대 승인액이 </a:t>
            </a:r>
            <a:r>
              <a:rPr lang="en-US" altLang="ko-KR"/>
              <a:t>1</a:t>
            </a:r>
            <a:r>
              <a:rPr lang="ko-KR" altLang="en-US"/>
              <a:t>만 원 이하인 이용자는 </a:t>
            </a:r>
            <a:r>
              <a:rPr lang="en-US" altLang="ko-KR"/>
              <a:t>31</a:t>
            </a:r>
            <a:r>
              <a:rPr lang="ko-KR" altLang="en-US"/>
              <a:t>명</a:t>
            </a:r>
            <a:r>
              <a:rPr lang="en-US" altLang="ko-KR"/>
              <a:t>(0.5%). </a:t>
            </a:r>
            <a:r>
              <a:rPr lang="ko-KR" altLang="en-US"/>
              <a:t>하루 한도가 신청한 끼니 수만큼이라 여러 끼를 한 번에 주문하고</a:t>
            </a:r>
            <a:r>
              <a:rPr lang="en-US" altLang="ko-KR"/>
              <a:t>(</a:t>
            </a:r>
            <a:r>
              <a:rPr lang="ko-KR" altLang="en-US"/>
              <a:t>하루 </a:t>
            </a:r>
            <a:r>
              <a:rPr lang="en-US" altLang="ko-KR"/>
              <a:t>1</a:t>
            </a:r>
            <a:r>
              <a:rPr lang="ko-KR" altLang="en-US"/>
              <a:t>회 결제 </a:t>
            </a:r>
            <a:r>
              <a:rPr lang="en-US" altLang="ko-KR"/>
              <a:t>83%), 3</a:t>
            </a:r>
            <a:r>
              <a:rPr lang="ko-KR" altLang="en-US"/>
              <a:t>만 원을 넘는 날은 카드 한 장으로는 안 되는 금액이라 형제 카드를 함께 쓰는 것으로 보인다</a:t>
            </a:r>
            <a:r>
              <a:rPr lang="en-US" altLang="ko-KR"/>
              <a:t>(36.3%).
</a:t>
            </a:r>
            <a:r>
              <a:rPr lang="ko-KR" altLang="en-US"/>
              <a:t>돈을 더 얹어 시키는지는 승인액에 안 나온다</a:t>
            </a:r>
            <a:r>
              <a:rPr lang="en-US" altLang="ko-KR"/>
              <a:t>. </a:t>
            </a:r>
            <a:r>
              <a:rPr lang="ko-KR" altLang="en-US"/>
              <a:t>다만 주문 합계 분포가 </a:t>
            </a:r>
            <a:r>
              <a:rPr lang="en-US" altLang="ko-KR"/>
              <a:t>3</a:t>
            </a:r>
            <a:r>
              <a:rPr lang="ko-KR" altLang="en-US"/>
              <a:t>만 원에서 끊기고</a:t>
            </a:r>
            <a:r>
              <a:rPr lang="en-US" altLang="ko-KR"/>
              <a:t>(3</a:t>
            </a:r>
            <a:r>
              <a:rPr lang="ko-KR" altLang="en-US"/>
              <a:t>만 원 이상 급식 </a:t>
            </a:r>
            <a:r>
              <a:rPr lang="en-US" altLang="ko-KR"/>
              <a:t>8.4%, </a:t>
            </a:r>
            <a:r>
              <a:rPr lang="ko-KR" altLang="en-US"/>
              <a:t>일반 </a:t>
            </a:r>
            <a:r>
              <a:rPr lang="en-US" altLang="ko-KR"/>
              <a:t>24.4%), </a:t>
            </a:r>
            <a:r>
              <a:rPr lang="ko-KR" altLang="en-US"/>
              <a:t>평균 주문 합계 </a:t>
            </a:r>
            <a:r>
              <a:rPr lang="en-US" altLang="ko-KR"/>
              <a:t>21,794</a:t>
            </a:r>
            <a:r>
              <a:rPr lang="ko-KR" altLang="en-US"/>
              <a:t>원이 승인액 </a:t>
            </a:r>
            <a:r>
              <a:rPr lang="en-US" altLang="ko-KR"/>
              <a:t>18,626</a:t>
            </a:r>
            <a:r>
              <a:rPr lang="ko-KR" altLang="en-US"/>
              <a:t>원과 할인 </a:t>
            </a:r>
            <a:r>
              <a:rPr lang="en-US" altLang="ko-KR"/>
              <a:t>3,167</a:t>
            </a:r>
            <a:r>
              <a:rPr lang="ko-KR" altLang="en-US"/>
              <a:t>원의 합과 맞아 흔하지 않아 보인다</a:t>
            </a:r>
            <a:r>
              <a:rPr lang="en-US" altLang="ko-KR"/>
              <a:t>(</a:t>
            </a:r>
            <a:r>
              <a:rPr lang="ko-KR" altLang="en-US"/>
              <a:t>건별 확인은 못 함</a:t>
            </a:r>
            <a:r>
              <a:rPr lang="en-US" altLang="ko-KR"/>
              <a:t>).
</a:t>
            </a:r>
            <a:r>
              <a:rPr lang="ko-KR" altLang="en-US"/>
              <a:t>그래서 </a:t>
            </a:r>
            <a:r>
              <a:rPr lang="en-US" altLang="ko-KR"/>
              <a:t>1</a:t>
            </a:r>
            <a:r>
              <a:rPr lang="ko-KR" altLang="en-US"/>
              <a:t>끼 값 점검은 지금 쓰는 아이가 아니라 한 끼만 신청했거나 돈을 더 낼 수 없는 아이를 기준으로 한다</a:t>
            </a:r>
            <a:r>
              <a:rPr lang="en-US" altLang="ko-KR"/>
              <a:t>. </a:t>
            </a:r>
            <a:r>
              <a:rPr lang="ko-KR" altLang="en-US"/>
              <a:t>그런 아이는 로그에 안 나와서 운영 회차에서는 신규 이용자 수를 본다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22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사례 세 묶음</a:t>
            </a:r>
            <a:r>
              <a:rPr lang="en-US" altLang="ko-KR"/>
              <a:t>. </a:t>
            </a:r>
            <a:r>
              <a:rPr lang="ko-KR" altLang="en-US"/>
              <a:t>화원읍 일대는 대상</a:t>
            </a:r>
            <a:r>
              <a:rPr lang="en-US" altLang="ko-KR"/>
              <a:t>·</a:t>
            </a:r>
            <a:r>
              <a:rPr lang="ko-KR" altLang="en-US"/>
              <a:t>대조 동 모두 </a:t>
            </a:r>
            <a:r>
              <a:rPr lang="en-US" altLang="ko-KR"/>
              <a:t>1</a:t>
            </a:r>
            <a:r>
              <a:rPr lang="ko-KR" altLang="en-US"/>
              <a:t>끼로 시킬 가게가 적어 구 단위 가격 장벽</a:t>
            </a:r>
            <a:r>
              <a:rPr lang="en-US" altLang="ko-KR"/>
              <a:t>(</a:t>
            </a:r>
            <a:r>
              <a:rPr lang="ko-KR" altLang="en-US"/>
              <a:t>시범 </a:t>
            </a:r>
            <a:r>
              <a:rPr lang="en-US" altLang="ko-KR"/>
              <a:t>B, </a:t>
            </a:r>
            <a:r>
              <a:rPr lang="ko-KR" altLang="en-US"/>
              <a:t>탐색</a:t>
            </a:r>
            <a:r>
              <a:rPr lang="en-US" altLang="ko-KR"/>
              <a:t>).
</a:t>
            </a:r>
            <a:r>
              <a:rPr lang="ko-KR" altLang="en-US"/>
              <a:t>북구 검단동</a:t>
            </a:r>
            <a:r>
              <a:rPr lang="en-US" altLang="ko-KR"/>
              <a:t>·</a:t>
            </a:r>
            <a:r>
              <a:rPr lang="ko-KR" altLang="en-US"/>
              <a:t>학정동</a:t>
            </a:r>
            <a:r>
              <a:rPr lang="en-US" altLang="ko-KR"/>
              <a:t>, </a:t>
            </a:r>
            <a:r>
              <a:rPr lang="ko-KR" altLang="en-US"/>
              <a:t>논공 금포리는 배달 자체가 적거나 오래 걸리는 배달형</a:t>
            </a:r>
            <a:r>
              <a:rPr lang="en-US" altLang="ko-KR"/>
              <a:t>(</a:t>
            </a:r>
            <a:r>
              <a:rPr lang="ko-KR" altLang="en-US"/>
              <a:t>시범 </a:t>
            </a:r>
            <a:r>
              <a:rPr lang="en-US" altLang="ko-KR"/>
              <a:t>A). </a:t>
            </a:r>
            <a:r>
              <a:rPr lang="ko-KR" altLang="en-US"/>
              <a:t>배달형 </a:t>
            </a:r>
            <a:r>
              <a:rPr lang="en-US" altLang="ko-KR"/>
              <a:t>4</a:t>
            </a:r>
            <a:r>
              <a:rPr lang="ko-KR" altLang="en-US"/>
              <a:t>곳 중 화원 본리리는 시범 </a:t>
            </a:r>
            <a:r>
              <a:rPr lang="en-US" altLang="ko-KR"/>
              <a:t>B </a:t>
            </a:r>
            <a:r>
              <a:rPr lang="ko-KR" altLang="en-US"/>
              <a:t>지역 안이라 두 처방이 겹쳐 </a:t>
            </a:r>
            <a:r>
              <a:rPr lang="en-US" altLang="ko-KR"/>
              <a:t>B</a:t>
            </a:r>
            <a:r>
              <a:rPr lang="ko-KR" altLang="en-US"/>
              <a:t>로 평가한다</a:t>
            </a:r>
            <a:r>
              <a:rPr lang="en-US" altLang="ko-KR"/>
              <a:t>.
</a:t>
            </a:r>
            <a:r>
              <a:rPr lang="ko-KR" altLang="en-US"/>
              <a:t>지묘동은 여러 이유가 걸리지만 옆 동네에서 주문하는 곳이라 해결방안 대상에서 뺐다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24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해결방안은 판정 유형에 고정한다</a:t>
            </a:r>
            <a:r>
              <a:rPr lang="en-US" altLang="ko-KR"/>
              <a:t>. </a:t>
            </a:r>
            <a:r>
              <a:rPr lang="ko-KR" altLang="en-US"/>
              <a:t>배달형은 운영사가 방학 정기 배달편으로</a:t>
            </a:r>
            <a:r>
              <a:rPr lang="en-US" altLang="ko-KR"/>
              <a:t>, </a:t>
            </a:r>
            <a:r>
              <a:rPr lang="ko-KR" altLang="en-US"/>
              <a:t>가격형은 시</a:t>
            </a:r>
            <a:r>
              <a:rPr lang="en-US" altLang="ko-KR"/>
              <a:t>·</a:t>
            </a:r>
            <a:r>
              <a:rPr lang="ko-KR" altLang="en-US"/>
              <a:t>구와 운영사가 면제 가게와 </a:t>
            </a:r>
            <a:r>
              <a:rPr lang="en-US" altLang="ko-KR"/>
              <a:t>1</a:t>
            </a:r>
            <a:r>
              <a:rPr lang="ko-KR" altLang="en-US"/>
              <a:t>인 메뉴로</a:t>
            </a:r>
            <a:r>
              <a:rPr lang="en-US" altLang="ko-KR"/>
              <a:t>.
</a:t>
            </a:r>
            <a:r>
              <a:rPr lang="ko-KR" altLang="en-US"/>
              <a:t>배달비는 이미 지원 중이라 배달형의 문제는 비용이 아니라 배달이 오느냐다</a:t>
            </a:r>
            <a:r>
              <a:rPr lang="en-US" altLang="ko-KR"/>
              <a:t>.
</a:t>
            </a:r>
            <a:r>
              <a:rPr lang="ko-KR" altLang="en-US"/>
              <a:t>사각지대가 아닌 </a:t>
            </a:r>
            <a:r>
              <a:rPr lang="en-US" altLang="ko-KR"/>
              <a:t>10</a:t>
            </a:r>
            <a:r>
              <a:rPr lang="ko-KR" altLang="en-US"/>
              <a:t>곳은 조치하지 않고 다음 회차에 관찰한다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508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숫자가 작은 것이 결론이다</a:t>
            </a:r>
            <a:r>
              <a:rPr lang="en-US" altLang="ko-KR"/>
              <a:t>. </a:t>
            </a:r>
            <a:r>
              <a:rPr lang="ko-KR" altLang="en-US"/>
              <a:t>같은 단위</a:t>
            </a:r>
            <a:r>
              <a:rPr lang="en-US" altLang="ko-KR"/>
              <a:t>(</a:t>
            </a:r>
            <a:r>
              <a:rPr lang="ko-KR" altLang="en-US"/>
              <a:t>방학 한 달 이용자 수</a:t>
            </a:r>
            <a:r>
              <a:rPr lang="en-US" altLang="ko-KR"/>
              <a:t>)</a:t>
            </a:r>
            <a:r>
              <a:rPr lang="ko-KR" altLang="en-US"/>
              <a:t>로 비교했다</a:t>
            </a:r>
            <a:r>
              <a:rPr lang="en-US" altLang="ko-KR"/>
              <a:t>.
</a:t>
            </a:r>
            <a:r>
              <a:rPr lang="ko-KR" altLang="en-US"/>
              <a:t>가게를 더 모으는 사업은 </a:t>
            </a:r>
            <a:r>
              <a:rPr lang="en-US" altLang="ko-KR"/>
              <a:t>0</a:t>
            </a:r>
            <a:r>
              <a:rPr lang="ko-KR" altLang="en-US"/>
              <a:t>명</a:t>
            </a:r>
            <a:r>
              <a:rPr lang="en-US" altLang="ko-KR"/>
              <a:t>(</a:t>
            </a:r>
            <a:r>
              <a:rPr lang="ko-KR" altLang="en-US"/>
              <a:t>가장 후한 가정에서도 </a:t>
            </a:r>
            <a:r>
              <a:rPr lang="en-US" altLang="ko-KR"/>
              <a:t>35</a:t>
            </a:r>
            <a:r>
              <a:rPr lang="ko-KR" altLang="en-US"/>
              <a:t>명</a:t>
            </a:r>
            <a:r>
              <a:rPr lang="en-US" altLang="ko-KR"/>
              <a:t>). </a:t>
            </a:r>
            <a:r>
              <a:rPr lang="ko-KR" altLang="en-US"/>
              <a:t>우선 점검 </a:t>
            </a:r>
            <a:r>
              <a:rPr lang="en-US" altLang="ko-KR"/>
              <a:t>17</a:t>
            </a:r>
            <a:r>
              <a:rPr lang="ko-KR" altLang="en-US"/>
              <a:t>곳의 겉보기 부족분 월 </a:t>
            </a:r>
            <a:r>
              <a:rPr lang="en-US" altLang="ko-KR"/>
              <a:t>1,337</a:t>
            </a:r>
            <a:r>
              <a:rPr lang="ko-KR" altLang="en-US"/>
              <a:t>건 중 판정으로 확정한 공백은 개선 대상 </a:t>
            </a:r>
            <a:r>
              <a:rPr lang="en-US" altLang="ko-KR"/>
              <a:t>4</a:t>
            </a:r>
            <a:r>
              <a:rPr lang="ko-KR" altLang="en-US"/>
              <a:t>곳의 </a:t>
            </a:r>
            <a:r>
              <a:rPr lang="en-US" altLang="ko-KR"/>
              <a:t>98</a:t>
            </a:r>
            <a:r>
              <a:rPr lang="ko-KR" altLang="en-US"/>
              <a:t>건뿐이고</a:t>
            </a:r>
            <a:r>
              <a:rPr lang="en-US" altLang="ko-KR"/>
              <a:t>, 870</a:t>
            </a:r>
            <a:r>
              <a:rPr lang="ko-KR" altLang="en-US"/>
              <a:t>건</a:t>
            </a:r>
            <a:r>
              <a:rPr lang="en-US" altLang="ko-KR"/>
              <a:t>(65%)</a:t>
            </a:r>
            <a:r>
              <a:rPr lang="ko-KR" altLang="en-US"/>
              <a:t>은 사각지대가 아닌 곳의 몫</a:t>
            </a:r>
            <a:r>
              <a:rPr lang="en-US" altLang="ko-KR"/>
              <a:t>, 369</a:t>
            </a:r>
            <a:r>
              <a:rPr lang="ko-KR" altLang="en-US"/>
              <a:t>건은 확인 필요다</a:t>
            </a:r>
            <a:r>
              <a:rPr lang="en-US" altLang="ko-KR"/>
              <a:t>.
</a:t>
            </a:r>
            <a:r>
              <a:rPr lang="ko-KR" altLang="en-US"/>
              <a:t>그 </a:t>
            </a:r>
            <a:r>
              <a:rPr lang="en-US" altLang="ko-KR"/>
              <a:t>4</a:t>
            </a:r>
            <a:r>
              <a:rPr lang="ko-KR" altLang="en-US"/>
              <a:t>곳만 보면 방학 월 이용자가 약 </a:t>
            </a:r>
            <a:r>
              <a:rPr lang="en-US" altLang="ko-KR"/>
              <a:t>10</a:t>
            </a:r>
            <a:r>
              <a:rPr lang="ko-KR" altLang="en-US"/>
              <a:t>명에서 </a:t>
            </a:r>
            <a:r>
              <a:rPr lang="en-US" altLang="ko-KR"/>
              <a:t>16~22</a:t>
            </a:r>
            <a:r>
              <a:rPr lang="ko-KR" altLang="en-US"/>
              <a:t>명으로 는다</a:t>
            </a:r>
            <a:r>
              <a:rPr lang="en-US" altLang="ko-KR"/>
              <a:t>(+5.9~11.8</a:t>
            </a:r>
            <a:r>
              <a:rPr lang="ko-KR" altLang="en-US"/>
              <a:t>명</a:t>
            </a:r>
            <a:r>
              <a:rPr lang="en-US" altLang="ko-KR"/>
              <a:t>, +57~114%). </a:t>
            </a:r>
            <a:r>
              <a:rPr lang="ko-KR" altLang="en-US"/>
              <a:t>기대 이용을 가장 작게 잡는 주 모형 기준이고</a:t>
            </a:r>
            <a:r>
              <a:rPr lang="en-US" altLang="ko-KR"/>
              <a:t>, </a:t>
            </a:r>
            <a:r>
              <a:rPr lang="ko-KR" altLang="en-US"/>
              <a:t>다른 모형</a:t>
            </a:r>
            <a:r>
              <a:rPr lang="en-US" altLang="ko-KR"/>
              <a:t>(</a:t>
            </a:r>
            <a:r>
              <a:rPr lang="ko-KR" altLang="en-US"/>
              <a:t>가까운 </a:t>
            </a:r>
            <a:r>
              <a:rPr lang="en-US" altLang="ko-KR"/>
              <a:t>10</a:t>
            </a:r>
            <a:r>
              <a:rPr lang="ko-KR" altLang="en-US"/>
              <a:t>개 단위</a:t>
            </a:r>
            <a:r>
              <a:rPr lang="en-US" altLang="ko-KR"/>
              <a:t>, </a:t>
            </a:r>
            <a:r>
              <a:rPr lang="ko-KR" altLang="en-US"/>
              <a:t>일반 배달 뺀 모형</a:t>
            </a:r>
            <a:r>
              <a:rPr lang="en-US" altLang="ko-KR"/>
              <a:t>)</a:t>
            </a:r>
            <a:r>
              <a:rPr lang="ko-KR" altLang="en-US"/>
              <a:t>으로는 최대 </a:t>
            </a:r>
            <a:r>
              <a:rPr lang="en-US" altLang="ko-KR"/>
              <a:t>+26.7~40.8</a:t>
            </a:r>
            <a:r>
              <a:rPr lang="ko-KR" altLang="en-US"/>
              <a:t>명이다</a:t>
            </a:r>
            <a:r>
              <a:rPr lang="en-US" altLang="ko-KR"/>
              <a:t>.
</a:t>
            </a:r>
            <a:r>
              <a:rPr lang="ko-KR" altLang="en-US"/>
              <a:t>판정 없이 </a:t>
            </a:r>
            <a:r>
              <a:rPr lang="en-US" altLang="ko-KR"/>
              <a:t>17</a:t>
            </a:r>
            <a:r>
              <a:rPr lang="ko-KR" altLang="en-US"/>
              <a:t>곳 전체에 사업하면 부족분의 약 </a:t>
            </a:r>
            <a:r>
              <a:rPr lang="en-US" altLang="ko-KR"/>
              <a:t>3</a:t>
            </a:r>
            <a:r>
              <a:rPr lang="ko-KR" altLang="en-US"/>
              <a:t>분의 </a:t>
            </a:r>
            <a:r>
              <a:rPr lang="en-US" altLang="ko-KR"/>
              <a:t>2</a:t>
            </a:r>
            <a:r>
              <a:rPr lang="ko-KR" altLang="en-US"/>
              <a:t>를 사각지대가 아닌 곳에서 쫓게 된다</a:t>
            </a:r>
            <a:r>
              <a:rPr lang="en-US" altLang="ko-KR"/>
              <a:t>. </a:t>
            </a:r>
            <a:r>
              <a:rPr lang="ko-KR" altLang="en-US"/>
              <a:t>그래서 큰 사업 대신 매 방학 같은 로그로 다시 판정해 몇 곳에 정확히 쓰는 점검표를 제안한다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2488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실행</a:t>
            </a:r>
            <a:r>
              <a:rPr lang="en-US" altLang="ko-KR"/>
              <a:t>. </a:t>
            </a:r>
            <a:r>
              <a:rPr lang="ko-KR" altLang="en-US"/>
              <a:t>현 운영사 협약이 </a:t>
            </a:r>
            <a:r>
              <a:rPr lang="en-US" altLang="ko-KR"/>
              <a:t>2026</a:t>
            </a:r>
            <a:r>
              <a:rPr lang="ko-KR" altLang="en-US"/>
              <a:t>년 말 끝나고 새 운영사가 </a:t>
            </a:r>
            <a:r>
              <a:rPr lang="en-US" altLang="ko-KR"/>
              <a:t>2027</a:t>
            </a:r>
            <a:r>
              <a:rPr lang="ko-KR" altLang="en-US"/>
              <a:t>년부터 </a:t>
            </a:r>
            <a:r>
              <a:rPr lang="en-US" altLang="ko-KR"/>
              <a:t>3</a:t>
            </a:r>
            <a:r>
              <a:rPr lang="ko-KR" altLang="en-US"/>
              <a:t>년 운영한다</a:t>
            </a:r>
            <a:r>
              <a:rPr lang="en-US" altLang="ko-KR"/>
              <a:t>. </a:t>
            </a:r>
            <a:r>
              <a:rPr lang="ko-KR" altLang="en-US"/>
              <a:t>협약에 점검표 제출 한 줄을 넣자</a:t>
            </a:r>
            <a:r>
              <a:rPr lang="en-US" altLang="ko-KR"/>
              <a:t>.
</a:t>
            </a:r>
            <a:r>
              <a:rPr lang="ko-KR" altLang="en-US"/>
              <a:t>매 방학 끝나고 </a:t>
            </a:r>
            <a:r>
              <a:rPr lang="en-US" altLang="ko-KR"/>
              <a:t>30</a:t>
            </a:r>
            <a:r>
              <a:rPr lang="ko-KR" altLang="en-US"/>
              <a:t>일 안에 같은 로그로 덜 쓰는 동</a:t>
            </a:r>
            <a:r>
              <a:rPr lang="en-US" altLang="ko-KR"/>
              <a:t>, </a:t>
            </a:r>
            <a:r>
              <a:rPr lang="ko-KR" altLang="en-US"/>
              <a:t>이유</a:t>
            </a:r>
            <a:r>
              <a:rPr lang="en-US" altLang="ko-KR"/>
              <a:t>, </a:t>
            </a:r>
            <a:r>
              <a:rPr lang="ko-KR" altLang="en-US"/>
              <a:t>개선 대상을 뽑아 시에 낸다</a:t>
            </a:r>
            <a:r>
              <a:rPr lang="en-US" altLang="ko-KR"/>
              <a:t>.
</a:t>
            </a:r>
            <a:r>
              <a:rPr lang="ko-KR" altLang="en-US"/>
              <a:t>시범 </a:t>
            </a:r>
            <a:r>
              <a:rPr lang="en-US" altLang="ko-KR"/>
              <a:t>A(</a:t>
            </a:r>
            <a:r>
              <a:rPr lang="ko-KR" altLang="en-US"/>
              <a:t>배달형 </a:t>
            </a:r>
            <a:r>
              <a:rPr lang="en-US" altLang="ko-KR"/>
              <a:t>3</a:t>
            </a:r>
            <a:r>
              <a:rPr lang="ko-KR" altLang="en-US"/>
              <a:t>곳</a:t>
            </a:r>
            <a:r>
              <a:rPr lang="en-US" altLang="ko-KR"/>
              <a:t>)</a:t>
            </a:r>
            <a:r>
              <a:rPr lang="ko-KR" altLang="en-US"/>
              <a:t>는 효과가 작을 수 있어 처음부터 </a:t>
            </a:r>
            <a:r>
              <a:rPr lang="en-US" altLang="ko-KR"/>
              <a:t>2</a:t>
            </a:r>
            <a:r>
              <a:rPr lang="ko-KR" altLang="en-US"/>
              <a:t>년 판정으로 설계했다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024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한계</a:t>
            </a:r>
            <a:r>
              <a:rPr lang="en-US" altLang="ko-KR"/>
              <a:t>. </a:t>
            </a:r>
            <a:r>
              <a:rPr lang="ko-KR" altLang="en-US"/>
              <a:t>가장 큰 것은 대구로가 급식카드 사용처 중 하나라는 점</a:t>
            </a:r>
            <a:r>
              <a:rPr lang="en-US" altLang="ko-KR"/>
              <a:t>. </a:t>
            </a:r>
            <a:r>
              <a:rPr lang="ko-KR" altLang="en-US"/>
              <a:t>편의점</a:t>
            </a:r>
            <a:r>
              <a:rPr lang="en-US" altLang="ko-KR"/>
              <a:t>·</a:t>
            </a:r>
            <a:r>
              <a:rPr lang="ko-KR" altLang="en-US"/>
              <a:t>일반음식점 매장 결제는 보지 못했다</a:t>
            </a:r>
            <a:r>
              <a:rPr lang="en-US" altLang="ko-KR"/>
              <a:t>.
</a:t>
            </a:r>
            <a:r>
              <a:rPr lang="ko-KR" altLang="en-US"/>
              <a:t>그래서 지표는 배달 경로 접근성의 하한이고</a:t>
            </a:r>
            <a:r>
              <a:rPr lang="en-US" altLang="ko-KR"/>
              <a:t>, </a:t>
            </a:r>
            <a:r>
              <a:rPr lang="ko-KR" altLang="en-US"/>
              <a:t>기대효과는 결식 감소가 아니라 식당 한 끼로 가는 경로 회복으로 말한다</a:t>
            </a:r>
            <a:r>
              <a:rPr lang="en-US" altLang="ko-KR"/>
              <a:t>.
</a:t>
            </a:r>
            <a:r>
              <a:rPr lang="ko-KR" altLang="en-US"/>
              <a:t>배달형 </a:t>
            </a:r>
            <a:r>
              <a:rPr lang="en-US" altLang="ko-KR"/>
              <a:t>4</a:t>
            </a:r>
            <a:r>
              <a:rPr lang="ko-KR" altLang="en-US"/>
              <a:t>곳의 배달 여건은 아동 수 대비 이용이 적은 이유는 설명하지만</a:t>
            </a:r>
            <a:r>
              <a:rPr lang="en-US" altLang="ko-KR"/>
              <a:t>, </a:t>
            </a:r>
            <a:r>
              <a:rPr lang="ko-KR" altLang="en-US"/>
              <a:t>배달이 나쁘면 일반 배달도 함께 줄어 급식 비중 지수가 낮은 이유까지는 설명하지 못한다</a:t>
            </a:r>
            <a:r>
              <a:rPr lang="en-US" altLang="ko-KR"/>
              <a:t>. </a:t>
            </a:r>
            <a:r>
              <a:rPr lang="ko-KR" altLang="en-US"/>
              <a:t>그래서 판정 규칙대로 ‘부분 설명’으로 두고 시범 </a:t>
            </a:r>
            <a:r>
              <a:rPr lang="en-US" altLang="ko-KR"/>
              <a:t>A</a:t>
            </a:r>
            <a:r>
              <a:rPr lang="ko-KR" altLang="en-US"/>
              <a:t>로 확인한다</a:t>
            </a:r>
            <a:r>
              <a:rPr lang="en-US" altLang="ko-KR"/>
              <a:t>.
</a:t>
            </a:r>
            <a:r>
              <a:rPr lang="ko-KR" altLang="en-US"/>
              <a:t>판단 불가와 사후 개정은 숨기지 않고 기록했다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276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1. </a:t>
            </a:r>
            <a:r>
              <a:rPr lang="ko-KR" altLang="en-US"/>
              <a:t>활용 데이터 목록</a:t>
            </a:r>
            <a:r>
              <a:rPr lang="en-US" altLang="ko-KR"/>
              <a:t>. </a:t>
            </a:r>
            <a:r>
              <a:rPr lang="ko-KR" altLang="en-US"/>
              <a:t>미개방 상호제공은 대구로 플랫폼</a:t>
            </a:r>
            <a:r>
              <a:rPr lang="en-US" altLang="ko-KR"/>
              <a:t>(</a:t>
            </a:r>
            <a:r>
              <a:rPr lang="ko-KR" altLang="en-US"/>
              <a:t>결제</a:t>
            </a:r>
            <a:r>
              <a:rPr lang="en-US" altLang="ko-KR"/>
              <a:t>·</a:t>
            </a:r>
            <a:r>
              <a:rPr lang="ko-KR" altLang="en-US"/>
              <a:t>가맹점</a:t>
            </a:r>
            <a:r>
              <a:rPr lang="en-US" altLang="ko-KR"/>
              <a:t>·</a:t>
            </a:r>
            <a:r>
              <a:rPr lang="ko-KR" altLang="en-US"/>
              <a:t>배달</a:t>
            </a:r>
            <a:r>
              <a:rPr lang="en-US" altLang="ko-KR"/>
              <a:t>·</a:t>
            </a:r>
            <a:r>
              <a:rPr lang="ko-KR" altLang="en-US"/>
              <a:t>고객</a:t>
            </a:r>
            <a:r>
              <a:rPr lang="en-US" altLang="ko-KR"/>
              <a:t>)</a:t>
            </a:r>
            <a:r>
              <a:rPr lang="ko-KR" altLang="en-US"/>
              <a:t>과 </a:t>
            </a:r>
            <a:r>
              <a:rPr lang="en-US" altLang="ko-KR"/>
              <a:t>KCB </a:t>
            </a:r>
            <a:r>
              <a:rPr lang="ko-KR" altLang="en-US"/>
              <a:t>소득</a:t>
            </a:r>
            <a:r>
              <a:rPr lang="en-US" altLang="ko-KR"/>
              <a:t>.
</a:t>
            </a:r>
            <a:r>
              <a:rPr lang="ko-KR" altLang="en-US"/>
              <a:t>공개는 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경계</a:t>
            </a:r>
            <a:r>
              <a:rPr lang="en-US" altLang="ko-KR"/>
              <a:t>. </a:t>
            </a:r>
            <a:r>
              <a:rPr lang="ko-KR" altLang="en-US"/>
              <a:t>현장은 구청</a:t>
            </a:r>
            <a:r>
              <a:rPr lang="en-US" altLang="ko-KR"/>
              <a:t>·</a:t>
            </a:r>
            <a:r>
              <a:rPr lang="ko-KR" altLang="en-US"/>
              <a:t>시청 확인과 앱 점검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733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2. </a:t>
            </a:r>
            <a:r>
              <a:rPr lang="ko-KR" altLang="en-US"/>
              <a:t>방문은 </a:t>
            </a:r>
            <a:r>
              <a:rPr lang="en-US" altLang="ko-KR"/>
              <a:t>9</a:t>
            </a:r>
            <a:r>
              <a:rPr lang="ko-KR" altLang="en-US"/>
              <a:t>월 </a:t>
            </a:r>
            <a:r>
              <a:rPr lang="en-US" altLang="ko-KR"/>
              <a:t>11</a:t>
            </a:r>
            <a:r>
              <a:rPr lang="ko-KR" altLang="en-US"/>
              <a:t>일</a:t>
            </a:r>
            <a:r>
              <a:rPr lang="en-US" altLang="ko-KR"/>
              <a:t>, 9</a:t>
            </a:r>
            <a:r>
              <a:rPr lang="ko-KR" altLang="en-US"/>
              <a:t>월 </a:t>
            </a:r>
            <a:r>
              <a:rPr lang="en-US" altLang="ko-KR"/>
              <a:t>18</a:t>
            </a:r>
            <a:r>
              <a:rPr lang="ko-KR" altLang="en-US"/>
              <a:t>일</a:t>
            </a:r>
            <a:r>
              <a:rPr lang="en-US" altLang="ko-KR"/>
              <a:t>, 10</a:t>
            </a:r>
            <a:r>
              <a:rPr lang="ko-KR" altLang="en-US"/>
              <a:t>월 </a:t>
            </a:r>
            <a:r>
              <a:rPr lang="en-US" altLang="ko-KR"/>
              <a:t>2</a:t>
            </a:r>
            <a:r>
              <a:rPr lang="ko-KR" altLang="en-US"/>
              <a:t>일</a:t>
            </a:r>
            <a:r>
              <a:rPr lang="en-US" altLang="ko-KR"/>
              <a:t>, 10</a:t>
            </a:r>
            <a:r>
              <a:rPr lang="ko-KR" altLang="en-US"/>
              <a:t>월 </a:t>
            </a:r>
            <a:r>
              <a:rPr lang="en-US" altLang="ko-KR"/>
              <a:t>16</a:t>
            </a:r>
            <a:r>
              <a:rPr lang="ko-KR" altLang="en-US"/>
              <a:t>일 네 번</a:t>
            </a:r>
            <a:r>
              <a:rPr lang="en-US" altLang="ko-KR"/>
              <a:t>. </a:t>
            </a:r>
            <a:r>
              <a:rPr lang="ko-KR" altLang="en-US"/>
              <a:t>반출도 네 번</a:t>
            </a:r>
            <a:r>
              <a:rPr lang="en-US" altLang="ko-KR"/>
              <a:t>.
4</a:t>
            </a:r>
            <a:r>
              <a:rPr lang="ko-KR" altLang="en-US"/>
              <a:t>차 반출에는 현장 손입력 오류 </a:t>
            </a:r>
            <a:r>
              <a:rPr lang="en-US" altLang="ko-KR"/>
              <a:t>3</a:t>
            </a:r>
            <a:r>
              <a:rPr lang="ko-KR" altLang="en-US"/>
              <a:t>건이 있었고</a:t>
            </a:r>
            <a:r>
              <a:rPr lang="en-US" altLang="ko-KR"/>
              <a:t>, </a:t>
            </a:r>
            <a:r>
              <a:rPr lang="ko-KR" altLang="en-US"/>
              <a:t>미리 정한 대체 규칙으로 처리했다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4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3. </a:t>
            </a:r>
            <a:r>
              <a:rPr lang="ko-KR" altLang="en-US"/>
              <a:t>센터 안에서 실행한 코드</a:t>
            </a:r>
            <a:r>
              <a:rPr lang="en-US" altLang="ko-KR"/>
              <a:t>. </a:t>
            </a:r>
            <a:r>
              <a:rPr lang="ko-KR" altLang="en-US"/>
              <a:t>급식 결제 정의와 반출 전 가림</a:t>
            </a:r>
            <a:r>
              <a:rPr lang="en-US" altLang="ko-KR"/>
              <a:t>·</a:t>
            </a:r>
            <a:r>
              <a:rPr lang="ko-KR" altLang="en-US"/>
              <a:t>자동 검사</a:t>
            </a:r>
            <a:r>
              <a:rPr lang="en-US" altLang="ko-KR"/>
              <a:t>.
4</a:t>
            </a:r>
            <a:r>
              <a:rPr lang="ko-KR" altLang="en-US"/>
              <a:t>차 현장에서 급식 결제 정의 코드 한 줄 들여쓰기 오류가 있었고</a:t>
            </a:r>
            <a:r>
              <a:rPr lang="en-US" altLang="ko-KR"/>
              <a:t>, </a:t>
            </a:r>
            <a:r>
              <a:rPr lang="ko-KR" altLang="en-US"/>
              <a:t>이를 점검표의 자동 점검 항목으로 바꿨다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3021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4. </a:t>
            </a:r>
            <a:r>
              <a:rPr lang="ko-KR" altLang="en-US"/>
              <a:t>센터 밖 분석 과정</a:t>
            </a:r>
            <a:r>
              <a:rPr lang="en-US" altLang="ko-KR"/>
              <a:t>. </a:t>
            </a:r>
            <a:r>
              <a:rPr lang="ko-KR" altLang="en-US"/>
              <a:t>반출 집계에서 출발해 인구</a:t>
            </a:r>
            <a:r>
              <a:rPr lang="en-US" altLang="ko-KR"/>
              <a:t>, </a:t>
            </a:r>
            <a:r>
              <a:rPr lang="ko-KR" altLang="en-US"/>
              <a:t>대응표</a:t>
            </a:r>
            <a:r>
              <a:rPr lang="en-US" altLang="ko-KR"/>
              <a:t>, </a:t>
            </a:r>
            <a:r>
              <a:rPr lang="ko-KR" altLang="en-US"/>
              <a:t>진단</a:t>
            </a:r>
            <a:r>
              <a:rPr lang="en-US" altLang="ko-KR"/>
              <a:t>, </a:t>
            </a:r>
            <a:r>
              <a:rPr lang="ko-KR" altLang="en-US"/>
              <a:t>지도</a:t>
            </a:r>
            <a:r>
              <a:rPr lang="en-US" altLang="ko-KR"/>
              <a:t>·</a:t>
            </a:r>
            <a:r>
              <a:rPr lang="ko-KR" altLang="en-US"/>
              <a:t>군집</a:t>
            </a:r>
            <a:r>
              <a:rPr lang="en-US" altLang="ko-KR"/>
              <a:t>, </a:t>
            </a:r>
            <a:r>
              <a:rPr lang="ko-KR" altLang="en-US"/>
              <a:t>이웃 점검</a:t>
            </a:r>
            <a:r>
              <a:rPr lang="en-US" altLang="ko-KR"/>
              <a:t>, </a:t>
            </a:r>
            <a:r>
              <a:rPr lang="ko-KR" altLang="en-US"/>
              <a:t>공급 점검</a:t>
            </a:r>
            <a:r>
              <a:rPr lang="en-US" altLang="ko-KR"/>
              <a:t>, </a:t>
            </a:r>
            <a:r>
              <a:rPr lang="ko-KR" altLang="en-US"/>
              <a:t>시나리오</a:t>
            </a:r>
            <a:r>
              <a:rPr lang="en-US" altLang="ko-KR"/>
              <a:t>, </a:t>
            </a:r>
            <a:r>
              <a:rPr lang="ko-KR" altLang="en-US"/>
              <a:t>판정표까지 번호 순서로 이어진다</a:t>
            </a:r>
            <a:r>
              <a:rPr lang="en-US" altLang="ko-KR"/>
              <a:t>.
</a:t>
            </a:r>
            <a:r>
              <a:rPr lang="ko-KR" altLang="en-US"/>
              <a:t>집계 표에서 판정</a:t>
            </a:r>
            <a:r>
              <a:rPr lang="en-US" altLang="ko-KR"/>
              <a:t>·</a:t>
            </a:r>
            <a:r>
              <a:rPr lang="ko-KR" altLang="en-US"/>
              <a:t>시나리오</a:t>
            </a:r>
            <a:r>
              <a:rPr lang="en-US" altLang="ko-KR"/>
              <a:t>·</a:t>
            </a:r>
            <a:r>
              <a:rPr lang="ko-KR" altLang="en-US"/>
              <a:t>지도까지 노트북 </a:t>
            </a:r>
            <a:r>
              <a:rPr lang="en-US" altLang="ko-KR"/>
              <a:t>PC</a:t>
            </a:r>
            <a:r>
              <a:rPr lang="ko-KR" altLang="en-US"/>
              <a:t>로 약 </a:t>
            </a:r>
            <a:r>
              <a:rPr lang="en-US" altLang="ko-KR"/>
              <a:t>1</a:t>
            </a:r>
            <a:r>
              <a:rPr lang="ko-KR" altLang="en-US"/>
              <a:t>분</a:t>
            </a:r>
            <a:r>
              <a:rPr lang="en-US" altLang="ko-KR"/>
              <a:t>. </a:t>
            </a:r>
            <a:r>
              <a:rPr lang="ko-KR" altLang="en-US"/>
              <a:t>코드와 문서</a:t>
            </a:r>
            <a:r>
              <a:rPr lang="en-US" altLang="ko-KR"/>
              <a:t>, </a:t>
            </a:r>
            <a:r>
              <a:rPr lang="ko-KR" altLang="en-US"/>
              <a:t>작업 기록은 모두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018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5. </a:t>
            </a:r>
            <a:r>
              <a:rPr lang="ko-KR" altLang="en-US"/>
              <a:t>판정 코드의 핵심</a:t>
            </a:r>
            <a:r>
              <a:rPr lang="en-US" altLang="ko-KR"/>
              <a:t>. </a:t>
            </a:r>
            <a:r>
              <a:rPr lang="ko-KR" altLang="en-US"/>
              <a:t>반출 자료에는 작은 칸이 가려져 있다</a:t>
            </a:r>
            <a:r>
              <a:rPr lang="en-US" altLang="ko-KR"/>
              <a:t>.
</a:t>
            </a:r>
            <a:r>
              <a:rPr lang="ko-KR" altLang="en-US"/>
              <a:t>가린 칸을 가장 불리한 값과 가장 유리한 값으로 채워 두 번 판정하고</a:t>
            </a:r>
            <a:r>
              <a:rPr lang="en-US" altLang="ko-KR"/>
              <a:t>, </a:t>
            </a:r>
            <a:r>
              <a:rPr lang="ko-KR" altLang="en-US"/>
              <a:t>두 판정이 같을 때만 확정한다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6505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6. </a:t>
            </a:r>
            <a:r>
              <a:rPr lang="ko-KR" altLang="en-US"/>
              <a:t>분석 기술</a:t>
            </a:r>
            <a:r>
              <a:rPr lang="en-US" altLang="ko-KR"/>
              <a:t>. </a:t>
            </a:r>
            <a:r>
              <a:rPr lang="ko-KR" altLang="en-US"/>
              <a:t>이용 비중은 입지계수</a:t>
            </a:r>
            <a:r>
              <a:rPr lang="en-US" altLang="ko-KR"/>
              <a:t>, </a:t>
            </a:r>
            <a:r>
              <a:rPr lang="ko-KR" altLang="en-US"/>
              <a:t>공간 군집은 </a:t>
            </a:r>
            <a:r>
              <a:rPr lang="en-US" altLang="ko-KR"/>
              <a:t>Moran</a:t>
            </a:r>
            <a:r>
              <a:rPr lang="ko-KR" altLang="en-US"/>
              <a:t>과 </a:t>
            </a:r>
            <a:r>
              <a:rPr lang="en-US" altLang="ko-KR"/>
              <a:t>LISA, </a:t>
            </a:r>
            <a:r>
              <a:rPr lang="ko-KR" altLang="en-US"/>
              <a:t>이웃은 퍼지 인접</a:t>
            </a:r>
            <a:r>
              <a:rPr lang="en-US" altLang="ko-KR"/>
              <a:t>.
</a:t>
            </a:r>
            <a:r>
              <a:rPr lang="ko-KR" altLang="en-US"/>
              <a:t>시나리오는 </a:t>
            </a:r>
            <a:r>
              <a:rPr lang="en-US" altLang="ko-KR"/>
              <a:t>MCLP </a:t>
            </a:r>
            <a:r>
              <a:rPr lang="ko-KR" altLang="en-US"/>
              <a:t>부분 커버 탐욕 선택과 로그 선형 기대 모형</a:t>
            </a:r>
            <a:r>
              <a:rPr lang="en-US" altLang="ko-KR"/>
              <a:t>, </a:t>
            </a:r>
            <a:r>
              <a:rPr lang="ko-KR" altLang="en-US"/>
              <a:t>시범 판정은 반기 자연 변동으로 설계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0501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7. </a:t>
            </a:r>
            <a:r>
              <a:rPr lang="ko-KR" altLang="en-US"/>
              <a:t>출처</a:t>
            </a:r>
            <a:r>
              <a:rPr lang="en-US" altLang="ko-KR"/>
              <a:t>. </a:t>
            </a:r>
            <a:r>
              <a:rPr lang="ko-KR" altLang="en-US"/>
              <a:t>데이터 출처와 전화</a:t>
            </a:r>
            <a:r>
              <a:rPr lang="en-US" altLang="ko-KR"/>
              <a:t>·</a:t>
            </a:r>
            <a:r>
              <a:rPr lang="ko-KR" altLang="en-US"/>
              <a:t>문의 확인 기록</a:t>
            </a:r>
            <a:r>
              <a:rPr lang="en-US" altLang="ko-KR"/>
              <a:t>, </a:t>
            </a:r>
            <a:r>
              <a:rPr lang="ko-KR" altLang="en-US"/>
              <a:t>보도</a:t>
            </a:r>
            <a:r>
              <a:rPr lang="en-US" altLang="ko-KR"/>
              <a:t>, </a:t>
            </a:r>
            <a:r>
              <a:rPr lang="ko-KR" altLang="en-US"/>
              <a:t>앱 점검 일시</a:t>
            </a:r>
            <a:r>
              <a:rPr lang="en-US" altLang="ko-KR"/>
              <a:t>.
</a:t>
            </a:r>
            <a:r>
              <a:rPr lang="ko-KR" altLang="en-US"/>
              <a:t>분석 코드</a:t>
            </a:r>
            <a:r>
              <a:rPr lang="en-US" altLang="ko-KR"/>
              <a:t>·</a:t>
            </a:r>
            <a:r>
              <a:rPr lang="ko-KR" altLang="en-US"/>
              <a:t>센터 입력 코드</a:t>
            </a:r>
            <a:r>
              <a:rPr lang="en-US" altLang="ko-KR"/>
              <a:t>·</a:t>
            </a:r>
            <a:r>
              <a:rPr lang="ko-KR" altLang="en-US"/>
              <a:t>결정 기록</a:t>
            </a:r>
            <a:r>
              <a:rPr lang="en-US" altLang="ko-KR"/>
              <a:t>·</a:t>
            </a:r>
            <a:r>
              <a:rPr lang="ko-KR" altLang="en-US"/>
              <a:t>반출 결과 문서</a:t>
            </a:r>
            <a:r>
              <a:rPr lang="en-US" altLang="ko-KR"/>
              <a:t>·</a:t>
            </a:r>
            <a:r>
              <a:rPr lang="ko-KR" altLang="en-US"/>
              <a:t>작업 기록 전체를 </a:t>
            </a:r>
            <a:r>
              <a:rPr lang="en-US" altLang="ko-KR"/>
              <a:t>GitHub</a:t>
            </a:r>
            <a:r>
              <a:rPr lang="ko-KR" altLang="en-US"/>
              <a:t>에 공개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AE4D-BC0F-4792-A7CB-CDD0CA66BBB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100D4-9CF6-32E4-285F-B9B598F2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9A8667-BE53-D538-14D8-C2530F0F4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A63B2-3E38-8BB0-D8A3-C2E448CE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3E153-7076-8D31-17B6-30A6C0AE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C99EC-D47B-EFA0-9DBD-3DAF2187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0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EF336-7009-2A9D-4D60-CD91BDD6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CC436-1119-C524-68BF-20B649EEF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0077C-252D-CDE9-893D-A4A1F75A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666D0-29C0-7FC1-0A8D-CE8C20B3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128AF-4DF1-2656-33BB-DB76A0B4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45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D9E85-9D19-B564-D3F2-9FC2C25F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0E272-1A32-BA17-8011-AC2933405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59467D-8AE2-EA98-4780-7436B259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5AA25-4537-5E47-650D-02486459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9D4B7-A53E-89F0-D09B-F4D6A4AC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5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CAA6D-9899-26AC-8D48-D68A2201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EEAB17-EAC6-08D5-81C4-D5D9022BF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C51B53-A9D6-9B7A-1BE7-00BFD895D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9A9881-22B6-055D-2123-9CB6F726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E8952-F1A0-1C12-7C7E-3D762242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669F3A-BFE6-8C2C-E33E-25FACBB0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1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EF5D04-B337-BE52-1012-436D22F2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E0160-C3CD-9320-4395-B8F83CC2A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2025A-729D-D80D-48BE-D3420D137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0ABDBC-FB5B-1909-3807-F490CD8B5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C7F863-621D-C30E-594A-A691276AF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CE68FE-0844-A393-07BA-DF97F9EE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2BCF8E-64E6-C7E1-CAF8-0738336E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4546C5-364A-01F3-321D-D52B6FFF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71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E83E5-64C7-87F5-5F39-D15BE523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05CB94-E43F-E030-52AE-55F600EA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8A9947-A1A3-9E0E-2CE5-2FB0B841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6951E4-2AAD-7E9C-F410-2469F9AC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74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4C7CD6-0696-E334-8731-CEEC5DAE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9A26FC-1FDC-E6D8-C2E9-A65CA38A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BD11A-B676-ABFE-25A8-E223CC5F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74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09415-035A-23DF-50C3-B624BD707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946F26-5FE1-B78F-D1CC-A5271811D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F555DF-0960-826D-E652-F90FFECB8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BFFD1F-BE8A-02E6-B067-2E1ACD2D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9F442-A79F-6BD0-DEF1-05EB66B8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2A6A1A-0033-3673-9E5D-CCC106C6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84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E3DBC-E0A4-E4D1-2570-E625A5639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C1139C-4825-F222-269C-B01F4B6C48F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60065-3FC3-22EB-5E03-04FF0F40A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35CBDE-33E3-543F-C92C-AD853ABE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D43515-7058-7A95-EA7F-BBC6EF64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31F074-CB12-6F78-F8C8-6E1066C2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40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8CCF0-10E9-9625-BE24-2C772651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7254ED-DBBD-BEC0-9D5C-0B7EF0E8A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82B00E-F872-C259-C159-67F78912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08914-48BA-6DA8-A3DE-BD9DFE99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A4EF1-1622-CDC7-AC21-F8637A64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77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8D2265-61EA-CA1B-77C2-736370D00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1C499E-BB09-8DA1-615A-3B8E9072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7B040-89FE-110D-1DCC-E7F6705E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A51C1D-172D-32A7-3ED8-4E4B0F8E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61468-22A8-9575-6797-D2E63682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41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1770D5-AF31-8039-B564-B2AF5CAEC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AA5CC7-13E0-85AD-2453-9E1167458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ED945-D5AD-2049-A8FB-815B0DAD7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68334-277C-4897-B05A-DE9B648857EA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27088-67C8-9ADB-1284-6F42AAC97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CA09E-73AC-587B-A2F4-FF5F65A35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98E0C-E679-4BF8-8104-148265CBD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70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ngDoonK/2026-data-safe-zone-contest-team-nam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ngDoonK/2026-data-safe-zone-contest-team-namu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ngDoonK/2026-data-safe-zone-contest-team-namu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02850-6CC3-291F-E7D7-F032329B563E}"/>
              </a:ext>
            </a:extLst>
          </p:cNvPr>
          <p:cNvSpPr txBox="1"/>
          <p:nvPr/>
        </p:nvSpPr>
        <p:spPr>
          <a:xfrm>
            <a:off x="1524000" y="2247900"/>
            <a:ext cx="1009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 </a:t>
            </a:r>
            <a:r>
              <a:rPr lang="ko-KR" altLang="en-US" sz="15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데이터안심구역 경진대회 </a:t>
            </a:r>
            <a:r>
              <a:rPr lang="en-US" altLang="ko-KR" sz="15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아이디어 기획서 겸 발표자료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938C0E-7379-1233-A7A0-D411E18C0ACD}"/>
              </a:ext>
            </a:extLst>
          </p:cNvPr>
          <p:cNvSpPr txBox="1"/>
          <p:nvPr/>
        </p:nvSpPr>
        <p:spPr>
          <a:xfrm>
            <a:off x="1524000" y="3028950"/>
            <a:ext cx="1047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ko-KR" altLang="en-US" sz="78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아동급식카드는</a:t>
            </a:r>
          </a:p>
          <a:p>
            <a:pPr>
              <a:lnSpc>
                <a:spcPct val="108000"/>
              </a:lnSpc>
            </a:pPr>
            <a:r>
              <a:rPr lang="ko-KR" altLang="en-US" sz="78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어디서 멈추는가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9CC4C-D653-DB08-ADC0-9870823D854E}"/>
              </a:ext>
            </a:extLst>
          </p:cNvPr>
          <p:cNvSpPr txBox="1"/>
          <p:nvPr/>
        </p:nvSpPr>
        <p:spPr>
          <a:xfrm>
            <a:off x="1524000" y="596265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공공배달앱 ‘대구로’ 급식카드 결제 </a:t>
            </a:r>
            <a:r>
              <a:rPr lang="en-US" altLang="ko-KR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341,216</a:t>
            </a:r>
            <a:r>
              <a:rPr lang="ko-KR" altLang="en-US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건으로 본</a:t>
            </a:r>
          </a:p>
          <a:p>
            <a:pPr>
              <a:lnSpc>
                <a:spcPct val="135000"/>
              </a:lnSpc>
            </a:pPr>
            <a:r>
              <a:rPr lang="ko-KR" altLang="en-US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  <a:r>
              <a:rPr lang="en-US" altLang="ko-KR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  <a:r>
              <a:rPr lang="en-US" altLang="ko-KR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2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제도의 공백과 방학 점검표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D447F-2E3B-9BD3-05F7-2F08C82828AC}"/>
              </a:ext>
            </a:extLst>
          </p:cNvPr>
          <p:cNvCxnSpPr/>
          <p:nvPr/>
        </p:nvCxnSpPr>
        <p:spPr>
          <a:xfrm>
            <a:off x="1524000" y="7962900"/>
            <a:ext cx="857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630972-D951-34A6-5754-CAE0B6CD0ED5}"/>
              </a:ext>
            </a:extLst>
          </p:cNvPr>
          <p:cNvSpPr txBox="1"/>
          <p:nvPr/>
        </p:nvSpPr>
        <p:spPr>
          <a:xfrm>
            <a:off x="1524000" y="81915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2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07EBF-301C-0C1C-9F45-E303F8660430}"/>
              </a:ext>
            </a:extLst>
          </p:cNvPr>
          <p:cNvSpPr txBox="1"/>
          <p:nvPr/>
        </p:nvSpPr>
        <p:spPr>
          <a:xfrm>
            <a:off x="3143250" y="82296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김동훈 </a:t>
            </a:r>
            <a:r>
              <a:rPr lang="en-US" altLang="ko-KR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나선엽 </a:t>
            </a:r>
            <a:r>
              <a:rPr lang="en-US" altLang="ko-KR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이승혁 </a:t>
            </a:r>
            <a:r>
              <a:rPr lang="en-US" altLang="ko-KR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9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정다현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09447-116A-CE49-3825-39AC04AFDF6F}"/>
              </a:ext>
            </a:extLst>
          </p:cNvPr>
          <p:cNvSpPr txBox="1"/>
          <p:nvPr/>
        </p:nvSpPr>
        <p:spPr>
          <a:xfrm>
            <a:off x="1524000" y="874395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기간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2023-06~2025-06 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데이터안심구역 방문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 2026. 10.</a:t>
            </a:r>
            <a:endParaRPr lang="ko-KR" altLang="en-US" sz="14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A769A-E687-4E0E-803B-07744667A4C1}"/>
              </a:ext>
            </a:extLst>
          </p:cNvPr>
          <p:cNvSpPr txBox="1"/>
          <p:nvPr/>
        </p:nvSpPr>
        <p:spPr>
          <a:xfrm>
            <a:off x="1524000" y="9067800"/>
            <a:ext cx="1009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코드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기록 전체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</a:t>
            </a:r>
            <a:b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github.com/HongDoonK/2026-data-safe-zone-contest-team-namu</a:t>
            </a:r>
            <a:endParaRPr lang="ko-KR" altLang="en-US" sz="14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30DFE-23D3-495A-6324-739FBA7D4F14}"/>
              </a:ext>
            </a:extLst>
          </p:cNvPr>
          <p:cNvSpPr txBox="1"/>
          <p:nvPr/>
        </p:nvSpPr>
        <p:spPr>
          <a:xfrm>
            <a:off x="12287250" y="2247900"/>
            <a:ext cx="4476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월별 급식카드 결제 건수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9FBA49-772D-763C-AA98-DF807400FB8A}"/>
              </a:ext>
            </a:extLst>
          </p:cNvPr>
          <p:cNvSpPr/>
          <p:nvPr/>
        </p:nvSpPr>
        <p:spPr>
          <a:xfrm>
            <a:off x="12306300" y="7105662"/>
            <a:ext cx="140970" cy="22858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850416-F6CF-3F39-1DA9-083BEAE9E4C2}"/>
              </a:ext>
            </a:extLst>
          </p:cNvPr>
          <p:cNvSpPr/>
          <p:nvPr/>
        </p:nvSpPr>
        <p:spPr>
          <a:xfrm>
            <a:off x="12485370" y="6256825"/>
            <a:ext cx="140969" cy="1077425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6C22D8-DAD8-1F9A-0D24-BE5BE2E7FB0B}"/>
              </a:ext>
            </a:extLst>
          </p:cNvPr>
          <p:cNvSpPr/>
          <p:nvPr/>
        </p:nvSpPr>
        <p:spPr>
          <a:xfrm>
            <a:off x="12664440" y="5208567"/>
            <a:ext cx="140970" cy="2125683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3495F5-7960-CA7F-F107-862CDA6D6609}"/>
              </a:ext>
            </a:extLst>
          </p:cNvPr>
          <p:cNvSpPr/>
          <p:nvPr/>
        </p:nvSpPr>
        <p:spPr>
          <a:xfrm>
            <a:off x="12843510" y="6814872"/>
            <a:ext cx="140970" cy="51937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3B9244-E093-9A69-06AE-C79D9EB05109}"/>
              </a:ext>
            </a:extLst>
          </p:cNvPr>
          <p:cNvSpPr/>
          <p:nvPr/>
        </p:nvSpPr>
        <p:spPr>
          <a:xfrm>
            <a:off x="13022580" y="6770900"/>
            <a:ext cx="140970" cy="56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C92C73-5E7D-8444-0930-87E20D4AC576}"/>
              </a:ext>
            </a:extLst>
          </p:cNvPr>
          <p:cNvSpPr/>
          <p:nvPr/>
        </p:nvSpPr>
        <p:spPr>
          <a:xfrm>
            <a:off x="13201650" y="6761840"/>
            <a:ext cx="140970" cy="57241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7C4FE5-AE71-F7F7-B34E-23CFE5D91E12}"/>
              </a:ext>
            </a:extLst>
          </p:cNvPr>
          <p:cNvSpPr/>
          <p:nvPr/>
        </p:nvSpPr>
        <p:spPr>
          <a:xfrm>
            <a:off x="13380720" y="6382554"/>
            <a:ext cx="140969" cy="951696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92EADB-A254-A903-ED1D-EBEB90A65DFE}"/>
              </a:ext>
            </a:extLst>
          </p:cNvPr>
          <p:cNvSpPr/>
          <p:nvPr/>
        </p:nvSpPr>
        <p:spPr>
          <a:xfrm>
            <a:off x="13559789" y="3798700"/>
            <a:ext cx="140970" cy="3535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4E677E-3480-70AB-0AB9-3076E9EFDFBD}"/>
              </a:ext>
            </a:extLst>
          </p:cNvPr>
          <p:cNvSpPr/>
          <p:nvPr/>
        </p:nvSpPr>
        <p:spPr>
          <a:xfrm>
            <a:off x="13738861" y="3874712"/>
            <a:ext cx="140969" cy="345953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618A55-E858-66AD-A121-37581E14C538}"/>
              </a:ext>
            </a:extLst>
          </p:cNvPr>
          <p:cNvSpPr/>
          <p:nvPr/>
        </p:nvSpPr>
        <p:spPr>
          <a:xfrm>
            <a:off x="13917930" y="6577998"/>
            <a:ext cx="140970" cy="75625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FFDD31-3F2C-66D4-49F0-FB4DBA9909A9}"/>
              </a:ext>
            </a:extLst>
          </p:cNvPr>
          <p:cNvSpPr/>
          <p:nvPr/>
        </p:nvSpPr>
        <p:spPr>
          <a:xfrm>
            <a:off x="14097000" y="6578660"/>
            <a:ext cx="140970" cy="75559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28FA4E-5CCA-E6FF-DACD-24E2986B9F59}"/>
              </a:ext>
            </a:extLst>
          </p:cNvPr>
          <p:cNvSpPr/>
          <p:nvPr/>
        </p:nvSpPr>
        <p:spPr>
          <a:xfrm>
            <a:off x="14276070" y="6502870"/>
            <a:ext cx="140969" cy="83138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33E531-B534-1B15-BD97-301A15F8BC12}"/>
              </a:ext>
            </a:extLst>
          </p:cNvPr>
          <p:cNvSpPr/>
          <p:nvPr/>
        </p:nvSpPr>
        <p:spPr>
          <a:xfrm>
            <a:off x="14455139" y="6491490"/>
            <a:ext cx="140970" cy="84276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1D7BAF-DDEE-63F1-743E-8D4A2E88B7B4}"/>
              </a:ext>
            </a:extLst>
          </p:cNvPr>
          <p:cNvSpPr/>
          <p:nvPr/>
        </p:nvSpPr>
        <p:spPr>
          <a:xfrm>
            <a:off x="14634211" y="5337390"/>
            <a:ext cx="140969" cy="199686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56E21B-9507-EFE1-08CA-7FCACA6DC83C}"/>
              </a:ext>
            </a:extLst>
          </p:cNvPr>
          <p:cNvSpPr/>
          <p:nvPr/>
        </p:nvSpPr>
        <p:spPr>
          <a:xfrm>
            <a:off x="14813280" y="4293220"/>
            <a:ext cx="140970" cy="304103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3CDA658-F980-5FFE-C5FA-8231B7BF5184}"/>
              </a:ext>
            </a:extLst>
          </p:cNvPr>
          <p:cNvSpPr/>
          <p:nvPr/>
        </p:nvSpPr>
        <p:spPr>
          <a:xfrm>
            <a:off x="14992350" y="6422438"/>
            <a:ext cx="140970" cy="9118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B4F1AC-3D9D-1187-7365-3407ADA555AA}"/>
              </a:ext>
            </a:extLst>
          </p:cNvPr>
          <p:cNvSpPr/>
          <p:nvPr/>
        </p:nvSpPr>
        <p:spPr>
          <a:xfrm>
            <a:off x="15171420" y="6370401"/>
            <a:ext cx="140969" cy="96384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2D1261-599F-D77B-4C34-2196EB7A6D12}"/>
              </a:ext>
            </a:extLst>
          </p:cNvPr>
          <p:cNvSpPr/>
          <p:nvPr/>
        </p:nvSpPr>
        <p:spPr>
          <a:xfrm>
            <a:off x="15350489" y="6441773"/>
            <a:ext cx="140970" cy="89247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C4074E-F385-DC2D-E800-041C141CC4D3}"/>
              </a:ext>
            </a:extLst>
          </p:cNvPr>
          <p:cNvSpPr/>
          <p:nvPr/>
        </p:nvSpPr>
        <p:spPr>
          <a:xfrm>
            <a:off x="15529561" y="6099608"/>
            <a:ext cx="140969" cy="1234642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25AD7A-0F02-FCE2-FA14-50C191B8DBED}"/>
              </a:ext>
            </a:extLst>
          </p:cNvPr>
          <p:cNvSpPr/>
          <p:nvPr/>
        </p:nvSpPr>
        <p:spPr>
          <a:xfrm>
            <a:off x="15708630" y="3121995"/>
            <a:ext cx="140970" cy="421225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8D857D-7A24-19BD-0ACE-9F877D275A83}"/>
              </a:ext>
            </a:extLst>
          </p:cNvPr>
          <p:cNvSpPr/>
          <p:nvPr/>
        </p:nvSpPr>
        <p:spPr>
          <a:xfrm>
            <a:off x="15887700" y="2857500"/>
            <a:ext cx="140970" cy="44767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9021FA-03B9-7A09-CC3B-59253FC799ED}"/>
              </a:ext>
            </a:extLst>
          </p:cNvPr>
          <p:cNvSpPr/>
          <p:nvPr/>
        </p:nvSpPr>
        <p:spPr>
          <a:xfrm>
            <a:off x="16066770" y="6402441"/>
            <a:ext cx="140969" cy="93180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9AF2F3-94FC-98E1-0802-1EDE0B212858}"/>
              </a:ext>
            </a:extLst>
          </p:cNvPr>
          <p:cNvSpPr/>
          <p:nvPr/>
        </p:nvSpPr>
        <p:spPr>
          <a:xfrm>
            <a:off x="16245839" y="6441773"/>
            <a:ext cx="140970" cy="89247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B227A6-438D-5320-4F51-3B49B7DE3CBF}"/>
              </a:ext>
            </a:extLst>
          </p:cNvPr>
          <p:cNvSpPr/>
          <p:nvPr/>
        </p:nvSpPr>
        <p:spPr>
          <a:xfrm>
            <a:off x="16424911" y="6350403"/>
            <a:ext cx="140969" cy="98384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CDFAF2-C0B5-8750-F918-5697A2BEF0B0}"/>
              </a:ext>
            </a:extLst>
          </p:cNvPr>
          <p:cNvSpPr/>
          <p:nvPr/>
        </p:nvSpPr>
        <p:spPr>
          <a:xfrm>
            <a:off x="16603980" y="6393271"/>
            <a:ext cx="140970" cy="94097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C64DC8C-F8CD-E72C-4C2F-BAD44A4055B6}"/>
              </a:ext>
            </a:extLst>
          </p:cNvPr>
          <p:cNvCxnSpPr/>
          <p:nvPr/>
        </p:nvCxnSpPr>
        <p:spPr>
          <a:xfrm>
            <a:off x="12287250" y="7334250"/>
            <a:ext cx="447675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6B054DC-8EF0-CCC2-9B3A-50E1DABE97B8}"/>
              </a:ext>
            </a:extLst>
          </p:cNvPr>
          <p:cNvSpPr txBox="1"/>
          <p:nvPr/>
        </p:nvSpPr>
        <p:spPr>
          <a:xfrm>
            <a:off x="12287250" y="7429500"/>
            <a:ext cx="1428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D113D3-7977-42A3-6259-B61E12AE0E85}"/>
              </a:ext>
            </a:extLst>
          </p:cNvPr>
          <p:cNvSpPr txBox="1"/>
          <p:nvPr/>
        </p:nvSpPr>
        <p:spPr>
          <a:xfrm>
            <a:off x="15335250" y="7429500"/>
            <a:ext cx="1428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2025-06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822843C-450A-C35C-4946-E28FFA3C472A}"/>
              </a:ext>
            </a:extLst>
          </p:cNvPr>
          <p:cNvSpPr/>
          <p:nvPr/>
        </p:nvSpPr>
        <p:spPr>
          <a:xfrm>
            <a:off x="12287250" y="7839075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6AC7A7-6B73-613C-94F1-F4BBBEEC3DCB}"/>
              </a:ext>
            </a:extLst>
          </p:cNvPr>
          <p:cNvSpPr txBox="1"/>
          <p:nvPr/>
        </p:nvSpPr>
        <p:spPr>
          <a:xfrm>
            <a:off x="12496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1·2·8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8CCD22A-5109-4C4D-C247-FBBB0994A0DA}"/>
              </a:ext>
            </a:extLst>
          </p:cNvPr>
          <p:cNvSpPr/>
          <p:nvPr/>
        </p:nvSpPr>
        <p:spPr>
          <a:xfrm>
            <a:off x="13811250" y="7839075"/>
            <a:ext cx="133350" cy="1333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1E245A-4BB3-9DD5-A943-7E2AA3A42CFD}"/>
              </a:ext>
            </a:extLst>
          </p:cNvPr>
          <p:cNvSpPr txBox="1"/>
          <p:nvPr/>
        </p:nvSpPr>
        <p:spPr>
          <a:xfrm>
            <a:off x="14020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전환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7·12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70BF819-4E12-4831-3108-6C99AC268220}"/>
              </a:ext>
            </a:extLst>
          </p:cNvPr>
          <p:cNvSpPr/>
          <p:nvPr/>
        </p:nvSpPr>
        <p:spPr>
          <a:xfrm>
            <a:off x="15335250" y="7839075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5CF4D5-9243-9CC7-64B8-D96D9B1AF95A}"/>
              </a:ext>
            </a:extLst>
          </p:cNvPr>
          <p:cNvSpPr txBox="1"/>
          <p:nvPr/>
        </p:nvSpPr>
        <p:spPr>
          <a:xfrm>
            <a:off x="15544800" y="7781925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7860D4-F4F0-A982-E369-F6A2123E1C59}"/>
              </a:ext>
            </a:extLst>
          </p:cNvPr>
          <p:cNvSpPr txBox="1"/>
          <p:nvPr/>
        </p:nvSpPr>
        <p:spPr>
          <a:xfrm>
            <a:off x="12287250" y="8153400"/>
            <a:ext cx="4476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결제의 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55.3%</a:t>
            </a:r>
            <a:endParaRPr lang="ko-KR" altLang="en-US" sz="1275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008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86A303B-4951-DDEE-B47F-10C8100C2B05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10FA59-1E4D-2DB8-7E85-A262B28DC500}"/>
              </a:ext>
            </a:extLst>
          </p:cNvPr>
          <p:cNvSpPr/>
          <p:nvPr/>
        </p:nvSpPr>
        <p:spPr>
          <a:xfrm>
            <a:off x="381000" y="97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46543-0309-F75B-705A-3B6FCE8FA53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9A1A1-8274-DCFE-638D-5DFA409768D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E4BBB-48AC-23B4-B257-274AF7C3932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36808-7A38-EEF2-7A60-AF8E2D8E1C02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783F2-EBB0-25BE-3D2D-4992608F0702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FFE79-6161-A86C-3D9F-1C0F133530B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1BA2E-4DF7-6DEE-AB75-2CEA8783A46D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D41F8-6297-3BE5-D51B-E564AF51A81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D64EBD-B283-6CAC-E140-1815875BFA9B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72F6D-8AE1-B65F-3F29-35F3BFC4EB7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0222F5-532D-F668-67BC-B3E897140472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00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한 장 요약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AE0AE-F118-3FE6-CADC-5949D13F516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멈추는 곳은 가게 없는 동이 아니라 판정으로 걸러낸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 동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9BF32B5-2367-D890-7199-94C9B03C495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A2600D-2776-7383-9A4B-2E222499D64A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E8F41-B8B1-986A-DFE7-53E58729C742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숫자 출처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2~4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결과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숫자는 가정 아래 계산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DAE91F-E7A5-AB47-46DB-00925D6E8D01}"/>
              </a:ext>
            </a:extLst>
          </p:cNvPr>
          <p:cNvSpPr txBox="1"/>
          <p:nvPr/>
        </p:nvSpPr>
        <p:spPr>
          <a:xfrm>
            <a:off x="3314700" y="22479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이야기 한 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F69775-4CF6-F233-B93B-539C31F6DCD0}"/>
              </a:ext>
            </a:extLst>
          </p:cNvPr>
          <p:cNvSpPr txBox="1"/>
          <p:nvPr/>
        </p:nvSpPr>
        <p:spPr>
          <a:xfrm>
            <a:off x="3314700" y="257175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가게를 더 모으는 사업보다</a:t>
            </a:r>
            <a:r>
              <a:rPr lang="en-US" altLang="ko-KR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방학마다 같은 로그로 덜 쓰는 동을 다시 판정해 필요한 몇 곳에 해결방안 집중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50F8179-D303-92D6-E6DF-BBED086CFB77}"/>
              </a:ext>
            </a:extLst>
          </p:cNvPr>
          <p:cNvCxnSpPr/>
          <p:nvPr/>
        </p:nvCxnSpPr>
        <p:spPr>
          <a:xfrm>
            <a:off x="3314700" y="35052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322D435-791A-B1E2-0976-1E3294558484}"/>
              </a:ext>
            </a:extLst>
          </p:cNvPr>
          <p:cNvSpPr txBox="1"/>
          <p:nvPr/>
        </p:nvSpPr>
        <p:spPr>
          <a:xfrm>
            <a:off x="3314700" y="37528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99.9%</a:t>
            </a:r>
            <a:endParaRPr lang="ko-KR" altLang="en-US" sz="45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5590F4-770D-5079-16B9-B1353AC70378}"/>
              </a:ext>
            </a:extLst>
          </p:cNvPr>
          <p:cNvSpPr txBox="1"/>
          <p:nvPr/>
        </p:nvSpPr>
        <p:spPr>
          <a:xfrm>
            <a:off x="3314700" y="44767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주문 가게가 이미 닿는 아이 비율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8D1647-CE36-DA97-8EF6-6FE17323F996}"/>
              </a:ext>
            </a:extLst>
          </p:cNvPr>
          <p:cNvSpPr txBox="1"/>
          <p:nvPr/>
        </p:nvSpPr>
        <p:spPr>
          <a:xfrm>
            <a:off x="3314700" y="50482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모집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 효과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월 이용자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 후한 가정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+35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271E93D-7665-2035-4374-4AEC1A3E42DE}"/>
              </a:ext>
            </a:extLst>
          </p:cNvPr>
          <p:cNvCxnSpPr/>
          <p:nvPr/>
        </p:nvCxnSpPr>
        <p:spPr>
          <a:xfrm>
            <a:off x="6124575" y="37528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C3050D-6577-73C0-E18B-9B72968A066E}"/>
              </a:ext>
            </a:extLst>
          </p:cNvPr>
          <p:cNvSpPr txBox="1"/>
          <p:nvPr/>
        </p:nvSpPr>
        <p:spPr>
          <a:xfrm>
            <a:off x="6267450" y="37528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65%</a:t>
            </a:r>
            <a:endParaRPr lang="ko-KR" altLang="en-US" sz="45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D4EC05-17A7-43D7-4F7F-1F6C1B324DF3}"/>
              </a:ext>
            </a:extLst>
          </p:cNvPr>
          <p:cNvSpPr txBox="1"/>
          <p:nvPr/>
        </p:nvSpPr>
        <p:spPr>
          <a:xfrm>
            <a:off x="6267450" y="44767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겉보기 부족분 중 사각지대 아닌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몫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0A78FC-B879-B45C-2ED9-62AFF1F458B1}"/>
              </a:ext>
            </a:extLst>
          </p:cNvPr>
          <p:cNvSpPr txBox="1"/>
          <p:nvPr/>
        </p:nvSpPr>
        <p:spPr>
          <a:xfrm>
            <a:off x="6267450" y="5048250"/>
            <a:ext cx="2571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부족분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1,337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중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468B8AB-AA3E-DE18-BA22-4E4EE994ED94}"/>
              </a:ext>
            </a:extLst>
          </p:cNvPr>
          <p:cNvCxnSpPr/>
          <p:nvPr/>
        </p:nvCxnSpPr>
        <p:spPr>
          <a:xfrm>
            <a:off x="9077325" y="37528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F802043-471D-BBE9-ACEA-D1FB7AA79FB8}"/>
              </a:ext>
            </a:extLst>
          </p:cNvPr>
          <p:cNvSpPr txBox="1"/>
          <p:nvPr/>
        </p:nvSpPr>
        <p:spPr>
          <a:xfrm>
            <a:off x="9220200" y="37528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B1EE04-8AE5-6A7B-21EE-AB24F75BFB44}"/>
              </a:ext>
            </a:extLst>
          </p:cNvPr>
          <p:cNvSpPr txBox="1"/>
          <p:nvPr/>
        </p:nvSpPr>
        <p:spPr>
          <a:xfrm>
            <a:off x="9220200" y="44767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 배달형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FFEC7-7036-B52D-32F6-8C991B9E0F74}"/>
              </a:ext>
            </a:extLst>
          </p:cNvPr>
          <p:cNvSpPr txBox="1"/>
          <p:nvPr/>
        </p:nvSpPr>
        <p:spPr>
          <a:xfrm>
            <a:off x="9220200" y="5048250"/>
            <a:ext cx="2381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회복 시 그 동네 이용자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→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16~22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3A44C40-83A7-02D2-E916-97391B13B613}"/>
              </a:ext>
            </a:extLst>
          </p:cNvPr>
          <p:cNvCxnSpPr/>
          <p:nvPr/>
        </p:nvCxnSpPr>
        <p:spPr>
          <a:xfrm>
            <a:off x="3314700" y="60960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F4B2DA1-5564-48B1-1043-372FB6406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661204"/>
              </p:ext>
            </p:extLst>
          </p:nvPr>
        </p:nvGraphicFramePr>
        <p:xfrm>
          <a:off x="3314700" y="6096000"/>
          <a:ext cx="8382000" cy="35433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57771925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2840967781"/>
                    </a:ext>
                  </a:extLst>
                </a:gridCol>
              </a:tblGrid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</a:p>
                  </a:txBody>
                  <a:tcPr marL="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(1·2·8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55.3%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이용자 수 학기의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4.9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23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 이후 급식 결제 사실상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47391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→ 사각지대 아님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(13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곳은 두 방학 연속 하위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25%)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810457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이용자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99.5%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하루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 넘게 카드 결제한 날이 있음</a:t>
                      </a:r>
                      <a:b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최소주문 면제 가게가 앱 목록에 표시 안 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692421"/>
                  </a:ext>
                </a:extLst>
              </a:tr>
            </a:tbl>
          </a:graphicData>
        </a:graphic>
      </p:graphicFrame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AD12462-3B98-644E-CF45-44CA3CB80AB3}"/>
              </a:ext>
            </a:extLst>
          </p:cNvPr>
          <p:cNvCxnSpPr/>
          <p:nvPr/>
        </p:nvCxnSpPr>
        <p:spPr>
          <a:xfrm>
            <a:off x="119824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90058A4-2682-4661-ACC5-562EDCF3E572}"/>
              </a:ext>
            </a:extLst>
          </p:cNvPr>
          <p:cNvSpPr txBox="1"/>
          <p:nvPr/>
        </p:nvSpPr>
        <p:spPr>
          <a:xfrm>
            <a:off x="12268200" y="22479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36B96A-88A1-11FC-88DE-95AB3191D1E1}"/>
              </a:ext>
            </a:extLst>
          </p:cNvPr>
          <p:cNvSpPr txBox="1"/>
          <p:nvPr/>
        </p:nvSpPr>
        <p:spPr>
          <a:xfrm>
            <a:off x="14820900" y="2276475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83D11D-C882-A267-FF59-A93522AD4EDC}"/>
              </a:ext>
            </a:extLst>
          </p:cNvPr>
          <p:cNvSpPr txBox="1"/>
          <p:nvPr/>
        </p:nvSpPr>
        <p:spPr>
          <a:xfrm>
            <a:off x="12268200" y="28003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6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BA0CF1-AF91-6D9C-A9A6-ADE1DD8D2630}"/>
              </a:ext>
            </a:extLst>
          </p:cNvPr>
          <p:cNvSpPr txBox="1"/>
          <p:nvPr/>
        </p:nvSpPr>
        <p:spPr>
          <a:xfrm>
            <a:off x="12611100" y="28098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정기 배달편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가능 급식 가게 우선 노출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0BC04-8E8B-73FE-FF54-71A385A0604F}"/>
              </a:ext>
            </a:extLst>
          </p:cNvPr>
          <p:cNvSpPr txBox="1"/>
          <p:nvPr/>
        </p:nvSpPr>
        <p:spPr>
          <a:xfrm>
            <a:off x="12611100" y="31242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시범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 학정동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검단동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논공 금포리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AE5571-8EA1-2C90-B481-2A04FA2AE9DB}"/>
              </a:ext>
            </a:extLst>
          </p:cNvPr>
          <p:cNvSpPr txBox="1"/>
          <p:nvPr/>
        </p:nvSpPr>
        <p:spPr>
          <a:xfrm>
            <a:off x="12268200" y="40576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6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5D1382-6C21-5DCB-A555-9A439AD6A9B6}"/>
              </a:ext>
            </a:extLst>
          </p:cNvPr>
          <p:cNvSpPr txBox="1"/>
          <p:nvPr/>
        </p:nvSpPr>
        <p:spPr>
          <a:xfrm>
            <a:off x="12611100" y="40671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목록에 ‘급식카드 최소주문 면제’ 표시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66952A-4CC7-F885-8A90-ECDEBA617900}"/>
              </a:ext>
            </a:extLst>
          </p:cNvPr>
          <p:cNvSpPr txBox="1"/>
          <p:nvPr/>
        </p:nvSpPr>
        <p:spPr>
          <a:xfrm>
            <a:off x="12611100" y="43815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대구시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전역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없이 시행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28E898-C6CC-47F0-2419-668658ABB662}"/>
              </a:ext>
            </a:extLst>
          </p:cNvPr>
          <p:cNvSpPr txBox="1"/>
          <p:nvPr/>
        </p:nvSpPr>
        <p:spPr>
          <a:xfrm>
            <a:off x="12268200" y="5314950"/>
            <a:ext cx="28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6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7EE8C0-8ABE-E06F-DF24-C6C19BA0317A}"/>
              </a:ext>
            </a:extLst>
          </p:cNvPr>
          <p:cNvSpPr txBox="1"/>
          <p:nvPr/>
        </p:nvSpPr>
        <p:spPr>
          <a:xfrm>
            <a:off x="12611100" y="5324475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 재공모 협약에 ‘방학 급식 사각지대 점검표’ 제출 조항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460454-3B37-3AB8-9F7F-876E367DB2F2}"/>
              </a:ext>
            </a:extLst>
          </p:cNvPr>
          <p:cNvSpPr txBox="1"/>
          <p:nvPr/>
        </p:nvSpPr>
        <p:spPr>
          <a:xfrm>
            <a:off x="12611100" y="5638800"/>
            <a:ext cx="5067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대구시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2026-11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협약 →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2027-03 1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105E634-1F68-C4DD-B5F3-62AFE9049AAE}"/>
              </a:ext>
            </a:extLst>
          </p:cNvPr>
          <p:cNvCxnSpPr/>
          <p:nvPr/>
        </p:nvCxnSpPr>
        <p:spPr>
          <a:xfrm>
            <a:off x="12268200" y="6724650"/>
            <a:ext cx="5410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BF4D7A1-E7BA-46A6-28A0-27CC4C64BC29}"/>
              </a:ext>
            </a:extLst>
          </p:cNvPr>
          <p:cNvSpPr txBox="1"/>
          <p:nvPr/>
        </p:nvSpPr>
        <p:spPr>
          <a:xfrm>
            <a:off x="12268200" y="695325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연계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2861C6-F6E9-12EF-1C7F-8316FD3A638D}"/>
              </a:ext>
            </a:extLst>
          </p:cNvPr>
          <p:cNvSpPr txBox="1"/>
          <p:nvPr/>
        </p:nvSpPr>
        <p:spPr>
          <a:xfrm>
            <a:off x="12268200" y="73914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미개방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대구로 결제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KCB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소득</a:t>
            </a:r>
          </a:p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주민등록 인구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대응표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경계</a:t>
            </a:r>
          </a:p>
          <a:p>
            <a:pPr>
              <a:lnSpc>
                <a:spcPct val="160000"/>
              </a:lnSpc>
            </a:pPr>
            <a:r>
              <a:rPr lang="ko-KR" altLang="en-US" sz="1275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대구로 앱 점검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구청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시청 확인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6A3E6E-8AD7-AB7E-1CFF-5BBFB7B581BB}"/>
              </a:ext>
            </a:extLst>
          </p:cNvPr>
          <p:cNvSpPr txBox="1"/>
          <p:nvPr/>
        </p:nvSpPr>
        <p:spPr>
          <a:xfrm>
            <a:off x="12268200" y="85344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동네 묶음 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↔ 행정동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연결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139BE-A264-42AF-BDF4-4CF51D35DB6B}"/>
              </a:ext>
            </a:extLst>
          </p:cNvPr>
          <p:cNvSpPr txBox="1"/>
          <p:nvPr/>
        </p:nvSpPr>
        <p:spPr>
          <a:xfrm>
            <a:off x="12268200" y="90297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규모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 결제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341,216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25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b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 → 이유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판정 → 해결방안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점검표</a:t>
            </a:r>
          </a:p>
        </p:txBody>
      </p:sp>
    </p:spTree>
    <p:extLst>
      <p:ext uri="{BB962C8B-B14F-4D97-AF65-F5344CB8AC3E}">
        <p14:creationId xmlns:p14="http://schemas.microsoft.com/office/powerpoint/2010/main" val="296010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08E6DE3-5FA7-E5D4-2997-2ABD2E35153B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DDF340E-3886-B2C9-A87A-A90CFE6EE088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1B1446-36DC-01AF-0BDD-CD053553ADDB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1C7AF-B990-55B7-9680-E41543456F69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79C2A-F293-9B9C-355F-CD502726C1F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8B36A-7A31-49B1-0983-BAB9E283D8B9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A985F-5E7B-5A4C-AE7C-31AB1E5A9E92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C8FFC-9EE5-A242-1548-B52D0ADBB1C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3272C-DA41-639E-FDEC-E38E1410A0DA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E2FDDC-CCD2-25CA-A779-C644D520F37F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8B4690-8302-499F-F345-51DAF29E3176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7D177-E961-5D0D-19CE-9E03C686759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B221F-20CF-7464-65AE-B48990FA20B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지원 구조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1D190-399D-CFC8-2263-43E051B32C1F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급식카드 배달 결제는 열렸지만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쟁점은 실제로 주문하느냐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8EF407E-2A25-C6FD-D7DD-2EDFF9152F6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C7FAE2-012D-08AA-745F-EF350EA5337A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11E351-BE45-32B9-F5B8-299471726D26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급식카드 배달 결제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2023-06-01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시행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경북매일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2023-05-31)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배달비 지원 누적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매일신문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2024-02-29)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8FBB69-B748-BFDE-1D47-73960C952570}"/>
              </a:ext>
            </a:extLst>
          </p:cNvPr>
          <p:cNvSpPr txBox="1"/>
          <p:nvPr/>
        </p:nvSpPr>
        <p:spPr>
          <a:xfrm>
            <a:off x="3314700" y="22479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아동급식카드 지원 구조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7B680-8345-86B8-5FF5-9C1FD93755D4}"/>
              </a:ext>
            </a:extLst>
          </p:cNvPr>
          <p:cNvSpPr txBox="1"/>
          <p:nvPr/>
        </p:nvSpPr>
        <p:spPr>
          <a:xfrm>
            <a:off x="14820900" y="22669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부터 대구로 배달 결제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60083C1-057E-2AEE-39B1-6FCD1C4AA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121063"/>
              </p:ext>
            </p:extLst>
          </p:nvPr>
        </p:nvGraphicFramePr>
        <p:xfrm>
          <a:off x="3314700" y="2667000"/>
          <a:ext cx="14363700" cy="31813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430850270"/>
                    </a:ext>
                  </a:extLst>
                </a:gridCol>
                <a:gridCol w="7810500">
                  <a:extLst>
                    <a:ext uri="{9D8B030D-6E8A-4147-A177-3AD203B41FA5}">
                      <a16:colId xmlns:a16="http://schemas.microsoft.com/office/drawing/2014/main" val="1650240409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412283395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598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방학별로 아침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점심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저녁 끼니를 골라 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동구청 아동청소년과 확인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2026-10-08 ·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 공통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30311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끼니 구분 없이 하루 한도 금액까지 결제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앱 배달 주문 가능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배달비 지원 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동구청 확인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배달비 누적 약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 명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·2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천만 원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6144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단가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하루 한도는 신청한 끼니 수만큼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 끼면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50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대구시청 복지과 문의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2026-10-15</a:t>
                      </a:r>
                      <a:endParaRPr lang="ko-KR" altLang="en-US" sz="1275" b="0">
                        <a:solidFill>
                          <a:srgbClr val="8883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07433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552E2F4-EF36-E25B-238D-938E9FB1707E}"/>
              </a:ext>
            </a:extLst>
          </p:cNvPr>
          <p:cNvSpPr txBox="1"/>
          <p:nvPr/>
        </p:nvSpPr>
        <p:spPr>
          <a:xfrm>
            <a:off x="3314700" y="62484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시각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CAEDE7-DB4E-8774-6BF5-9EA939CB1291}"/>
              </a:ext>
            </a:extLst>
          </p:cNvPr>
          <p:cNvSpPr txBox="1"/>
          <p:nvPr/>
        </p:nvSpPr>
        <p:spPr>
          <a:xfrm>
            <a:off x="3314700" y="661035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25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가맹점이 주변에 있으면 이용 가능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0822F-B917-EAFA-31D4-6B7C116B7860}"/>
              </a:ext>
            </a:extLst>
          </p:cNvPr>
          <p:cNvSpPr txBox="1"/>
          <p:nvPr/>
        </p:nvSpPr>
        <p:spPr>
          <a:xfrm>
            <a:off x="3314700" y="73152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 지표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수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지도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한도는 지표 밖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034B73D-77E9-5F8D-D6B6-F85A87FEC766}"/>
              </a:ext>
            </a:extLst>
          </p:cNvPr>
          <p:cNvCxnSpPr/>
          <p:nvPr/>
        </p:nvCxnSpPr>
        <p:spPr>
          <a:xfrm>
            <a:off x="9220200" y="6248400"/>
            <a:ext cx="0" cy="21907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8018B00-3EAF-C52A-1FC8-33AD7D510EE4}"/>
              </a:ext>
            </a:extLst>
          </p:cNvPr>
          <p:cNvSpPr txBox="1"/>
          <p:nvPr/>
        </p:nvSpPr>
        <p:spPr>
          <a:xfrm>
            <a:off x="9601200" y="62484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분석의 시각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CC23A-70F5-69F2-8A83-4FEE89A93324}"/>
              </a:ext>
            </a:extLst>
          </p:cNvPr>
          <p:cNvSpPr txBox="1"/>
          <p:nvPr/>
        </p:nvSpPr>
        <p:spPr>
          <a:xfrm>
            <a:off x="9601200" y="66103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0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로그로 방학에 실제 주문이 일어나는지 동 단위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74CC1-829E-4ABE-C8A6-543BA4A9C28D}"/>
              </a:ext>
            </a:extLst>
          </p:cNvPr>
          <p:cNvSpPr txBox="1"/>
          <p:nvPr/>
        </p:nvSpPr>
        <p:spPr>
          <a:xfrm>
            <a:off x="9601200" y="73152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덜 쓰는 동 → 이유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판정 → 담당별 해결방안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로그로 방학마다 다시 점검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점검표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22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기대효과 단위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한 달 이용자 수</a:t>
            </a:r>
          </a:p>
        </p:txBody>
      </p:sp>
    </p:spTree>
    <p:extLst>
      <p:ext uri="{BB962C8B-B14F-4D97-AF65-F5344CB8AC3E}">
        <p14:creationId xmlns:p14="http://schemas.microsoft.com/office/powerpoint/2010/main" val="367939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903063A-4676-F1AF-EFFB-47D5DCE2E4EC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8DCC6E-D834-8FD7-EB45-6B0DDB4FE6FF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1F4ED7-023E-D2AE-A601-3714C89A49E6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5ADA3-CD85-BA29-AE78-F8BA131315AC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58968-7E7F-54A4-4F7E-2E3DF8C76658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38E7C-9679-D0F6-0C56-4F4A9D622F85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CFCFE-50F7-98B5-5535-D12390C4A6DC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B6D0A-7D64-2A0A-BAD3-212916C2233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A65DD-F376-1A92-4803-E9EB10025F13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B4FD1-403D-DA35-5811-D105941C442C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1AF41-1735-0703-430A-2CDED3B88047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0FC57E-275D-3EB8-2D62-F43DCFD423E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A47FC-0B08-6F10-31D6-EC0854CEF67F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세 축과 질문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8C7FA-C1D3-9921-0381-8BED1DB68DC4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‘어디서 멈추는가’를 세 축으로 나눠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한 축이 약해도 나머지 축으로 결론 유지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3941722-06C8-986D-144C-6000DACD6679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8978D51-7B11-09E5-EDE4-14916A0C52E6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E28FBC-10FC-F5EA-67C7-78106F8F9789}"/>
              </a:ext>
            </a:extLst>
          </p:cNvPr>
          <p:cNvSpPr txBox="1"/>
          <p:nvPr/>
        </p:nvSpPr>
        <p:spPr>
          <a:xfrm>
            <a:off x="3314700" y="2247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시간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B4661C-0F05-77D2-7855-0F8472F007E2}"/>
              </a:ext>
            </a:extLst>
          </p:cNvPr>
          <p:cNvSpPr txBox="1"/>
          <p:nvPr/>
        </p:nvSpPr>
        <p:spPr>
          <a:xfrm>
            <a:off x="4457700" y="2362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언제 멈추나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674E2E-8595-A85E-02A3-75826C527A52}"/>
              </a:ext>
            </a:extLst>
          </p:cNvPr>
          <p:cNvSpPr txBox="1"/>
          <p:nvPr/>
        </p:nvSpPr>
        <p:spPr>
          <a:xfrm>
            <a:off x="3314700" y="3009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시기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요일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9DC0B-3C36-827B-8C9F-B45686BB8B22}"/>
              </a:ext>
            </a:extLst>
          </p:cNvPr>
          <p:cNvSpPr txBox="1"/>
          <p:nvPr/>
        </p:nvSpPr>
        <p:spPr>
          <a:xfrm>
            <a:off x="3314700" y="34099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월별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 결제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(1·2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9C74E3D-002D-970D-CB39-92F2CC969125}"/>
              </a:ext>
            </a:extLst>
          </p:cNvPr>
          <p:cNvCxnSpPr/>
          <p:nvPr/>
        </p:nvCxnSpPr>
        <p:spPr>
          <a:xfrm>
            <a:off x="3314700" y="4457700"/>
            <a:ext cx="5715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A897885-218E-E861-1B0F-7C2C036A892A}"/>
              </a:ext>
            </a:extLst>
          </p:cNvPr>
          <p:cNvSpPr txBox="1"/>
          <p:nvPr/>
        </p:nvSpPr>
        <p:spPr>
          <a:xfrm>
            <a:off x="33147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47E58-5019-078E-0BC6-419926426625}"/>
              </a:ext>
            </a:extLst>
          </p:cNvPr>
          <p:cNvSpPr txBox="1"/>
          <p:nvPr/>
        </p:nvSpPr>
        <p:spPr>
          <a:xfrm>
            <a:off x="4457700" y="48006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어디서 멈추나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39F105-3A5F-448B-D571-2B114246E9C8}"/>
              </a:ext>
            </a:extLst>
          </p:cNvPr>
          <p:cNvSpPr txBox="1"/>
          <p:nvPr/>
        </p:nvSpPr>
        <p:spPr>
          <a:xfrm>
            <a:off x="3314700" y="54483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동네 묶음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3F9E3-FFE7-6F3D-B3B0-15C9A7EC07D7}"/>
              </a:ext>
            </a:extLst>
          </p:cNvPr>
          <p:cNvSpPr txBox="1"/>
          <p:nvPr/>
        </p:nvSpPr>
        <p:spPr>
          <a:xfrm>
            <a:off x="3314700" y="58483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 결제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인구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KCB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소득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(3·4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48F38CB-EBDF-91A7-F4E3-3046CED56755}"/>
              </a:ext>
            </a:extLst>
          </p:cNvPr>
          <p:cNvCxnSpPr/>
          <p:nvPr/>
        </p:nvCxnSpPr>
        <p:spPr>
          <a:xfrm>
            <a:off x="3314700" y="6896100"/>
            <a:ext cx="5715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142FF62-018C-1E53-4BD9-E7BAB4583BE6}"/>
              </a:ext>
            </a:extLst>
          </p:cNvPr>
          <p:cNvSpPr txBox="1"/>
          <p:nvPr/>
        </p:nvSpPr>
        <p:spPr>
          <a:xfrm>
            <a:off x="3314700" y="71247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제도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EEE06-E246-A08E-A5BD-2CFE36FF5D49}"/>
              </a:ext>
            </a:extLst>
          </p:cNvPr>
          <p:cNvSpPr txBox="1"/>
          <p:nvPr/>
        </p:nvSpPr>
        <p:spPr>
          <a:xfrm>
            <a:off x="4457700" y="7239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무엇이 막나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358558-75F5-968E-D7DB-10E0EAB30B5A}"/>
              </a:ext>
            </a:extLst>
          </p:cNvPr>
          <p:cNvSpPr txBox="1"/>
          <p:nvPr/>
        </p:nvSpPr>
        <p:spPr>
          <a:xfrm>
            <a:off x="3314700" y="78867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 유형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한도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최소주문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083BB7-A626-A16D-71FE-440C593E40AD}"/>
              </a:ext>
            </a:extLst>
          </p:cNvPr>
          <p:cNvSpPr txBox="1"/>
          <p:nvPr/>
        </p:nvSpPr>
        <p:spPr>
          <a:xfrm>
            <a:off x="3314700" y="82867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금액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구청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시청 확인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EC18ACB-35F1-7F1C-021D-84CD953D9B5D}"/>
              </a:ext>
            </a:extLst>
          </p:cNvPr>
          <p:cNvCxnSpPr/>
          <p:nvPr/>
        </p:nvCxnSpPr>
        <p:spPr>
          <a:xfrm>
            <a:off x="94107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56D7946-7ED7-F362-31CA-D1363243051A}"/>
              </a:ext>
            </a:extLst>
          </p:cNvPr>
          <p:cNvSpPr txBox="1"/>
          <p:nvPr/>
        </p:nvSpPr>
        <p:spPr>
          <a:xfrm>
            <a:off x="9791700" y="2247900"/>
            <a:ext cx="788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질문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139907-C429-38CF-D2A1-B4B0CB4003BA}"/>
              </a:ext>
            </a:extLst>
          </p:cNvPr>
          <p:cNvSpPr txBox="1"/>
          <p:nvPr/>
        </p:nvSpPr>
        <p:spPr>
          <a:xfrm>
            <a:off x="14820900" y="2276475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답하는 쪽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289577-EC5C-7821-99AC-8C048C210E34}"/>
              </a:ext>
            </a:extLst>
          </p:cNvPr>
          <p:cNvSpPr txBox="1"/>
          <p:nvPr/>
        </p:nvSpPr>
        <p:spPr>
          <a:xfrm>
            <a:off x="9791700" y="29337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</a:t>
            </a:r>
            <a:endParaRPr lang="ko-KR" altLang="en-US" sz="33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12D35A-D7ED-2F0F-D636-6E188935C08C}"/>
              </a:ext>
            </a:extLst>
          </p:cNvPr>
          <p:cNvSpPr txBox="1"/>
          <p:nvPr/>
        </p:nvSpPr>
        <p:spPr>
          <a:xfrm>
            <a:off x="10458450" y="29908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아이들은 언제 급식카드로 배달을 시키나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1AEDD6-77AF-35BB-D791-483F27D6CE2E}"/>
              </a:ext>
            </a:extLst>
          </p:cNvPr>
          <p:cNvSpPr txBox="1"/>
          <p:nvPr/>
        </p:nvSpPr>
        <p:spPr>
          <a:xfrm>
            <a:off x="16535400" y="30480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10~12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81E5DB3-AB67-18C7-F62D-BF38040351A2}"/>
              </a:ext>
            </a:extLst>
          </p:cNvPr>
          <p:cNvCxnSpPr/>
          <p:nvPr/>
        </p:nvCxnSpPr>
        <p:spPr>
          <a:xfrm>
            <a:off x="9791700" y="42862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D1DFCA9-27B2-BEEE-2AB0-425769432090}"/>
              </a:ext>
            </a:extLst>
          </p:cNvPr>
          <p:cNvSpPr txBox="1"/>
          <p:nvPr/>
        </p:nvSpPr>
        <p:spPr>
          <a:xfrm>
            <a:off x="9791700" y="4572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2</a:t>
            </a:r>
            <a:endParaRPr lang="ko-KR" altLang="en-US" sz="33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E5C9DD-2158-48A3-C175-D546032FF3D5}"/>
              </a:ext>
            </a:extLst>
          </p:cNvPr>
          <p:cNvSpPr txBox="1"/>
          <p:nvPr/>
        </p:nvSpPr>
        <p:spPr>
          <a:xfrm>
            <a:off x="10458450" y="46291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실제로 덜 쓰는 동은 어디인가</a:t>
            </a:r>
            <a:r>
              <a:rPr lang="en-US" altLang="ko-KR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기준으로 선정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17F6B-48F1-F0BE-2C91-0FD6F003FA85}"/>
              </a:ext>
            </a:extLst>
          </p:cNvPr>
          <p:cNvSpPr txBox="1"/>
          <p:nvPr/>
        </p:nvSpPr>
        <p:spPr>
          <a:xfrm>
            <a:off x="16535400" y="46863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13~16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1FF8435-E38F-64BC-2827-82C9B15EF994}"/>
              </a:ext>
            </a:extLst>
          </p:cNvPr>
          <p:cNvCxnSpPr/>
          <p:nvPr/>
        </p:nvCxnSpPr>
        <p:spPr>
          <a:xfrm>
            <a:off x="9791700" y="59245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6E5CCBF-1527-FEE6-E53F-FDBD0C4FB886}"/>
              </a:ext>
            </a:extLst>
          </p:cNvPr>
          <p:cNvSpPr txBox="1"/>
          <p:nvPr/>
        </p:nvSpPr>
        <p:spPr>
          <a:xfrm>
            <a:off x="9791700" y="62103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3</a:t>
            </a:r>
            <a:endParaRPr lang="ko-KR" altLang="en-US" sz="33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27F556-CAA3-9746-C856-583220F35FC3}"/>
              </a:ext>
            </a:extLst>
          </p:cNvPr>
          <p:cNvSpPr txBox="1"/>
          <p:nvPr/>
        </p:nvSpPr>
        <p:spPr>
          <a:xfrm>
            <a:off x="10458450" y="62674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덜 쓰는 이유는 무엇인가</a:t>
            </a:r>
            <a:r>
              <a:rPr lang="en-US" altLang="ko-KR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 </a:t>
            </a:r>
            <a:r>
              <a:rPr lang="en-US" altLang="ko-KR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가지를 데이터로 판정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730DFA-2289-B184-9F25-448200ADA5B7}"/>
              </a:ext>
            </a:extLst>
          </p:cNvPr>
          <p:cNvSpPr txBox="1"/>
          <p:nvPr/>
        </p:nvSpPr>
        <p:spPr>
          <a:xfrm>
            <a:off x="16535400" y="63246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16~19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1C4E444-9F85-667C-8E40-23D0DB571225}"/>
              </a:ext>
            </a:extLst>
          </p:cNvPr>
          <p:cNvCxnSpPr/>
          <p:nvPr/>
        </p:nvCxnSpPr>
        <p:spPr>
          <a:xfrm>
            <a:off x="9791700" y="7562850"/>
            <a:ext cx="7886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71D09E8-4AEC-D02A-C70C-C066793680E4}"/>
              </a:ext>
            </a:extLst>
          </p:cNvPr>
          <p:cNvSpPr txBox="1"/>
          <p:nvPr/>
        </p:nvSpPr>
        <p:spPr>
          <a:xfrm>
            <a:off x="9791700" y="7848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3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</a:t>
            </a:r>
            <a:endParaRPr lang="ko-KR" altLang="en-US" sz="33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13C682-EE9C-5554-23C7-EB28F27BE7C3}"/>
              </a:ext>
            </a:extLst>
          </p:cNvPr>
          <p:cNvSpPr txBox="1"/>
          <p:nvPr/>
        </p:nvSpPr>
        <p:spPr>
          <a:xfrm>
            <a:off x="10458450" y="7905750"/>
            <a:ext cx="5886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무엇을 하면 더 쓰나</a:t>
            </a:r>
            <a:r>
              <a:rPr lang="en-US" altLang="ko-KR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누가</a:t>
            </a:r>
            <a:r>
              <a:rPr lang="en-US" altLang="ko-KR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얼마나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FA437B-3CCA-3363-4A62-055415C66B7A}"/>
              </a:ext>
            </a:extLst>
          </p:cNvPr>
          <p:cNvSpPr txBox="1"/>
          <p:nvPr/>
        </p:nvSpPr>
        <p:spPr>
          <a:xfrm>
            <a:off x="16535400" y="79629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20~22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82859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A3FF700-BB7A-9907-BC81-F641AC673BCF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1AA48E-2F41-573D-99AB-AD2ADC8DE2E2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F67994-EE7F-2897-8D0D-B0467A456144}"/>
              </a:ext>
            </a:extLst>
          </p:cNvPr>
          <p:cNvSpPr/>
          <p:nvPr/>
        </p:nvSpPr>
        <p:spPr>
          <a:xfrm>
            <a:off x="381000" y="192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3BCE8-82A8-0E37-678D-E0F7BEA22B1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5C362-D799-3DBC-11CF-E50290F6166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4DE08-E9A1-AEAD-7A88-AAB65EF76C2D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2AFFA-BBFD-99E0-7BC8-009CDBD5E228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05542-B6E4-F014-4C32-F6E6693F7143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47073-569A-5789-B3AF-60789025A659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34FB6-B8BC-4623-4B6B-206F90474784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7B93D-A796-A8F3-8910-359DDE4AB9F7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887092-C70A-23A1-9C5A-0EF7E3F05B1D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DEE112-FA3D-BD35-ADB1-661B961626D8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01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문제 정의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분석 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70D475-5152-6AD1-2C72-41FCAC02141D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진단 → 이유 판정 → 해결방안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판정 규칙은 결과 확인 전에 고정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D8ACCA2-7A3F-18AA-FD63-7026F4C40640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7A0130C-B967-D484-46A7-12EF43D983F6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9BA42-08EC-9668-C82D-D5A90B15866E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규칙 문서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docs/topics/T2_reason_rules.md 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D-019)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B841CA0-851E-D159-C079-3BDB9519C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930486"/>
              </p:ext>
            </p:extLst>
          </p:nvPr>
        </p:nvGraphicFramePr>
        <p:xfrm>
          <a:off x="3314700" y="2247900"/>
          <a:ext cx="14363700" cy="3581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7318722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1478018846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36103254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하는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결과물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15324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진단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시각 분포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공간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급식 비중 지수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아동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 명당 이용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861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가지마다 해당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아님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판단 불가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근거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KCB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소득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점검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이웃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 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066406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해결방안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유형별 담당과 확인 지표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늘리기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(A) </a:t>
                      </a:r>
                      <a:r>
                        <a:rPr lang="ko-KR" altLang="en-US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 이용 회복</a:t>
                      </a:r>
                      <a:r>
                        <a:rPr lang="en-US" altLang="ko-KR" sz="15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(B)</a:t>
                      </a:r>
                      <a:endParaRPr lang="ko-KR" altLang="en-US" sz="150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 단위 비교</a:t>
                      </a:r>
                      <a:r>
                        <a:rPr lang="en-US" altLang="ko-KR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5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월 이용자 수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61079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44528EB-9542-0CBA-31F4-8D4C4F781478}"/>
              </a:ext>
            </a:extLst>
          </p:cNvPr>
          <p:cNvSpPr txBox="1"/>
          <p:nvPr/>
        </p:nvSpPr>
        <p:spPr>
          <a:xfrm>
            <a:off x="3314700" y="6534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20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1039D6-80BC-4915-7A93-3FB93578F03B}"/>
              </a:ext>
            </a:extLst>
          </p:cNvPr>
          <p:cNvSpPr txBox="1"/>
          <p:nvPr/>
        </p:nvSpPr>
        <p:spPr>
          <a:xfrm>
            <a:off x="3314700" y="6915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규칙은 반출물 확인 전 고정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42D4F-C5DD-34ED-E3AD-E80E947F30EB}"/>
              </a:ext>
            </a:extLst>
          </p:cNvPr>
          <p:cNvSpPr txBox="1"/>
          <p:nvPr/>
        </p:nvSpPr>
        <p:spPr>
          <a:xfrm>
            <a:off x="3314700" y="74485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2026-10-13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문서화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버전 기록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(git)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문턱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분포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중앙값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5AF4E3-6CA5-A739-8957-67ABB786F56F}"/>
              </a:ext>
            </a:extLst>
          </p:cNvPr>
          <p:cNvCxnSpPr/>
          <p:nvPr/>
        </p:nvCxnSpPr>
        <p:spPr>
          <a:xfrm>
            <a:off x="8553450" y="6534150"/>
            <a:ext cx="0" cy="1905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D45E0B5-05DC-40B6-543F-596C7C2C70AD}"/>
              </a:ext>
            </a:extLst>
          </p:cNvPr>
          <p:cNvSpPr txBox="1"/>
          <p:nvPr/>
        </p:nvSpPr>
        <p:spPr>
          <a:xfrm>
            <a:off x="8839200" y="65341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20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B5F76-FCB7-3495-F86F-95444052CFBA}"/>
              </a:ext>
            </a:extLst>
          </p:cNvPr>
          <p:cNvSpPr txBox="1"/>
          <p:nvPr/>
        </p:nvSpPr>
        <p:spPr>
          <a:xfrm>
            <a:off x="8839200" y="69151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 숫자와 시나리오 숫자 분리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B12167-8DD7-6C8D-47A6-9C8BAEE19784}"/>
              </a:ext>
            </a:extLst>
          </p:cNvPr>
          <p:cNvSpPr txBox="1"/>
          <p:nvPr/>
        </p:nvSpPr>
        <p:spPr>
          <a:xfrm>
            <a:off x="8839200" y="74485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시나리오는 ‘가정 하’ 표시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결론 문장에 섞지 않음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B23D3C4-1EC5-2F21-D76A-555B822DDA2E}"/>
              </a:ext>
            </a:extLst>
          </p:cNvPr>
          <p:cNvCxnSpPr/>
          <p:nvPr/>
        </p:nvCxnSpPr>
        <p:spPr>
          <a:xfrm>
            <a:off x="13315950" y="6534150"/>
            <a:ext cx="0" cy="1905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DCF891-3F7D-A857-9E26-908B40A11FBA}"/>
              </a:ext>
            </a:extLst>
          </p:cNvPr>
          <p:cNvSpPr txBox="1"/>
          <p:nvPr/>
        </p:nvSpPr>
        <p:spPr>
          <a:xfrm>
            <a:off x="13601700" y="65341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원칙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120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E83E29-C506-8E99-5755-EC0DD25B3C5F}"/>
              </a:ext>
            </a:extLst>
          </p:cNvPr>
          <p:cNvSpPr txBox="1"/>
          <p:nvPr/>
        </p:nvSpPr>
        <p:spPr>
          <a:xfrm>
            <a:off x="13601700" y="69151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불가는 ‘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?’</a:t>
            </a: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유지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814D6D-AD0D-2F72-D8D1-438036C4B2AE}"/>
              </a:ext>
            </a:extLst>
          </p:cNvPr>
          <p:cNvSpPr txBox="1"/>
          <p:nvPr/>
        </p:nvSpPr>
        <p:spPr>
          <a:xfrm>
            <a:off x="13601700" y="7448550"/>
            <a:ext cx="407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숨기지 않고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 회차 점검 항목으로 넘김</a:t>
            </a:r>
          </a:p>
        </p:txBody>
      </p:sp>
    </p:spTree>
    <p:extLst>
      <p:ext uri="{BB962C8B-B14F-4D97-AF65-F5344CB8AC3E}">
        <p14:creationId xmlns:p14="http://schemas.microsoft.com/office/powerpoint/2010/main" val="90699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F1BB9F-0F83-A65A-0AD2-9E0A697EFF28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03496E-B350-4ADA-2F36-A7595A66551F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7939E-E878-2E52-BB6E-71A3E9E9561A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709CAE-7492-5231-0C0F-D039E0AA1922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845C3-1822-3C87-34C8-009664B87380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9B6B6-3FFA-69F0-ED04-E816E58FC88E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C608B-1020-9C4C-F339-D85CF6FB9CAF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F4F3D-EC08-FECD-2F47-E22E43D49FCF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45F99-9864-E13D-BF37-EF6E4351FAB3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C5027-A073-745C-EF22-F077AE1BBE80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7837D-7DCF-33AD-729B-D9EA1DF45E38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1AA09-5E77-7C0E-7D78-3978A6FE4F93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385C5-89BA-75CD-6509-FC4B8396514F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자료 연결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F21F35-40B2-A6E8-0D8D-58AD7DA29A47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결제 로그에 소득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배달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인구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현장 확인을 동네 단위로 연결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8F0F0D8-4118-957A-1CDE-3648FC7046FC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653F2A-CE47-96B8-C655-865E218B047D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C70BF-3B78-C631-3274-15DC5D74DBBA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가점 대상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상호제공 데이터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(KCB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소득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기간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2023-06~2025-06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085FEA-896C-1E03-B8F8-DB69D05F086A}"/>
              </a:ext>
            </a:extLst>
          </p:cNvPr>
          <p:cNvSpPr txBox="1"/>
          <p:nvPr/>
        </p:nvSpPr>
        <p:spPr>
          <a:xfrm>
            <a:off x="3314700" y="2247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미개방 상호제공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 + KCB) · 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데이터안심구역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4A886-6091-EC65-3003-E061CB0BB2B5}"/>
              </a:ext>
            </a:extLst>
          </p:cNvPr>
          <p:cNvSpPr txBox="1"/>
          <p:nvPr/>
        </p:nvSpPr>
        <p:spPr>
          <a:xfrm>
            <a:off x="3314700" y="2667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결제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9545FD-9314-CBC7-8D1E-2251DD90CFB6}"/>
              </a:ext>
            </a:extLst>
          </p:cNvPr>
          <p:cNvSpPr txBox="1"/>
          <p:nvPr/>
        </p:nvSpPr>
        <p:spPr>
          <a:xfrm>
            <a:off x="3314700" y="30289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341,216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3,612,950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2023-06~2025-06,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→ 가맹점 법정동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7B0603-6DE3-FB8C-1D3D-92218B60E1A2}"/>
              </a:ext>
            </a:extLst>
          </p:cNvPr>
          <p:cNvSpPr txBox="1"/>
          <p:nvPr/>
        </p:nvSpPr>
        <p:spPr>
          <a:xfrm>
            <a:off x="3314700" y="38481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가맹점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22B91E-B698-2E5C-0082-3006964E0ACD}"/>
              </a:ext>
            </a:extLst>
          </p:cNvPr>
          <p:cNvSpPr txBox="1"/>
          <p:nvPr/>
        </p:nvSpPr>
        <p:spPr>
          <a:xfrm>
            <a:off x="3314700" y="42100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22,086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 등록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10,781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영업 상태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5E3A42-1410-CA1F-9492-67618765B56E}"/>
              </a:ext>
            </a:extLst>
          </p:cNvPr>
          <p:cNvSpPr txBox="1"/>
          <p:nvPr/>
        </p:nvSpPr>
        <p:spPr>
          <a:xfrm>
            <a:off x="3314700" y="5029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배달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1D20DD-2CEA-5D71-DB1B-57DBAD718C87}"/>
              </a:ext>
            </a:extLst>
          </p:cNvPr>
          <p:cNvSpPr txBox="1"/>
          <p:nvPr/>
        </p:nvSpPr>
        <p:spPr>
          <a:xfrm>
            <a:off x="3314700" y="53911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시간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배달팁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연령대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일부 결함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25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78974C-18BB-CAEB-E69D-4C420FB1B4F7}"/>
              </a:ext>
            </a:extLst>
          </p:cNvPr>
          <p:cNvSpPr txBox="1"/>
          <p:nvPr/>
        </p:nvSpPr>
        <p:spPr>
          <a:xfrm>
            <a:off x="3314700" y="62103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KCB 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소득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6F0AD8-EEF1-6695-0AE5-14AA24516A33}"/>
              </a:ext>
            </a:extLst>
          </p:cNvPr>
          <p:cNvSpPr txBox="1"/>
          <p:nvPr/>
        </p:nvSpPr>
        <p:spPr>
          <a:xfrm>
            <a:off x="3314700" y="65722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분기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군위 포함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30·40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소득 구간 → 필요의 대리 지표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3F3ADE8-D7C6-5930-AB71-2E0CB5DA9A14}"/>
              </a:ext>
            </a:extLst>
          </p:cNvPr>
          <p:cNvCxnSpPr/>
          <p:nvPr/>
        </p:nvCxnSpPr>
        <p:spPr>
          <a:xfrm>
            <a:off x="8553450" y="2247900"/>
            <a:ext cx="0" cy="5143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BF6F194-FDA9-6EF5-E7EC-FB675C681C5B}"/>
              </a:ext>
            </a:extLst>
          </p:cNvPr>
          <p:cNvSpPr txBox="1"/>
          <p:nvPr/>
        </p:nvSpPr>
        <p:spPr>
          <a:xfrm>
            <a:off x="8839200" y="22479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 </a:t>
            </a:r>
            <a:r>
              <a:rPr lang="en-US" altLang="ko-KR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56777D-C826-7756-5D10-7556376870B6}"/>
              </a:ext>
            </a:extLst>
          </p:cNvPr>
          <p:cNvSpPr txBox="1"/>
          <p:nvPr/>
        </p:nvSpPr>
        <p:spPr>
          <a:xfrm>
            <a:off x="8839200" y="26670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주민등록 연령별 인구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17BA9-E0DD-CD4C-72F1-024815F95AE5}"/>
              </a:ext>
            </a:extLst>
          </p:cNvPr>
          <p:cNvSpPr txBox="1"/>
          <p:nvPr/>
        </p:nvSpPr>
        <p:spPr>
          <a:xfrm>
            <a:off x="8839200" y="3028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6~18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25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행정안전부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1642B-6A58-75DF-B830-4C4D865AB60D}"/>
              </a:ext>
            </a:extLst>
          </p:cNvPr>
          <p:cNvSpPr txBox="1"/>
          <p:nvPr/>
        </p:nvSpPr>
        <p:spPr>
          <a:xfrm>
            <a:off x="8839200" y="38481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대응표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2349A6-7E1C-F8F1-EF6D-B4E14559BBC3}"/>
              </a:ext>
            </a:extLst>
          </p:cNvPr>
          <p:cNvSpPr txBox="1"/>
          <p:nvPr/>
        </p:nvSpPr>
        <p:spPr>
          <a:xfrm>
            <a:off x="8839200" y="4210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2025-06-30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행정안전부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C68E7F-EEA1-B579-2BA0-2044C52DCD2A}"/>
              </a:ext>
            </a:extLst>
          </p:cNvPr>
          <p:cNvSpPr txBox="1"/>
          <p:nvPr/>
        </p:nvSpPr>
        <p:spPr>
          <a:xfrm>
            <a:off x="8839200" y="50292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 경계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7C1FD2-EF66-F00F-A377-A4622BDB8D14}"/>
              </a:ext>
            </a:extLst>
          </p:cNvPr>
          <p:cNvSpPr txBox="1"/>
          <p:nvPr/>
        </p:nvSpPr>
        <p:spPr>
          <a:xfrm>
            <a:off x="8839200" y="53911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2026-09 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국가공간정보포털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이웃 동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58AEF3A-A5EB-B9CA-2FC9-44D74BD62C9F}"/>
              </a:ext>
            </a:extLst>
          </p:cNvPr>
          <p:cNvCxnSpPr/>
          <p:nvPr/>
        </p:nvCxnSpPr>
        <p:spPr>
          <a:xfrm>
            <a:off x="13220700" y="2247900"/>
            <a:ext cx="0" cy="5143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564D3C1-139E-FB67-B3F0-588CB0B6D02B}"/>
              </a:ext>
            </a:extLst>
          </p:cNvPr>
          <p:cNvSpPr txBox="1"/>
          <p:nvPr/>
        </p:nvSpPr>
        <p:spPr>
          <a:xfrm>
            <a:off x="13506450" y="22479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확인 </a:t>
            </a:r>
            <a:r>
              <a:rPr lang="en-US" altLang="ko-KR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EF8968-B36B-ACC4-785A-037EDD0759E7}"/>
              </a:ext>
            </a:extLst>
          </p:cNvPr>
          <p:cNvSpPr txBox="1"/>
          <p:nvPr/>
        </p:nvSpPr>
        <p:spPr>
          <a:xfrm>
            <a:off x="13506450" y="26670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앱 점검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7831B4-C57C-973B-8A4A-3729E9BED13C}"/>
              </a:ext>
            </a:extLst>
          </p:cNvPr>
          <p:cNvSpPr txBox="1"/>
          <p:nvPr/>
        </p:nvSpPr>
        <p:spPr>
          <a:xfrm>
            <a:off x="13506450" y="302895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‘1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인분’ 목록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(2026-10-15)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83D18D-C062-394B-CDDB-0FBA96497E68}"/>
              </a:ext>
            </a:extLst>
          </p:cNvPr>
          <p:cNvSpPr txBox="1"/>
          <p:nvPr/>
        </p:nvSpPr>
        <p:spPr>
          <a:xfrm>
            <a:off x="13506450" y="384810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구청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시청 확인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2F36E-C654-AB1C-F08B-8E38C5340A95}"/>
              </a:ext>
            </a:extLst>
          </p:cNvPr>
          <p:cNvSpPr txBox="1"/>
          <p:nvPr/>
        </p:nvSpPr>
        <p:spPr>
          <a:xfrm>
            <a:off x="13506450" y="4210050"/>
            <a:ext cx="4171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 유형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한도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·2026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(10-08·10-15)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2A58E6C-0A46-6D1C-0B39-B917350C3E04}"/>
              </a:ext>
            </a:extLst>
          </p:cNvPr>
          <p:cNvCxnSpPr/>
          <p:nvPr/>
        </p:nvCxnSpPr>
        <p:spPr>
          <a:xfrm>
            <a:off x="3314700" y="77724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F0E4793-A9EC-C85A-2514-FB601418867E}"/>
              </a:ext>
            </a:extLst>
          </p:cNvPr>
          <p:cNvSpPr txBox="1"/>
          <p:nvPr/>
        </p:nvSpPr>
        <p:spPr>
          <a:xfrm>
            <a:off x="3314700" y="805815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4CAF06-985E-ED40-C929-C845EFF25766}"/>
              </a:ext>
            </a:extLst>
          </p:cNvPr>
          <p:cNvSpPr txBox="1"/>
          <p:nvPr/>
        </p:nvSpPr>
        <p:spPr>
          <a:xfrm>
            <a:off x="3314700" y="8382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33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동네 묶음 </a:t>
            </a:r>
            <a:r>
              <a:rPr lang="en-US" altLang="ko-KR" sz="33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71</a:t>
            </a:r>
            <a:r>
              <a:rPr lang="ko-KR" altLang="en-US" sz="33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6B394C-2E32-7EAE-99ED-0815939766E8}"/>
              </a:ext>
            </a:extLst>
          </p:cNvPr>
          <p:cNvSpPr txBox="1"/>
          <p:nvPr/>
        </p:nvSpPr>
        <p:spPr>
          <a:xfrm>
            <a:off x="8839200" y="8096250"/>
            <a:ext cx="883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주소의 법정동과 인구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소득의 행정동을 공식 대응표로 묶은 단위</a:t>
            </a:r>
          </a:p>
          <a:p>
            <a:pPr>
              <a:lnSpc>
                <a:spcPct val="14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면적 배분 없이 묶음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진단은 법정동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</a:p>
        </p:txBody>
      </p:sp>
    </p:spTree>
    <p:extLst>
      <p:ext uri="{BB962C8B-B14F-4D97-AF65-F5344CB8AC3E}">
        <p14:creationId xmlns:p14="http://schemas.microsoft.com/office/powerpoint/2010/main" val="2400978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85C17C7-689D-73DD-E75C-C0A493471050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AD0737-9646-16FE-884A-B7BBBE82B26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676E1-598E-8203-2F80-F7A0417397EE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A243A7-21FB-5020-8CD2-9FAF41CAE912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6A0CE-85DD-449E-952D-B7213CD6D12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9D0DE-660F-70E8-4DF9-EB0BD31660B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BD255-8F84-AC77-7399-6B608BBBA38F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C284A-C6DB-5973-9BDF-6D3FE6A4ACD3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41426-3C11-A3CD-6C17-D7301A9DF7EB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95620-0C56-1458-6DB8-F14D6B55E106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58574-7C05-7776-0816-98FCAB0754F8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97182-247C-D2C7-3E46-F1B714EBE7A2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95EBA2-7B93-D55C-2049-548B19BDE9F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전처리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551CA7-4FE8-9533-A2BE-F1691EE5CE0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같은 정의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5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단계를 모든 반출에 똑같이 적용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303E327-C3CC-8957-390B-3DAAF7371DC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7C04C7-74F6-534F-6FD9-6EA7F8E4F45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B7EA95-702C-B553-A077-90449A3E777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정의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 판정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2·3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방문 확정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가림 규칙은 센터 반출 기준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3F71291-2143-C225-F591-94E3EDD3A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283033"/>
              </p:ext>
            </p:extLst>
          </p:nvPr>
        </p:nvGraphicFramePr>
        <p:xfrm>
          <a:off x="3314700" y="2247900"/>
          <a:ext cx="14363700" cy="40576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12049701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77867618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473144028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408633599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근거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08802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 정의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결제수단 ‘아동급식카드’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완료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중복 제거 없음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341,216</a:t>
                      </a:r>
                      <a:r>
                        <a:rPr lang="ko-KR" altLang="en-US" sz="195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건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 확정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47091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2023-06~2025-06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25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개월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미리 정한 기간 판정 규칙으로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 확정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15779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시기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1·2·8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7·12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학기 나머지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6 · 4 · 15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개월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학교급식이 없는 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64115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→ 가맹점 법정동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인구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소득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연결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71</a:t>
                      </a: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곳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묶음</a:t>
                      </a:r>
                      <a:r>
                        <a:rPr lang="en-US" altLang="ko-KR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면적 배분 없음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68672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 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반출 가림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가맹점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미만 가림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역산 칸 보완 가림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95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자동 검사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반출 전 자동 검사 통과 파일만 신청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930582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CF4D9C6-110A-9435-609D-EACBC2457D20}"/>
              </a:ext>
            </a:extLst>
          </p:cNvPr>
          <p:cNvCxnSpPr/>
          <p:nvPr/>
        </p:nvCxnSpPr>
        <p:spPr>
          <a:xfrm>
            <a:off x="10267950" y="6819900"/>
            <a:ext cx="0" cy="2819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578E01-E0E4-B79C-ADFF-7E206034E03A}"/>
              </a:ext>
            </a:extLst>
          </p:cNvPr>
          <p:cNvSpPr txBox="1"/>
          <p:nvPr/>
        </p:nvSpPr>
        <p:spPr>
          <a:xfrm>
            <a:off x="3314700" y="6819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주의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20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09228-C0DA-80AB-578C-6EF2904D5497}"/>
              </a:ext>
            </a:extLst>
          </p:cNvPr>
          <p:cNvSpPr txBox="1"/>
          <p:nvPr/>
        </p:nvSpPr>
        <p:spPr>
          <a:xfrm>
            <a:off x="3314700" y="71818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위치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소재지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 집 아님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6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0D440-1411-CCE5-ACA6-B1004A1C6D06}"/>
              </a:ext>
            </a:extLst>
          </p:cNvPr>
          <p:cNvSpPr txBox="1"/>
          <p:nvPr/>
        </p:nvSpPr>
        <p:spPr>
          <a:xfrm>
            <a:off x="3314700" y="76962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옆 동네 가게 이용 판정으로 보정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집→가게 이동표는 결함으로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11%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표본만 반출 → 이웃 동 비교로 대체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F0697F-727C-387A-168A-35F2355DACC3}"/>
              </a:ext>
            </a:extLst>
          </p:cNvPr>
          <p:cNvSpPr txBox="1"/>
          <p:nvPr/>
        </p:nvSpPr>
        <p:spPr>
          <a:xfrm>
            <a:off x="10553700" y="681990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주의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20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5199B9-9E86-40F4-40A2-CF5061734670}"/>
              </a:ext>
            </a:extLst>
          </p:cNvPr>
          <p:cNvSpPr txBox="1"/>
          <p:nvPr/>
        </p:nvSpPr>
        <p:spPr>
          <a:xfrm>
            <a:off x="10553700" y="718185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앱 회원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수 아님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6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57CAE7-5C19-3BA6-81C2-0716C7495BC3}"/>
              </a:ext>
            </a:extLst>
          </p:cNvPr>
          <p:cNvSpPr txBox="1"/>
          <p:nvPr/>
        </p:nvSpPr>
        <p:spPr>
          <a:xfrm>
            <a:off x="10553700" y="7696200"/>
            <a:ext cx="7124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형제 카드 합산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보호자 명의 가능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효과 단위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한 달 이용자 수</a:t>
            </a:r>
          </a:p>
        </p:txBody>
      </p:sp>
    </p:spTree>
    <p:extLst>
      <p:ext uri="{BB962C8B-B14F-4D97-AF65-F5344CB8AC3E}">
        <p14:creationId xmlns:p14="http://schemas.microsoft.com/office/powerpoint/2010/main" val="424851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59314F2-0532-FFD4-A17F-469379570E13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36E8B9-1EE8-70FE-5F69-CCE3BE5C60B4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E9521C-56EE-A306-F197-190E2D330F8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2A9C45-6635-F641-E452-89A80A320AFF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C5629-707D-D2FA-00D5-EB3BFB55EE16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020BF-B246-4577-42C0-E143831A6523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A5FB8-CBCC-A3B1-F75A-83532A7F568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8B766-625D-A87E-F268-3877B237F9BE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8F4C69-EB72-ECDC-80C9-920032BDB876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B6BDF-02B7-21ED-3515-9EFE2A3A758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9649EC-903E-3D26-CD69-E2F260FA19EC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CCBF87-40B3-D917-7099-A00D11FFA68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A01783-CA3C-4C7E-3867-53D2B572E04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지표와 판정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E386C5-32A4-491D-CC66-7771422192E9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두 기준으로 우선 점검 동네를 고르고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덜 쓰는 이유는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7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가지로 판정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3772D6-7309-C77E-D337-3CBE76A991DF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35FDF7-95D3-B59A-81FF-CABD823073E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4F451-72E9-50C2-5EEE-D89EC6133504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선정 규칙 결정 기록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D-015~017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이유 판정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D-019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비중 지수 분모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동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 일반 결제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0402B35-263F-181A-F2DC-1879A866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45520"/>
              </p:ext>
            </p:extLst>
          </p:nvPr>
        </p:nvGraphicFramePr>
        <p:xfrm>
          <a:off x="3314700" y="2247900"/>
          <a:ext cx="8191500" cy="37147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352519307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4062159958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1419733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080019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급식 비중 지수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동의 방학 급식 결제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동의 일반 배달 결제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 평균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1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181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70197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덜 쓰는 동네 후보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급식 가게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이상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급식 비중 지수 하위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25%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37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89699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 동네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 중 아동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 명당 방학 이용이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중앙값 미만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659959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가지마다 해당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판단 불가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문턱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 분포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25%·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중앙값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·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298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5A21283-A516-9434-B3BB-5ECC1121E7EC}"/>
              </a:ext>
            </a:extLst>
          </p:cNvPr>
          <p:cNvSpPr txBox="1"/>
          <p:nvPr/>
        </p:nvSpPr>
        <p:spPr>
          <a:xfrm>
            <a:off x="3314700" y="619125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배달 대비와 아동 수 대비가 모두 낮은 동만 우선 점검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하나로 고르면 잘못 뽑히는 동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직장 배달이 많은 동 등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차단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BDDCB8-7886-A7CC-469D-DF84FE83A18E}"/>
              </a:ext>
            </a:extLst>
          </p:cNvPr>
          <p:cNvCxnSpPr/>
          <p:nvPr/>
        </p:nvCxnSpPr>
        <p:spPr>
          <a:xfrm>
            <a:off x="11791950" y="2247900"/>
            <a:ext cx="0" cy="4762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0C24DD-36AC-62F7-4254-366A26F556DE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덜 쓰는 이유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18D7AFA-1A9A-CF64-D88E-7FFC22FC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15889"/>
              </p:ext>
            </p:extLst>
          </p:nvPr>
        </p:nvGraphicFramePr>
        <p:xfrm>
          <a:off x="12077700" y="2686050"/>
          <a:ext cx="5600700" cy="4133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23950">
                  <a:extLst>
                    <a:ext uri="{9D8B030D-6E8A-4147-A177-3AD203B41FA5}">
                      <a16:colId xmlns:a16="http://schemas.microsoft.com/office/drawing/2014/main" val="4189673733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1665754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88615615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</a:t>
                      </a:r>
                    </a:p>
                  </a:txBody>
                  <a:tcPr marL="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도움이 필요한 집이 원래 적다</a:t>
                      </a:r>
                    </a:p>
                  </a:txBody>
                  <a:tcPr marL="133350" marR="13335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</a:t>
                      </a:r>
                    </a:p>
                  </a:txBody>
                  <a:tcPr marL="133350" marR="0" marT="38100" marB="38100" anchor="ctr"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30556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 가게에서 사 먹는다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7848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 주문을 받는 가게가 적다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17938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값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값으로 시킬 수 있는 가게가 적다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21311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배달이 적거나 오래 걸린다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해결방안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39015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안내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몰라서 못 쓰거나 신청 끼니가 안 맞는다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남은 이유로 추정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11642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경로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방법으로 먹는다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지역아동센터 등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59524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397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0C2232F-D097-BBD1-6AAF-E7A5386886D1}"/>
              </a:ext>
            </a:extLst>
          </p:cNvPr>
          <p:cNvCxnSpPr/>
          <p:nvPr/>
        </p:nvCxnSpPr>
        <p:spPr>
          <a:xfrm>
            <a:off x="3314700" y="75819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137AF1-94E6-E8D5-8FD4-EB0291C59EAD}"/>
              </a:ext>
            </a:extLst>
          </p:cNvPr>
          <p:cNvSpPr txBox="1"/>
          <p:nvPr/>
        </p:nvSpPr>
        <p:spPr>
          <a:xfrm>
            <a:off x="3314700" y="77914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묶는 순서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규칙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D-019)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6C6C5-08C1-4090-2BE5-EA241D66010F}"/>
              </a:ext>
            </a:extLst>
          </p:cNvPr>
          <p:cNvSpPr txBox="1"/>
          <p:nvPr/>
        </p:nvSpPr>
        <p:spPr>
          <a:xfrm>
            <a:off x="331470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옆 동네 → 제외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207B9D-1C46-288A-C1B1-0082C41D8B3E}"/>
              </a:ext>
            </a:extLst>
          </p:cNvPr>
          <p:cNvSpPr txBox="1"/>
          <p:nvPr/>
        </p:nvSpPr>
        <p:spPr>
          <a:xfrm>
            <a:off x="618744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적음 → 제외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26351-0F48-68F6-3F30-C10A17513D75}"/>
              </a:ext>
            </a:extLst>
          </p:cNvPr>
          <p:cNvSpPr txBox="1"/>
          <p:nvPr/>
        </p:nvSpPr>
        <p:spPr>
          <a:xfrm>
            <a:off x="906018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·1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→ 개선 대상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FD52A8-8B53-3B2C-3016-3AD593E3F2FE}"/>
              </a:ext>
            </a:extLst>
          </p:cNvPr>
          <p:cNvSpPr txBox="1"/>
          <p:nvPr/>
        </p:nvSpPr>
        <p:spPr>
          <a:xfrm>
            <a:off x="11932920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 아님 → 안내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신청으로 추정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634126-6BDB-281F-B082-63E5C569A8F7}"/>
              </a:ext>
            </a:extLst>
          </p:cNvPr>
          <p:cNvSpPr txBox="1"/>
          <p:nvPr/>
        </p:nvSpPr>
        <p:spPr>
          <a:xfrm>
            <a:off x="14805661" y="8248650"/>
            <a:ext cx="26441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3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밖 → 확인 필요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492B13-44B2-0252-8B3E-33E999300A96}"/>
              </a:ext>
            </a:extLst>
          </p:cNvPr>
          <p:cNvSpPr txBox="1"/>
          <p:nvPr/>
        </p:nvSpPr>
        <p:spPr>
          <a:xfrm>
            <a:off x="3314700" y="90106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사각지대가 아닌 곳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옆 동네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적음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먼저 빼야 예산이 새지 않음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65%)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252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0DB555D-E696-BB08-C0C2-878279B25469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61B603-9E80-BCBD-66EF-4727D3447601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9BF9-288B-C13F-104B-C3E3BF04C044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3E7631-3814-D960-DE8C-4B588A3CD883}"/>
              </a:ext>
            </a:extLst>
          </p:cNvPr>
          <p:cNvSpPr/>
          <p:nvPr/>
        </p:nvSpPr>
        <p:spPr>
          <a:xfrm>
            <a:off x="381000" y="287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84480-F114-210D-71A5-C901023500E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A8950-0C9C-27CC-D260-DAF419F7A0B4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CC990-7D7D-3C6F-B82C-C7A6D3A3128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80DD9-2391-6F7D-C67E-F50E594572EE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4E16F0-EBF1-CFD9-F0A5-8D948BB3010B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28E9A-F2D1-F5D6-19B6-013982368C6D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78766-15A6-4BDC-49F8-40C76E3EBF93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A7C2CC-61BE-6878-7694-E95E02EC68C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78132-B2FF-1B7D-7658-68C52CDA588A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02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데이터와 방법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신뢰성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A4876-6C3B-E519-5B69-4363ECE3D561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규칙은 반출 전에 고정하고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사후 개정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건은 개정 전 결과와 함께 공개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012A145-BED8-DC8F-EDEC-1B4FB42F50A5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BBFD07-9295-C96F-80BE-38E9CA5D74AA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F1C4B0-C520-830E-6240-838439085E7A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docs/DECISIONS.md (D-015~D-019)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코드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analysis/outside/90_reason_table.py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ED98786-B36C-FF25-A28F-762CFD57C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210571"/>
              </p:ext>
            </p:extLst>
          </p:nvPr>
        </p:nvGraphicFramePr>
        <p:xfrm>
          <a:off x="3314700" y="2247900"/>
          <a:ext cx="14363700" cy="29527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74348861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1600625322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14820794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334617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10-12~15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가짜 자료 사전 검증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센터 입력 셀과 밖의 판정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 코드를 가짜 자료로 처음부터 끝까지 실행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07749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10-13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규칙 고정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가지 문턱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묶는 순서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대조 동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문서화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버전 기록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(D-019)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34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10-16</a:t>
                      </a:r>
                      <a:endParaRPr lang="ko-KR" altLang="en-US" sz="14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반출 전 자동 검사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저장 파일을 다시 읽어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미만 칸 검사 → 통과 파일만 반출 신청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60707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10-16 </a:t>
                      </a: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밤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4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결함 대체 규칙 적용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결함 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건을 미리 정한 규칙대로 처리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이유는 판단 불가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 이유는 이웃 동 비교</a:t>
                      </a:r>
                      <a:r>
                        <a:rPr lang="en-US" altLang="ko-KR" sz="14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4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99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70EDC0A-93CE-4B21-EE8D-F86FB058ECC7}"/>
              </a:ext>
            </a:extLst>
          </p:cNvPr>
          <p:cNvSpPr txBox="1"/>
          <p:nvPr/>
        </p:nvSpPr>
        <p:spPr>
          <a:xfrm>
            <a:off x="3314700" y="577215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5F818-0538-9282-B47F-7219CE2393F0}"/>
              </a:ext>
            </a:extLst>
          </p:cNvPr>
          <p:cNvSpPr txBox="1"/>
          <p:nvPr/>
        </p:nvSpPr>
        <p:spPr>
          <a:xfrm>
            <a:off x="3314700" y="60960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확인 후 바꾼 규칙 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ADB56-0205-B8E4-B4E9-BC9E08A21AC7}"/>
              </a:ext>
            </a:extLst>
          </p:cNvPr>
          <p:cNvSpPr txBox="1"/>
          <p:nvPr/>
        </p:nvSpPr>
        <p:spPr>
          <a:xfrm>
            <a:off x="3314700" y="664845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16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FB66D-4ED3-387B-DF59-AB00040B877B}"/>
              </a:ext>
            </a:extLst>
          </p:cNvPr>
          <p:cNvSpPr txBox="1"/>
          <p:nvPr/>
        </p:nvSpPr>
        <p:spPr>
          <a:xfrm>
            <a:off x="3733800" y="66484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 기준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 최소주문 → 급식카드 결제 기준 최소주문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AB1363-3EA7-91F1-1643-6620B66217D1}"/>
              </a:ext>
            </a:extLst>
          </p:cNvPr>
          <p:cNvSpPr txBox="1"/>
          <p:nvPr/>
        </p:nvSpPr>
        <p:spPr>
          <a:xfrm>
            <a:off x="3733800" y="70294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 중 ‘급식카드 주문 시 최소주문 미적용’ 가게 확인 → 면제 가게는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원으로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CEDAB-9688-369B-A83C-83852BDB2AE0}"/>
              </a:ext>
            </a:extLst>
          </p:cNvPr>
          <p:cNvSpPr txBox="1"/>
          <p:nvPr/>
        </p:nvSpPr>
        <p:spPr>
          <a:xfrm>
            <a:off x="3314700" y="782955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16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8067B-012F-ECD0-9041-BE7A1E25B39A}"/>
              </a:ext>
            </a:extLst>
          </p:cNvPr>
          <p:cNvSpPr txBox="1"/>
          <p:nvPr/>
        </p:nvSpPr>
        <p:spPr>
          <a:xfrm>
            <a:off x="3733800" y="78295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‘지역 공통 장벽’ 표시 추가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C32F8-9EB4-7998-4275-29CFBE1D8A6D}"/>
              </a:ext>
            </a:extLst>
          </p:cNvPr>
          <p:cNvSpPr txBox="1"/>
          <p:nvPr/>
        </p:nvSpPr>
        <p:spPr>
          <a:xfrm>
            <a:off x="3733800" y="82105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구 대조 동도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가능 가게가 똑같이 적으면 동별 해결방안 대신 구 단위 장벽으로 표시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0083DB-E590-3B7A-64E7-73B1F5588F8C}"/>
              </a:ext>
            </a:extLst>
          </p:cNvPr>
          <p:cNvSpPr txBox="1"/>
          <p:nvPr/>
        </p:nvSpPr>
        <p:spPr>
          <a:xfrm>
            <a:off x="3733800" y="906780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건 모두 개정 전 판정을 결정 기록에 함께 보존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F905708-66B5-CC8F-5E8D-26E008FDDA6D}"/>
              </a:ext>
            </a:extLst>
          </p:cNvPr>
          <p:cNvCxnSpPr/>
          <p:nvPr/>
        </p:nvCxnSpPr>
        <p:spPr>
          <a:xfrm>
            <a:off x="12077700" y="577215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25A5BC4-1491-72F8-CAB4-95DDC30325F3}"/>
              </a:ext>
            </a:extLst>
          </p:cNvPr>
          <p:cNvSpPr txBox="1"/>
          <p:nvPr/>
        </p:nvSpPr>
        <p:spPr>
          <a:xfrm>
            <a:off x="12458700" y="6096000"/>
            <a:ext cx="521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불가는 숨기지 않음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E9382B-3D20-10A6-5D9D-35015D9F3EDE}"/>
              </a:ext>
            </a:extLst>
          </p:cNvPr>
          <p:cNvSpPr txBox="1"/>
          <p:nvPr/>
        </p:nvSpPr>
        <p:spPr>
          <a:xfrm>
            <a:off x="12458700" y="6591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A09C9B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?</a:t>
            </a:r>
            <a:endParaRPr lang="ko-KR" altLang="en-US" sz="5400">
              <a:solidFill>
                <a:srgbClr val="A09C9B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8D2A8D-8977-1E0C-E32C-B6F9C987FD3A}"/>
              </a:ext>
            </a:extLst>
          </p:cNvPr>
          <p:cNvSpPr txBox="1"/>
          <p:nvPr/>
        </p:nvSpPr>
        <p:spPr>
          <a:xfrm>
            <a:off x="12458700" y="7543800"/>
            <a:ext cx="521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경로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동별 자료 없음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결함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다음 회차 점검 항목으로 넘김</a:t>
            </a:r>
          </a:p>
        </p:txBody>
      </p:sp>
    </p:spTree>
    <p:extLst>
      <p:ext uri="{BB962C8B-B14F-4D97-AF65-F5344CB8AC3E}">
        <p14:creationId xmlns:p14="http://schemas.microsoft.com/office/powerpoint/2010/main" val="282716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C9AD9D6-CD77-1114-2253-D4332C3C15AE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CEA74D-AF07-3546-AF53-BE6A0A8DBEFC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B40E4-A0F4-9E78-91F6-20CBCF949D41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D9498-29F3-5083-0910-FF72046F5B7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266C76-FD0D-922B-0C38-88248CAFAFE8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364DC-643B-6FE7-B744-8255D7B6A1F6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70CB81-A093-DB90-DC97-21CEA5BD747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6F621-12B9-6F7C-F1FE-78973A6569A9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670FA-C58C-6EF8-F53D-A352EA0D1FF1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4B8D8-B7E6-3B6F-BB15-F43A466CCD1D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B16ABA-3C86-2FE0-0319-D8E90B6F7688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B552-721C-0CD5-637F-46CD1A7EBDE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FCD88-E39A-70FD-C179-39F22764E3E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방학 집중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D1A9BF-71AE-F2E5-E4DA-1E0F8B67FBC4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급식카드 배달 결제는 학교급식이 없는 방학에 몰림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23F2AE8-4BCD-3DEE-FA5E-6BD725F86BE3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D6DFD3-3EAA-353C-806F-F4674CE50D21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A4B897-7B59-2A73-41B2-609564E2E63D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월별 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6~18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대구 합계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269,326 → 264,685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주민등록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2024-01 → 2025-01)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D9F38-883B-26C5-CFF9-953A8E35CC9C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월별 급식카드 결제 건수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64B881-D794-0F88-761B-453D0CBB109C}"/>
              </a:ext>
            </a:extLst>
          </p:cNvPr>
          <p:cNvSpPr/>
          <p:nvPr/>
        </p:nvSpPr>
        <p:spPr>
          <a:xfrm>
            <a:off x="1221105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B75E7A-230B-F919-89B7-67B1C062B828}"/>
              </a:ext>
            </a:extLst>
          </p:cNvPr>
          <p:cNvSpPr txBox="1"/>
          <p:nvPr/>
        </p:nvSpPr>
        <p:spPr>
          <a:xfrm>
            <a:off x="124206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13AA1D-155E-AA58-FEB8-01F859A53F28}"/>
              </a:ext>
            </a:extLst>
          </p:cNvPr>
          <p:cNvSpPr/>
          <p:nvPr/>
        </p:nvSpPr>
        <p:spPr>
          <a:xfrm>
            <a:off x="10871454" y="2324100"/>
            <a:ext cx="133350" cy="1333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F26A0E-3E5F-96FC-7E90-29D2A57A2959}"/>
              </a:ext>
            </a:extLst>
          </p:cNvPr>
          <p:cNvSpPr txBox="1"/>
          <p:nvPr/>
        </p:nvSpPr>
        <p:spPr>
          <a:xfrm>
            <a:off x="11081004" y="2266950"/>
            <a:ext cx="93954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전환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7·12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5A3534-071A-2FB8-963D-70AD4A46285A}"/>
              </a:ext>
            </a:extLst>
          </p:cNvPr>
          <p:cNvSpPr/>
          <p:nvPr/>
        </p:nvSpPr>
        <p:spPr>
          <a:xfrm>
            <a:off x="9455658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83AED9-143E-A9A2-49B9-030356E79A23}"/>
              </a:ext>
            </a:extLst>
          </p:cNvPr>
          <p:cNvSpPr txBox="1"/>
          <p:nvPr/>
        </p:nvSpPr>
        <p:spPr>
          <a:xfrm>
            <a:off x="9665208" y="2266950"/>
            <a:ext cx="101574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1·2·8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A0E2588-7564-17AE-A82B-A7DE2065A6E6}"/>
              </a:ext>
            </a:extLst>
          </p:cNvPr>
          <p:cNvCxnSpPr/>
          <p:nvPr/>
        </p:nvCxnSpPr>
        <p:spPr>
          <a:xfrm>
            <a:off x="3981450" y="5973233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2B09C7-33D7-EC43-3C56-14E451BEE66C}"/>
              </a:ext>
            </a:extLst>
          </p:cNvPr>
          <p:cNvSpPr txBox="1"/>
          <p:nvPr/>
        </p:nvSpPr>
        <p:spPr>
          <a:xfrm>
            <a:off x="3314700" y="5858933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065B405-DFB7-06DF-1297-FE6AD33E82F9}"/>
              </a:ext>
            </a:extLst>
          </p:cNvPr>
          <p:cNvCxnSpPr/>
          <p:nvPr/>
        </p:nvCxnSpPr>
        <p:spPr>
          <a:xfrm>
            <a:off x="3981450" y="5126567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162B99-6262-D005-D4E1-DCC26ED10AD3}"/>
              </a:ext>
            </a:extLst>
          </p:cNvPr>
          <p:cNvSpPr txBox="1"/>
          <p:nvPr/>
        </p:nvSpPr>
        <p:spPr>
          <a:xfrm>
            <a:off x="3314700" y="5012267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8E690E1-39AB-12C5-3E4D-BFB41BFD241C}"/>
              </a:ext>
            </a:extLst>
          </p:cNvPr>
          <p:cNvCxnSpPr/>
          <p:nvPr/>
        </p:nvCxnSpPr>
        <p:spPr>
          <a:xfrm>
            <a:off x="3981450" y="4279900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56AC17C-CCE5-0887-6343-99A910A58FFF}"/>
              </a:ext>
            </a:extLst>
          </p:cNvPr>
          <p:cNvSpPr txBox="1"/>
          <p:nvPr/>
        </p:nvSpPr>
        <p:spPr>
          <a:xfrm>
            <a:off x="3314700" y="41656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A454481-8A64-301B-510D-83A76DAD7D12}"/>
              </a:ext>
            </a:extLst>
          </p:cNvPr>
          <p:cNvCxnSpPr/>
          <p:nvPr/>
        </p:nvCxnSpPr>
        <p:spPr>
          <a:xfrm>
            <a:off x="3981450" y="3433233"/>
            <a:ext cx="885825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5101C7B-718C-1F12-64D4-8AC3C5327038}"/>
              </a:ext>
            </a:extLst>
          </p:cNvPr>
          <p:cNvSpPr txBox="1"/>
          <p:nvPr/>
        </p:nvSpPr>
        <p:spPr>
          <a:xfrm>
            <a:off x="3314700" y="3318933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4DDB7D-A369-0542-9F54-EA67C9EDBB8C}"/>
              </a:ext>
            </a:extLst>
          </p:cNvPr>
          <p:cNvSpPr/>
          <p:nvPr/>
        </p:nvSpPr>
        <p:spPr>
          <a:xfrm>
            <a:off x="4029075" y="6644725"/>
            <a:ext cx="259080" cy="17517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480EEA-D3D2-026A-A567-ECFC242C8C43}"/>
              </a:ext>
            </a:extLst>
          </p:cNvPr>
          <p:cNvSpPr txBox="1"/>
          <p:nvPr/>
        </p:nvSpPr>
        <p:spPr>
          <a:xfrm>
            <a:off x="379095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23-06</a:t>
            </a:r>
            <a:endParaRPr lang="ko-KR" altLang="en-US" sz="9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33FDB46-6A3A-BFE5-CA79-5660E13292FC}"/>
              </a:ext>
            </a:extLst>
          </p:cNvPr>
          <p:cNvSpPr/>
          <p:nvPr/>
        </p:nvSpPr>
        <p:spPr>
          <a:xfrm>
            <a:off x="4383405" y="5994231"/>
            <a:ext cx="259080" cy="825669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E20633B-13A8-7776-1990-B34E2B158F6E}"/>
              </a:ext>
            </a:extLst>
          </p:cNvPr>
          <p:cNvSpPr/>
          <p:nvPr/>
        </p:nvSpPr>
        <p:spPr>
          <a:xfrm>
            <a:off x="4737735" y="5190913"/>
            <a:ext cx="259080" cy="16289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FFC0DB-BDDC-3135-5FEA-B93D0DC68BF2}"/>
              </a:ext>
            </a:extLst>
          </p:cNvPr>
          <p:cNvSpPr txBox="1"/>
          <p:nvPr/>
        </p:nvSpPr>
        <p:spPr>
          <a:xfrm>
            <a:off x="4537710" y="4943263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1.9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C7E3F1F-418F-1736-1AC0-E10A5F58D786}"/>
              </a:ext>
            </a:extLst>
          </p:cNvPr>
          <p:cNvSpPr/>
          <p:nvPr/>
        </p:nvSpPr>
        <p:spPr>
          <a:xfrm>
            <a:off x="5092065" y="6421882"/>
            <a:ext cx="259080" cy="39801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C6E823-0934-E7E6-CCD5-6A6D84096672}"/>
              </a:ext>
            </a:extLst>
          </p:cNvPr>
          <p:cNvSpPr/>
          <p:nvPr/>
        </p:nvSpPr>
        <p:spPr>
          <a:xfrm>
            <a:off x="5446395" y="6388184"/>
            <a:ext cx="259080" cy="431716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91E03E7-6DAA-851C-619C-7D9CA882DBF0}"/>
              </a:ext>
            </a:extLst>
          </p:cNvPr>
          <p:cNvSpPr/>
          <p:nvPr/>
        </p:nvSpPr>
        <p:spPr>
          <a:xfrm>
            <a:off x="5800725" y="6381242"/>
            <a:ext cx="259080" cy="43865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408B70B-4B97-CC88-58A5-902ACACDE7CA}"/>
              </a:ext>
            </a:extLst>
          </p:cNvPr>
          <p:cNvSpPr/>
          <p:nvPr/>
        </p:nvSpPr>
        <p:spPr>
          <a:xfrm>
            <a:off x="6155055" y="6090581"/>
            <a:ext cx="259080" cy="729319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F714455-FD92-F6DD-B4C7-F10B8BFC0056}"/>
              </a:ext>
            </a:extLst>
          </p:cNvPr>
          <p:cNvSpPr/>
          <p:nvPr/>
        </p:nvSpPr>
        <p:spPr>
          <a:xfrm>
            <a:off x="6509385" y="4110482"/>
            <a:ext cx="259080" cy="270941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BC6264-0FFD-4BB8-8332-84A04CD9AB18}"/>
              </a:ext>
            </a:extLst>
          </p:cNvPr>
          <p:cNvSpPr txBox="1"/>
          <p:nvPr/>
        </p:nvSpPr>
        <p:spPr>
          <a:xfrm>
            <a:off x="6309360" y="3862832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3.2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43F60B-2480-DB0B-51F8-D2009FA95AB3}"/>
              </a:ext>
            </a:extLst>
          </p:cNvPr>
          <p:cNvSpPr txBox="1"/>
          <p:nvPr/>
        </p:nvSpPr>
        <p:spPr>
          <a:xfrm>
            <a:off x="627126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24-01</a:t>
            </a:r>
            <a:endParaRPr lang="ko-KR" altLang="en-US" sz="9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DEC8C0-CC1D-AC68-0891-FAC18DEDA069}"/>
              </a:ext>
            </a:extLst>
          </p:cNvPr>
          <p:cNvSpPr/>
          <p:nvPr/>
        </p:nvSpPr>
        <p:spPr>
          <a:xfrm>
            <a:off x="6863715" y="4168733"/>
            <a:ext cx="259080" cy="265116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8E1CB8-CC20-33D6-C3A2-374097C7CD76}"/>
              </a:ext>
            </a:extLst>
          </p:cNvPr>
          <p:cNvSpPr txBox="1"/>
          <p:nvPr/>
        </p:nvSpPr>
        <p:spPr>
          <a:xfrm>
            <a:off x="6663690" y="3921083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3.1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2B23452-2D1A-2D8D-ABF8-AC4A76B721F9}"/>
              </a:ext>
            </a:extLst>
          </p:cNvPr>
          <p:cNvSpPr/>
          <p:nvPr/>
        </p:nvSpPr>
        <p:spPr>
          <a:xfrm>
            <a:off x="7218045" y="6240357"/>
            <a:ext cx="259080" cy="57954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AD1DF3-4E41-DA9C-9157-96068E747286}"/>
              </a:ext>
            </a:extLst>
          </p:cNvPr>
          <p:cNvSpPr/>
          <p:nvPr/>
        </p:nvSpPr>
        <p:spPr>
          <a:xfrm>
            <a:off x="7572375" y="6240865"/>
            <a:ext cx="259080" cy="57903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DC6BAC-BA25-BAEA-E5E5-88FC514D3A45}"/>
              </a:ext>
            </a:extLst>
          </p:cNvPr>
          <p:cNvSpPr/>
          <p:nvPr/>
        </p:nvSpPr>
        <p:spPr>
          <a:xfrm>
            <a:off x="7926705" y="6182783"/>
            <a:ext cx="259081" cy="63711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2ED202-9CD7-5336-8C47-3959E5C0D3DC}"/>
              </a:ext>
            </a:extLst>
          </p:cNvPr>
          <p:cNvSpPr/>
          <p:nvPr/>
        </p:nvSpPr>
        <p:spPr>
          <a:xfrm>
            <a:off x="8281035" y="6174063"/>
            <a:ext cx="259080" cy="6458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102F70-8A5B-9385-6222-63ADD3622463}"/>
              </a:ext>
            </a:extLst>
          </p:cNvPr>
          <p:cNvSpPr txBox="1"/>
          <p:nvPr/>
        </p:nvSpPr>
        <p:spPr>
          <a:xfrm>
            <a:off x="804291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24-06</a:t>
            </a:r>
            <a:endParaRPr lang="ko-KR" altLang="en-US" sz="9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FBB1D83-A313-157A-75DF-B06F4340B38F}"/>
              </a:ext>
            </a:extLst>
          </p:cNvPr>
          <p:cNvSpPr/>
          <p:nvPr/>
        </p:nvSpPr>
        <p:spPr>
          <a:xfrm>
            <a:off x="8635365" y="5289634"/>
            <a:ext cx="259080" cy="1530266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C66B8D8-120C-8A82-F1DF-845B9781CA91}"/>
              </a:ext>
            </a:extLst>
          </p:cNvPr>
          <p:cNvSpPr/>
          <p:nvPr/>
        </p:nvSpPr>
        <p:spPr>
          <a:xfrm>
            <a:off x="8989695" y="4489450"/>
            <a:ext cx="259080" cy="23304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DA409C-4F56-3BBE-21CC-FE8AAEEB4B35}"/>
              </a:ext>
            </a:extLst>
          </p:cNvPr>
          <p:cNvSpPr txBox="1"/>
          <p:nvPr/>
        </p:nvSpPr>
        <p:spPr>
          <a:xfrm>
            <a:off x="8789670" y="4241800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2.8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BE76F1-FF8A-B00D-B42B-E63376DD5529}"/>
              </a:ext>
            </a:extLst>
          </p:cNvPr>
          <p:cNvSpPr/>
          <p:nvPr/>
        </p:nvSpPr>
        <p:spPr>
          <a:xfrm>
            <a:off x="9344025" y="6121146"/>
            <a:ext cx="259080" cy="698754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6580605-3A96-44B1-36EE-8CB47D0F7A76}"/>
              </a:ext>
            </a:extLst>
          </p:cNvPr>
          <p:cNvSpPr/>
          <p:nvPr/>
        </p:nvSpPr>
        <p:spPr>
          <a:xfrm>
            <a:off x="9698355" y="6081268"/>
            <a:ext cx="259081" cy="73863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CE801D0-049C-D792-A3BB-00CD70953DB7}"/>
              </a:ext>
            </a:extLst>
          </p:cNvPr>
          <p:cNvSpPr/>
          <p:nvPr/>
        </p:nvSpPr>
        <p:spPr>
          <a:xfrm>
            <a:off x="10052685" y="6135963"/>
            <a:ext cx="259080" cy="6839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DFAB565-AA37-6879-72D1-79C10B93759E}"/>
              </a:ext>
            </a:extLst>
          </p:cNvPr>
          <p:cNvSpPr/>
          <p:nvPr/>
        </p:nvSpPr>
        <p:spPr>
          <a:xfrm>
            <a:off x="10407015" y="5873750"/>
            <a:ext cx="259080" cy="9461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C447AB7-AFB8-7A00-936D-299E81E5320B}"/>
              </a:ext>
            </a:extLst>
          </p:cNvPr>
          <p:cNvSpPr/>
          <p:nvPr/>
        </p:nvSpPr>
        <p:spPr>
          <a:xfrm>
            <a:off x="10761345" y="3591899"/>
            <a:ext cx="259080" cy="3228001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4E569F-4DED-5BD2-04B2-4E92D11F15A6}"/>
              </a:ext>
            </a:extLst>
          </p:cNvPr>
          <p:cNvSpPr txBox="1"/>
          <p:nvPr/>
        </p:nvSpPr>
        <p:spPr>
          <a:xfrm>
            <a:off x="10561320" y="3344249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3.8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BF1C8E-0624-167D-5A38-BBC4F92809B0}"/>
              </a:ext>
            </a:extLst>
          </p:cNvPr>
          <p:cNvSpPr txBox="1"/>
          <p:nvPr/>
        </p:nvSpPr>
        <p:spPr>
          <a:xfrm>
            <a:off x="1052322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25-01</a:t>
            </a:r>
            <a:endParaRPr lang="ko-KR" altLang="en-US" sz="9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7EBACFC-4130-02CB-4638-7114A4068D6B}"/>
              </a:ext>
            </a:extLst>
          </p:cNvPr>
          <p:cNvSpPr/>
          <p:nvPr/>
        </p:nvSpPr>
        <p:spPr>
          <a:xfrm>
            <a:off x="11115675" y="3389207"/>
            <a:ext cx="259080" cy="3430693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517A2C-6B7B-490D-55EA-91955613A3B9}"/>
              </a:ext>
            </a:extLst>
          </p:cNvPr>
          <p:cNvSpPr txBox="1"/>
          <p:nvPr/>
        </p:nvSpPr>
        <p:spPr>
          <a:xfrm>
            <a:off x="10915650" y="3141557"/>
            <a:ext cx="6591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4.1</a:t>
            </a:r>
            <a:r>
              <a:rPr lang="ko-KR" altLang="en-US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7A4172D-0872-687E-4B2F-C47CE2DE353C}"/>
              </a:ext>
            </a:extLst>
          </p:cNvPr>
          <p:cNvSpPr/>
          <p:nvPr/>
        </p:nvSpPr>
        <p:spPr>
          <a:xfrm>
            <a:off x="11470005" y="6105821"/>
            <a:ext cx="259081" cy="714079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CA7D20E-82F5-80FB-7B92-39E0FECA0983}"/>
              </a:ext>
            </a:extLst>
          </p:cNvPr>
          <p:cNvSpPr/>
          <p:nvPr/>
        </p:nvSpPr>
        <p:spPr>
          <a:xfrm>
            <a:off x="11824335" y="6135963"/>
            <a:ext cx="259080" cy="68393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02C36C0-69DA-A3E3-6AC1-C5766B6D9733}"/>
              </a:ext>
            </a:extLst>
          </p:cNvPr>
          <p:cNvSpPr/>
          <p:nvPr/>
        </p:nvSpPr>
        <p:spPr>
          <a:xfrm>
            <a:off x="12178665" y="6065943"/>
            <a:ext cx="259080" cy="75395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3524079-4A0B-742E-BE46-9CF8FFDF3D16}"/>
              </a:ext>
            </a:extLst>
          </p:cNvPr>
          <p:cNvSpPr/>
          <p:nvPr/>
        </p:nvSpPr>
        <p:spPr>
          <a:xfrm>
            <a:off x="12532995" y="6098794"/>
            <a:ext cx="259080" cy="721106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D79CB7-00A4-E67D-25CF-49F722D83BD2}"/>
              </a:ext>
            </a:extLst>
          </p:cNvPr>
          <p:cNvSpPr txBox="1"/>
          <p:nvPr/>
        </p:nvSpPr>
        <p:spPr>
          <a:xfrm>
            <a:off x="12294870" y="6915150"/>
            <a:ext cx="7353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25-06</a:t>
            </a:r>
            <a:endParaRPr lang="ko-KR" altLang="en-US" sz="9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3433E71-E7D3-31B1-ADA1-03C0FEB2B4B9}"/>
              </a:ext>
            </a:extLst>
          </p:cNvPr>
          <p:cNvCxnSpPr/>
          <p:nvPr/>
        </p:nvCxnSpPr>
        <p:spPr>
          <a:xfrm>
            <a:off x="3981450" y="6819900"/>
            <a:ext cx="885825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FE8FFFCC-7EE7-392A-3017-34887F9A0E60}"/>
              </a:ext>
            </a:extLst>
          </p:cNvPr>
          <p:cNvCxnSpPr/>
          <p:nvPr/>
        </p:nvCxnSpPr>
        <p:spPr>
          <a:xfrm>
            <a:off x="13125450" y="2247900"/>
            <a:ext cx="0" cy="5334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8F6874A-3358-3E1C-C604-0C04F952AAA1}"/>
              </a:ext>
            </a:extLst>
          </p:cNvPr>
          <p:cNvSpPr txBox="1"/>
          <p:nvPr/>
        </p:nvSpPr>
        <p:spPr>
          <a:xfrm>
            <a:off x="13411200" y="22479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55.3%</a:t>
            </a:r>
            <a:endParaRPr lang="ko-KR" altLang="en-US" sz="375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A2E641-276F-C472-4BD7-097F66209BD0}"/>
              </a:ext>
            </a:extLst>
          </p:cNvPr>
          <p:cNvSpPr txBox="1"/>
          <p:nvPr/>
        </p:nvSpPr>
        <p:spPr>
          <a:xfrm>
            <a:off x="13411200" y="28575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결제 중 방학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1·2·8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 몫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542DB9-9334-8615-8170-1134F56202BD}"/>
              </a:ext>
            </a:extLst>
          </p:cNvPr>
          <p:cNvSpPr txBox="1"/>
          <p:nvPr/>
        </p:nvSpPr>
        <p:spPr>
          <a:xfrm>
            <a:off x="13411200" y="31813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중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개월에 절반 넘게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9D799D4-44FC-3D43-71C8-A349F8840F11}"/>
              </a:ext>
            </a:extLst>
          </p:cNvPr>
          <p:cNvCxnSpPr/>
          <p:nvPr/>
        </p:nvCxnSpPr>
        <p:spPr>
          <a:xfrm>
            <a:off x="13411200" y="3905250"/>
            <a:ext cx="426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3B974BC-39DD-A0F0-1B90-558E68CAA7F4}"/>
              </a:ext>
            </a:extLst>
          </p:cNvPr>
          <p:cNvSpPr txBox="1"/>
          <p:nvPr/>
        </p:nvSpPr>
        <p:spPr>
          <a:xfrm>
            <a:off x="13411200" y="40767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4.9</a:t>
            </a:r>
            <a:r>
              <a:rPr lang="ko-KR" altLang="en-US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EBCC09-34A1-B6AD-5312-BE7B6F28572E}"/>
              </a:ext>
            </a:extLst>
          </p:cNvPr>
          <p:cNvSpPr txBox="1"/>
          <p:nvPr/>
        </p:nvSpPr>
        <p:spPr>
          <a:xfrm>
            <a:off x="13411200" y="46863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월평균 이용자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898F0B-A7F7-574E-390E-484C8C8255A3}"/>
              </a:ext>
            </a:extLst>
          </p:cNvPr>
          <p:cNvSpPr txBox="1"/>
          <p:nvPr/>
        </p:nvSpPr>
        <p:spPr>
          <a:xfrm>
            <a:off x="13411200" y="50101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3,785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대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779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D682E36-007D-9F04-0F97-CE602C768FCD}"/>
              </a:ext>
            </a:extLst>
          </p:cNvPr>
          <p:cNvCxnSpPr/>
          <p:nvPr/>
        </p:nvCxnSpPr>
        <p:spPr>
          <a:xfrm>
            <a:off x="13411200" y="5734050"/>
            <a:ext cx="426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6D7E4BD-04AB-576F-BECF-2DE4B13FF241}"/>
              </a:ext>
            </a:extLst>
          </p:cNvPr>
          <p:cNvSpPr txBox="1"/>
          <p:nvPr/>
        </p:nvSpPr>
        <p:spPr>
          <a:xfrm>
            <a:off x="13411200" y="59055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16.3</a:t>
            </a:r>
            <a:endParaRPr lang="ko-KR" altLang="en-US" sz="375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CDB1B0-3006-FEE2-A41F-E3B7A08A3668}"/>
              </a:ext>
            </a:extLst>
          </p:cNvPr>
          <p:cNvSpPr txBox="1"/>
          <p:nvPr/>
        </p:nvSpPr>
        <p:spPr>
          <a:xfrm>
            <a:off x="13411200" y="65151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 이용자 수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174BAB-EE54-A365-4C15-FC714A9B9332}"/>
              </a:ext>
            </a:extLst>
          </p:cNvPr>
          <p:cNvSpPr txBox="1"/>
          <p:nvPr/>
        </p:nvSpPr>
        <p:spPr>
          <a:xfrm>
            <a:off x="13411200" y="68389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13.5(2024) → 16.3(2025),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기간 아동 −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D0936F0-C32C-C064-67C1-672B2CE72C59}"/>
              </a:ext>
            </a:extLst>
          </p:cNvPr>
          <p:cNvCxnSpPr/>
          <p:nvPr/>
        </p:nvCxnSpPr>
        <p:spPr>
          <a:xfrm>
            <a:off x="3314700" y="79629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2D48325-1465-F08A-EA96-6455B2D67A2A}"/>
              </a:ext>
            </a:extLst>
          </p:cNvPr>
          <p:cNvSpPr txBox="1"/>
          <p:nvPr/>
        </p:nvSpPr>
        <p:spPr>
          <a:xfrm>
            <a:off x="3314700" y="82105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제도의 경계 </a:t>
            </a: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사각지대 아님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291CC0-2B8F-65E7-08B7-CCCBDDB07D72}"/>
              </a:ext>
            </a:extLst>
          </p:cNvPr>
          <p:cNvSpPr txBox="1"/>
          <p:nvPr/>
        </p:nvSpPr>
        <p:spPr>
          <a:xfrm>
            <a:off x="3314700" y="85725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학교급식 시간인 학기 평일 </a:t>
            </a:r>
            <a:r>
              <a:rPr lang="en-US" altLang="ko-KR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시에는 급식 비중이 일반 결제의 </a:t>
            </a:r>
            <a:r>
              <a:rPr lang="en-US" altLang="ko-KR" sz="15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0.65</a:t>
            </a:r>
            <a:r>
              <a:rPr lang="ko-KR" altLang="en-US" sz="15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</a:t>
            </a:r>
            <a:r>
              <a:rPr lang="en-US" altLang="ko-KR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‘</a:t>
            </a:r>
            <a:r>
              <a:rPr lang="ko-KR" altLang="en-US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공백’이 아니라 제도의 경계로 따로 보고</a:t>
            </a:r>
            <a:r>
              <a:rPr lang="en-US" altLang="ko-KR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50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 대상에서 제외</a:t>
            </a:r>
          </a:p>
        </p:txBody>
      </p:sp>
    </p:spTree>
    <p:extLst>
      <p:ext uri="{BB962C8B-B14F-4D97-AF65-F5344CB8AC3E}">
        <p14:creationId xmlns:p14="http://schemas.microsoft.com/office/powerpoint/2010/main" val="400445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EACCFAD-8ECD-BB67-7BC4-6E5EBBFED43D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9096FD-371D-CEBD-E2F3-5BDD9E060598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F5BE9-896D-E00D-8AC2-B2A4E8A19F21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33463-3C15-45A9-390C-607AFB313463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5ECECA-C6AF-8657-D9EF-B807FACAC7EB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3C08F-39CA-9B3B-3D42-D225AA581A4F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934E2E-C83B-F25F-9048-3E5C94EB8675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30618-7C44-ACDE-1429-04267842C8EB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2A7AD-D2E0-DBE7-8031-DAA75D0ECDBC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55675-837D-B8E3-DBD6-752EA59D371D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01753-D488-54D7-5679-EAE59FC77DB7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BAE4F-D6F4-60B7-2B4A-715540A28D7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558E8-539C-C8D0-1DB4-545F0116CD27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시간대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59D78-83DA-75C5-4AE3-12E620A348B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 결제만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23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시에 끊기고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점심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오후 비중은 일반 결제보다 높음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A6034CA-0FDD-0635-0685-86B3B06B932A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D47E95-52FC-95E6-1E7E-F5F8D5070CE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5AA8D-9CEE-DDB4-B753-2DE8DA9AA1D4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시간대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 파일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이용시간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06~23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규칙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구청 안내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일치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954A6-D87C-3C14-C565-C42EF45FB297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결제 비중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(%, 25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합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B7D2CDB-89DC-5861-0FC3-FD73FCBC1B9D}"/>
              </a:ext>
            </a:extLst>
          </p:cNvPr>
          <p:cNvSpPr/>
          <p:nvPr/>
        </p:nvSpPr>
        <p:spPr>
          <a:xfrm>
            <a:off x="1224153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4B2CB-8D7B-2F00-77CE-440A9733B90E}"/>
              </a:ext>
            </a:extLst>
          </p:cNvPr>
          <p:cNvSpPr txBox="1"/>
          <p:nvPr/>
        </p:nvSpPr>
        <p:spPr>
          <a:xfrm>
            <a:off x="12451080" y="2266950"/>
            <a:ext cx="75057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결제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FEEC74-EE15-25DC-89CE-62FE8823674E}"/>
              </a:ext>
            </a:extLst>
          </p:cNvPr>
          <p:cNvSpPr/>
          <p:nvPr/>
        </p:nvSpPr>
        <p:spPr>
          <a:xfrm>
            <a:off x="11136630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EC699C-8CA7-021A-5F32-2761830391ED}"/>
              </a:ext>
            </a:extLst>
          </p:cNvPr>
          <p:cNvSpPr txBox="1"/>
          <p:nvPr/>
        </p:nvSpPr>
        <p:spPr>
          <a:xfrm>
            <a:off x="11346180" y="2266950"/>
            <a:ext cx="704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6705B52-133A-80BA-A859-094921E9A629}"/>
              </a:ext>
            </a:extLst>
          </p:cNvPr>
          <p:cNvCxnSpPr/>
          <p:nvPr/>
        </p:nvCxnSpPr>
        <p:spPr>
          <a:xfrm>
            <a:off x="3886200" y="729615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FBE511B-21E0-F8EC-BD39-AA617DA5A553}"/>
              </a:ext>
            </a:extLst>
          </p:cNvPr>
          <p:cNvSpPr txBox="1"/>
          <p:nvPr/>
        </p:nvSpPr>
        <p:spPr>
          <a:xfrm>
            <a:off x="3314700" y="718185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5%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E777DBF-9F3B-2E2B-680D-41329544CE94}"/>
              </a:ext>
            </a:extLst>
          </p:cNvPr>
          <p:cNvCxnSpPr/>
          <p:nvPr/>
        </p:nvCxnSpPr>
        <p:spPr>
          <a:xfrm>
            <a:off x="3886200" y="586740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592D2-C453-1819-A836-68919AB8B233}"/>
              </a:ext>
            </a:extLst>
          </p:cNvPr>
          <p:cNvSpPr txBox="1"/>
          <p:nvPr/>
        </p:nvSpPr>
        <p:spPr>
          <a:xfrm>
            <a:off x="3314700" y="575310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10%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BCC5C88-D49D-E039-FD72-DF4EF9753B2E}"/>
              </a:ext>
            </a:extLst>
          </p:cNvPr>
          <p:cNvCxnSpPr/>
          <p:nvPr/>
        </p:nvCxnSpPr>
        <p:spPr>
          <a:xfrm>
            <a:off x="3886200" y="443865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518DE8-E579-380C-1CE4-5E592126B70F}"/>
              </a:ext>
            </a:extLst>
          </p:cNvPr>
          <p:cNvSpPr txBox="1"/>
          <p:nvPr/>
        </p:nvSpPr>
        <p:spPr>
          <a:xfrm>
            <a:off x="3314700" y="432435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15%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BF86131-1FB5-5DB9-5507-03F93D785574}"/>
              </a:ext>
            </a:extLst>
          </p:cNvPr>
          <p:cNvCxnSpPr/>
          <p:nvPr/>
        </p:nvCxnSpPr>
        <p:spPr>
          <a:xfrm>
            <a:off x="3886200" y="3009900"/>
            <a:ext cx="9334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88EC510-D010-7D5F-2A0F-17D90D410C28}"/>
              </a:ext>
            </a:extLst>
          </p:cNvPr>
          <p:cNvSpPr txBox="1"/>
          <p:nvPr/>
        </p:nvSpPr>
        <p:spPr>
          <a:xfrm>
            <a:off x="3314700" y="2895600"/>
            <a:ext cx="476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020C37-5B3C-5023-C500-A11886B91ADB}"/>
              </a:ext>
            </a:extLst>
          </p:cNvPr>
          <p:cNvSpPr/>
          <p:nvPr/>
        </p:nvSpPr>
        <p:spPr>
          <a:xfrm>
            <a:off x="3943350" y="8662035"/>
            <a:ext cx="183092" cy="6286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C28BA74-7012-8B94-513B-6B88348DC838}"/>
              </a:ext>
            </a:extLst>
          </p:cNvPr>
          <p:cNvSpPr/>
          <p:nvPr/>
        </p:nvSpPr>
        <p:spPr>
          <a:xfrm>
            <a:off x="4145492" y="8710613"/>
            <a:ext cx="183091" cy="1428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8420E5-BB05-A2D3-6783-91700667A582}"/>
              </a:ext>
            </a:extLst>
          </p:cNvPr>
          <p:cNvSpPr txBox="1"/>
          <p:nvPr/>
        </p:nvSpPr>
        <p:spPr>
          <a:xfrm>
            <a:off x="38290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D08A5C-89B8-E206-CE14-24F939B3DA9F}"/>
              </a:ext>
            </a:extLst>
          </p:cNvPr>
          <p:cNvSpPr/>
          <p:nvPr/>
        </p:nvSpPr>
        <p:spPr>
          <a:xfrm>
            <a:off x="4461933" y="8667750"/>
            <a:ext cx="183092" cy="571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2496CB-CA16-810E-9189-D0CEFF318578}"/>
              </a:ext>
            </a:extLst>
          </p:cNvPr>
          <p:cNvSpPr/>
          <p:nvPr/>
        </p:nvSpPr>
        <p:spPr>
          <a:xfrm>
            <a:off x="4664075" y="8704897"/>
            <a:ext cx="183092" cy="2000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1154B7-50CF-84BA-6E0E-5F9D1DC4281B}"/>
              </a:ext>
            </a:extLst>
          </p:cNvPr>
          <p:cNvSpPr txBox="1"/>
          <p:nvPr/>
        </p:nvSpPr>
        <p:spPr>
          <a:xfrm>
            <a:off x="43476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191355-5052-AFCC-7CA3-CEFDBBAEE2D5}"/>
              </a:ext>
            </a:extLst>
          </p:cNvPr>
          <p:cNvSpPr/>
          <p:nvPr/>
        </p:nvSpPr>
        <p:spPr>
          <a:xfrm>
            <a:off x="4980517" y="8564880"/>
            <a:ext cx="183091" cy="16002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CE84F4-7D4A-6AFD-67CA-ED0504AEAA43}"/>
              </a:ext>
            </a:extLst>
          </p:cNvPr>
          <p:cNvSpPr/>
          <p:nvPr/>
        </p:nvSpPr>
        <p:spPr>
          <a:xfrm>
            <a:off x="5182658" y="8650605"/>
            <a:ext cx="183092" cy="7429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4581D2-C8E4-9940-66B4-4551881FA665}"/>
              </a:ext>
            </a:extLst>
          </p:cNvPr>
          <p:cNvSpPr txBox="1"/>
          <p:nvPr/>
        </p:nvSpPr>
        <p:spPr>
          <a:xfrm>
            <a:off x="48662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03E3859-61C7-7A60-A91C-42B4E302C357}"/>
              </a:ext>
            </a:extLst>
          </p:cNvPr>
          <p:cNvSpPr/>
          <p:nvPr/>
        </p:nvSpPr>
        <p:spPr>
          <a:xfrm>
            <a:off x="5499100" y="8367713"/>
            <a:ext cx="183092" cy="3571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44DEAC4-FF4B-7980-5F4C-4D576B08D8BE}"/>
              </a:ext>
            </a:extLst>
          </p:cNvPr>
          <p:cNvSpPr/>
          <p:nvPr/>
        </p:nvSpPr>
        <p:spPr>
          <a:xfrm>
            <a:off x="5701242" y="8510588"/>
            <a:ext cx="183091" cy="2143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EE4AB0-9B42-0670-FB9B-59E76CC2648C}"/>
              </a:ext>
            </a:extLst>
          </p:cNvPr>
          <p:cNvSpPr txBox="1"/>
          <p:nvPr/>
        </p:nvSpPr>
        <p:spPr>
          <a:xfrm>
            <a:off x="53848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34FEB1-4144-0D3C-8BF2-257F79F76443}"/>
              </a:ext>
            </a:extLst>
          </p:cNvPr>
          <p:cNvSpPr/>
          <p:nvPr/>
        </p:nvSpPr>
        <p:spPr>
          <a:xfrm>
            <a:off x="6017683" y="7736205"/>
            <a:ext cx="183092" cy="98869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2D21C0-010E-712E-6EC8-7F0A564394BA}"/>
              </a:ext>
            </a:extLst>
          </p:cNvPr>
          <p:cNvSpPr/>
          <p:nvPr/>
        </p:nvSpPr>
        <p:spPr>
          <a:xfrm>
            <a:off x="6219825" y="8070532"/>
            <a:ext cx="183092" cy="654368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DF06C1-F223-EFC4-A477-1D0738A16374}"/>
              </a:ext>
            </a:extLst>
          </p:cNvPr>
          <p:cNvSpPr txBox="1"/>
          <p:nvPr/>
        </p:nvSpPr>
        <p:spPr>
          <a:xfrm>
            <a:off x="59033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3D1C6C-9BFA-FF7E-F1FE-75314AAA62AC}"/>
              </a:ext>
            </a:extLst>
          </p:cNvPr>
          <p:cNvSpPr/>
          <p:nvPr/>
        </p:nvSpPr>
        <p:spPr>
          <a:xfrm>
            <a:off x="6536267" y="6456045"/>
            <a:ext cx="183092" cy="226885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06DE422-72AB-FB0E-E091-51D77C1037A7}"/>
              </a:ext>
            </a:extLst>
          </p:cNvPr>
          <p:cNvSpPr/>
          <p:nvPr/>
        </p:nvSpPr>
        <p:spPr>
          <a:xfrm>
            <a:off x="6738408" y="6653213"/>
            <a:ext cx="183092" cy="207168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3B5C5-A555-8B3C-AB57-86B09691C7B9}"/>
              </a:ext>
            </a:extLst>
          </p:cNvPr>
          <p:cNvSpPr txBox="1"/>
          <p:nvPr/>
        </p:nvSpPr>
        <p:spPr>
          <a:xfrm>
            <a:off x="64219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4617EAE-8E10-C677-50AB-5151F391FCE6}"/>
              </a:ext>
            </a:extLst>
          </p:cNvPr>
          <p:cNvSpPr/>
          <p:nvPr/>
        </p:nvSpPr>
        <p:spPr>
          <a:xfrm>
            <a:off x="7054850" y="6324600"/>
            <a:ext cx="183092" cy="240030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764386-AD18-D9AB-7A34-C61125237A5D}"/>
              </a:ext>
            </a:extLst>
          </p:cNvPr>
          <p:cNvSpPr/>
          <p:nvPr/>
        </p:nvSpPr>
        <p:spPr>
          <a:xfrm>
            <a:off x="7256992" y="6613207"/>
            <a:ext cx="183092" cy="211169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E1E18E-E90C-9A0C-4D2D-DE92B3735640}"/>
              </a:ext>
            </a:extLst>
          </p:cNvPr>
          <p:cNvSpPr txBox="1"/>
          <p:nvPr/>
        </p:nvSpPr>
        <p:spPr>
          <a:xfrm>
            <a:off x="69405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7F783C-91CC-4938-0609-F90538BF11F0}"/>
              </a:ext>
            </a:extLst>
          </p:cNvPr>
          <p:cNvSpPr/>
          <p:nvPr/>
        </p:nvSpPr>
        <p:spPr>
          <a:xfrm>
            <a:off x="7573433" y="6833235"/>
            <a:ext cx="183092" cy="189166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C5C12F-0B35-EB70-3916-FAA1D34F1E6B}"/>
              </a:ext>
            </a:extLst>
          </p:cNvPr>
          <p:cNvSpPr/>
          <p:nvPr/>
        </p:nvSpPr>
        <p:spPr>
          <a:xfrm>
            <a:off x="7775575" y="7264718"/>
            <a:ext cx="183092" cy="146018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CED134-9FBC-FB88-4DCA-451EC3ACC4B8}"/>
              </a:ext>
            </a:extLst>
          </p:cNvPr>
          <p:cNvSpPr txBox="1"/>
          <p:nvPr/>
        </p:nvSpPr>
        <p:spPr>
          <a:xfrm>
            <a:off x="74591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C062766-9DEB-C015-B8F6-FB7C3217885C}"/>
              </a:ext>
            </a:extLst>
          </p:cNvPr>
          <p:cNvSpPr/>
          <p:nvPr/>
        </p:nvSpPr>
        <p:spPr>
          <a:xfrm>
            <a:off x="8092017" y="7193280"/>
            <a:ext cx="183092" cy="153162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1910A34-EB4D-8384-4A29-1C837D16F941}"/>
              </a:ext>
            </a:extLst>
          </p:cNvPr>
          <p:cNvSpPr/>
          <p:nvPr/>
        </p:nvSpPr>
        <p:spPr>
          <a:xfrm>
            <a:off x="8294158" y="7679055"/>
            <a:ext cx="183092" cy="104584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4473AE-729E-0E0B-724D-A0AA276B1603}"/>
              </a:ext>
            </a:extLst>
          </p:cNvPr>
          <p:cNvSpPr txBox="1"/>
          <p:nvPr/>
        </p:nvSpPr>
        <p:spPr>
          <a:xfrm>
            <a:off x="79777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EF2C36-5945-2E81-E482-40BB9746C0F9}"/>
              </a:ext>
            </a:extLst>
          </p:cNvPr>
          <p:cNvSpPr/>
          <p:nvPr/>
        </p:nvSpPr>
        <p:spPr>
          <a:xfrm>
            <a:off x="8610600" y="7227570"/>
            <a:ext cx="183092" cy="149733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4AC3DC4-5E86-AB03-993D-CE9B129AA6FA}"/>
              </a:ext>
            </a:extLst>
          </p:cNvPr>
          <p:cNvSpPr/>
          <p:nvPr/>
        </p:nvSpPr>
        <p:spPr>
          <a:xfrm>
            <a:off x="8812742" y="7721918"/>
            <a:ext cx="183092" cy="100298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9EA6CA-97EF-E972-12A7-8C2EB630581F}"/>
              </a:ext>
            </a:extLst>
          </p:cNvPr>
          <p:cNvSpPr txBox="1"/>
          <p:nvPr/>
        </p:nvSpPr>
        <p:spPr>
          <a:xfrm>
            <a:off x="84963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073AD8-1BB3-C34F-BDDC-FB52AB10ABB6}"/>
              </a:ext>
            </a:extLst>
          </p:cNvPr>
          <p:cNvSpPr/>
          <p:nvPr/>
        </p:nvSpPr>
        <p:spPr>
          <a:xfrm>
            <a:off x="9129183" y="6721793"/>
            <a:ext cx="183092" cy="200310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D4B1C6C-B981-0666-7C12-D7EEE04D1F3D}"/>
              </a:ext>
            </a:extLst>
          </p:cNvPr>
          <p:cNvSpPr/>
          <p:nvPr/>
        </p:nvSpPr>
        <p:spPr>
          <a:xfrm>
            <a:off x="9331325" y="7078980"/>
            <a:ext cx="183092" cy="164592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178A62-5219-94AC-66B7-B84E8BF3BF8C}"/>
              </a:ext>
            </a:extLst>
          </p:cNvPr>
          <p:cNvSpPr txBox="1"/>
          <p:nvPr/>
        </p:nvSpPr>
        <p:spPr>
          <a:xfrm>
            <a:off x="90148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C193BF3-04EC-F0C8-4402-62EFE8D99127}"/>
              </a:ext>
            </a:extLst>
          </p:cNvPr>
          <p:cNvSpPr/>
          <p:nvPr/>
        </p:nvSpPr>
        <p:spPr>
          <a:xfrm>
            <a:off x="9647767" y="5464492"/>
            <a:ext cx="183092" cy="326040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DC001DB-F2E1-6DF9-72C9-233AA07D3B49}"/>
              </a:ext>
            </a:extLst>
          </p:cNvPr>
          <p:cNvSpPr/>
          <p:nvPr/>
        </p:nvSpPr>
        <p:spPr>
          <a:xfrm>
            <a:off x="9849908" y="4810125"/>
            <a:ext cx="183092" cy="391477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CFEDF1-6844-7884-E8C0-B1DE3E59069C}"/>
              </a:ext>
            </a:extLst>
          </p:cNvPr>
          <p:cNvSpPr txBox="1"/>
          <p:nvPr/>
        </p:nvSpPr>
        <p:spPr>
          <a:xfrm>
            <a:off x="95334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1C5E56-8739-9EAA-7F6F-BBB17B6F5D8C}"/>
              </a:ext>
            </a:extLst>
          </p:cNvPr>
          <p:cNvSpPr/>
          <p:nvPr/>
        </p:nvSpPr>
        <p:spPr>
          <a:xfrm>
            <a:off x="10166350" y="4830128"/>
            <a:ext cx="183092" cy="3894772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851314A-6209-9E6A-9B3D-7444D0ED7AD2}"/>
              </a:ext>
            </a:extLst>
          </p:cNvPr>
          <p:cNvSpPr/>
          <p:nvPr/>
        </p:nvSpPr>
        <p:spPr>
          <a:xfrm>
            <a:off x="10368492" y="3401378"/>
            <a:ext cx="183092" cy="532352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8D9CCE-5D71-C2F1-52EC-FB9D7BFBF206}"/>
              </a:ext>
            </a:extLst>
          </p:cNvPr>
          <p:cNvSpPr txBox="1"/>
          <p:nvPr/>
        </p:nvSpPr>
        <p:spPr>
          <a:xfrm>
            <a:off x="1005205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4631939-4394-CE87-682C-2272876C42AA}"/>
              </a:ext>
            </a:extLst>
          </p:cNvPr>
          <p:cNvSpPr/>
          <p:nvPr/>
        </p:nvSpPr>
        <p:spPr>
          <a:xfrm>
            <a:off x="10684933" y="5515928"/>
            <a:ext cx="183092" cy="3208972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4B44655-F0D9-04D2-3607-5F7E701DF00F}"/>
              </a:ext>
            </a:extLst>
          </p:cNvPr>
          <p:cNvSpPr/>
          <p:nvPr/>
        </p:nvSpPr>
        <p:spPr>
          <a:xfrm>
            <a:off x="10887075" y="4984433"/>
            <a:ext cx="183092" cy="3740467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C14CEC-C426-B1AB-279B-7828A93E5183}"/>
              </a:ext>
            </a:extLst>
          </p:cNvPr>
          <p:cNvSpPr txBox="1"/>
          <p:nvPr/>
        </p:nvSpPr>
        <p:spPr>
          <a:xfrm>
            <a:off x="1057063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123B4B8-1C08-06B7-0B3B-A5E4BB1D372E}"/>
              </a:ext>
            </a:extLst>
          </p:cNvPr>
          <p:cNvSpPr/>
          <p:nvPr/>
        </p:nvSpPr>
        <p:spPr>
          <a:xfrm>
            <a:off x="11203517" y="6536055"/>
            <a:ext cx="183092" cy="218884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801EAE7-88B6-CAD6-A190-855B2C7E53E3}"/>
              </a:ext>
            </a:extLst>
          </p:cNvPr>
          <p:cNvSpPr/>
          <p:nvPr/>
        </p:nvSpPr>
        <p:spPr>
          <a:xfrm>
            <a:off x="11405658" y="6518910"/>
            <a:ext cx="183092" cy="220599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D12E7F-6568-92CE-89B2-0F65AD377985}"/>
              </a:ext>
            </a:extLst>
          </p:cNvPr>
          <p:cNvSpPr txBox="1"/>
          <p:nvPr/>
        </p:nvSpPr>
        <p:spPr>
          <a:xfrm>
            <a:off x="1108921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B314D41-1DC9-3AA1-C0FF-CABCADCA6DA8}"/>
              </a:ext>
            </a:extLst>
          </p:cNvPr>
          <p:cNvSpPr/>
          <p:nvPr/>
        </p:nvSpPr>
        <p:spPr>
          <a:xfrm>
            <a:off x="11722100" y="7156132"/>
            <a:ext cx="183092" cy="1568768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3C571E8-3DD6-70ED-A174-51CFB94DFFB3}"/>
              </a:ext>
            </a:extLst>
          </p:cNvPr>
          <p:cNvSpPr/>
          <p:nvPr/>
        </p:nvSpPr>
        <p:spPr>
          <a:xfrm>
            <a:off x="11924242" y="7250430"/>
            <a:ext cx="183092" cy="147447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2DE244-3534-4EA6-0D52-375CE6BB8957}"/>
              </a:ext>
            </a:extLst>
          </p:cNvPr>
          <p:cNvSpPr txBox="1"/>
          <p:nvPr/>
        </p:nvSpPr>
        <p:spPr>
          <a:xfrm>
            <a:off x="11607800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A95E4F3-C1AF-8AD7-67D1-6D79DA97DEE4}"/>
              </a:ext>
            </a:extLst>
          </p:cNvPr>
          <p:cNvSpPr/>
          <p:nvPr/>
        </p:nvSpPr>
        <p:spPr>
          <a:xfrm>
            <a:off x="12240683" y="7490460"/>
            <a:ext cx="183092" cy="123444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5AAE140-BEF2-2F69-DD3A-8852A4654C82}"/>
              </a:ext>
            </a:extLst>
          </p:cNvPr>
          <p:cNvSpPr/>
          <p:nvPr/>
        </p:nvSpPr>
        <p:spPr>
          <a:xfrm>
            <a:off x="12442825" y="7813357"/>
            <a:ext cx="183092" cy="911543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3352B4-4E23-6991-6F44-56C6C81F567D}"/>
              </a:ext>
            </a:extLst>
          </p:cNvPr>
          <p:cNvSpPr txBox="1"/>
          <p:nvPr/>
        </p:nvSpPr>
        <p:spPr>
          <a:xfrm>
            <a:off x="12126383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29B3BBB-B8B8-65DA-4CDF-69882E1FC4E6}"/>
              </a:ext>
            </a:extLst>
          </p:cNvPr>
          <p:cNvSpPr/>
          <p:nvPr/>
        </p:nvSpPr>
        <p:spPr>
          <a:xfrm>
            <a:off x="12759267" y="8710613"/>
            <a:ext cx="183092" cy="14287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60D5E75-0942-0B7F-E2C4-BA39E2D480F4}"/>
              </a:ext>
            </a:extLst>
          </p:cNvPr>
          <p:cNvSpPr/>
          <p:nvPr/>
        </p:nvSpPr>
        <p:spPr>
          <a:xfrm>
            <a:off x="12961408" y="8027670"/>
            <a:ext cx="183092" cy="69723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C6E572-3B08-EFA0-5BB8-D66592EF7737}"/>
              </a:ext>
            </a:extLst>
          </p:cNvPr>
          <p:cNvSpPr txBox="1"/>
          <p:nvPr/>
        </p:nvSpPr>
        <p:spPr>
          <a:xfrm>
            <a:off x="12644967" y="8820150"/>
            <a:ext cx="63288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9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23~05</a:t>
            </a:r>
            <a:endParaRPr lang="ko-KR" altLang="en-US" sz="975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3A2D185-BB02-3F24-BDE3-A2FCBEF0B7D1}"/>
              </a:ext>
            </a:extLst>
          </p:cNvPr>
          <p:cNvCxnSpPr/>
          <p:nvPr/>
        </p:nvCxnSpPr>
        <p:spPr>
          <a:xfrm>
            <a:off x="3886200" y="8724900"/>
            <a:ext cx="933450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F7AAD03-9476-71A8-6F5B-03B1BC6BBF52}"/>
              </a:ext>
            </a:extLst>
          </p:cNvPr>
          <p:cNvSpPr txBox="1"/>
          <p:nvPr/>
        </p:nvSpPr>
        <p:spPr>
          <a:xfrm>
            <a:off x="11273367" y="6057900"/>
            <a:ext cx="194733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25000"/>
              </a:lnSpc>
            </a:pPr>
            <a:r>
              <a:rPr lang="en-US" altLang="ko-KR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23~05</a:t>
            </a:r>
            <a:r>
              <a:rPr lang="ko-KR" altLang="en-US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</a:p>
          <a:p>
            <a:pPr algn="r">
              <a:lnSpc>
                <a:spcPct val="125000"/>
              </a:lnSpc>
            </a:pPr>
            <a:r>
              <a:rPr lang="ko-KR" altLang="en-US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</a:t>
            </a:r>
            <a:r>
              <a:rPr lang="en-US" altLang="ko-KR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0.00% · </a:t>
            </a:r>
            <a:r>
              <a:rPr lang="ko-KR" altLang="en-US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</a:t>
            </a:r>
            <a:r>
              <a:rPr lang="en-US" altLang="ko-KR" sz="11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2.44%</a:t>
            </a:r>
            <a:endParaRPr lang="ko-KR" altLang="en-US" sz="1125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623B88D-D1D1-B039-9E2F-0E994E94D212}"/>
              </a:ext>
            </a:extLst>
          </p:cNvPr>
          <p:cNvCxnSpPr/>
          <p:nvPr/>
        </p:nvCxnSpPr>
        <p:spPr>
          <a:xfrm>
            <a:off x="135064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E1FCD2D-486D-F898-A260-104896F02D42}"/>
              </a:ext>
            </a:extLst>
          </p:cNvPr>
          <p:cNvSpPr txBox="1"/>
          <p:nvPr/>
        </p:nvSpPr>
        <p:spPr>
          <a:xfrm>
            <a:off x="13792200" y="224790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11</a:t>
            </a:r>
            <a:r>
              <a:rPr lang="ko-KR" altLang="en-US" sz="30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건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EECBE7-92CF-457A-6C1D-0436078AD3B2}"/>
              </a:ext>
            </a:extLst>
          </p:cNvPr>
          <p:cNvSpPr txBox="1"/>
          <p:nvPr/>
        </p:nvSpPr>
        <p:spPr>
          <a:xfrm>
            <a:off x="13792200" y="274320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23~05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급식 결제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25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개월 합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C65A7E-49D9-FC38-F10F-4945EE030AEF}"/>
              </a:ext>
            </a:extLst>
          </p:cNvPr>
          <p:cNvSpPr txBox="1"/>
          <p:nvPr/>
        </p:nvSpPr>
        <p:spPr>
          <a:xfrm>
            <a:off x="13792200" y="3067050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시간 일반 결제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88,244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b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급식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14,730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→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이후 절벽</a:t>
            </a: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90AA020-A0C6-3E30-D7AD-C3900FFB93AF}"/>
              </a:ext>
            </a:extLst>
          </p:cNvPr>
          <p:cNvCxnSpPr/>
          <p:nvPr/>
        </p:nvCxnSpPr>
        <p:spPr>
          <a:xfrm>
            <a:off x="13792200" y="3967163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7B4CFBB-A296-641E-6518-0B580F72E661}"/>
              </a:ext>
            </a:extLst>
          </p:cNvPr>
          <p:cNvSpPr txBox="1"/>
          <p:nvPr/>
        </p:nvSpPr>
        <p:spPr>
          <a:xfrm>
            <a:off x="13792200" y="413861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18.6%</a:t>
            </a:r>
            <a:endParaRPr lang="ko-KR" altLang="en-US" sz="30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AE43AA-9827-C8D7-AB84-24FF155A811E}"/>
              </a:ext>
            </a:extLst>
          </p:cNvPr>
          <p:cNvSpPr txBox="1"/>
          <p:nvPr/>
        </p:nvSpPr>
        <p:spPr>
          <a:xfrm>
            <a:off x="13792200" y="463391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11~12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급식 결제 비중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EB1314-9C66-6EB8-04A3-19B81B93EDD9}"/>
              </a:ext>
            </a:extLst>
          </p:cNvPr>
          <p:cNvSpPr txBox="1"/>
          <p:nvPr/>
        </p:nvSpPr>
        <p:spPr>
          <a:xfrm>
            <a:off x="13792200" y="4957763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12.4% ·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일반은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14.3% → 15.6%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B315051-BBD1-D97B-3379-53AADDB06193}"/>
              </a:ext>
            </a:extLst>
          </p:cNvPr>
          <p:cNvCxnSpPr/>
          <p:nvPr/>
        </p:nvCxnSpPr>
        <p:spPr>
          <a:xfrm>
            <a:off x="13792200" y="5857875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D05195DF-E9F0-0AB0-2E68-A65B6BA27612}"/>
              </a:ext>
            </a:extLst>
          </p:cNvPr>
          <p:cNvSpPr txBox="1"/>
          <p:nvPr/>
        </p:nvSpPr>
        <p:spPr>
          <a:xfrm>
            <a:off x="13792200" y="602932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36.3%</a:t>
            </a:r>
            <a:endParaRPr lang="ko-KR" altLang="en-US" sz="30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2F3F164-0D50-FD0A-33FB-074F50A4FE0F}"/>
              </a:ext>
            </a:extLst>
          </p:cNvPr>
          <p:cNvSpPr txBox="1"/>
          <p:nvPr/>
        </p:nvSpPr>
        <p:spPr>
          <a:xfrm>
            <a:off x="13792200" y="652462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저녁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17~19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 급식 결제 비중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28D6D63-1B5D-CAFF-8406-DB1F6EE72690}"/>
              </a:ext>
            </a:extLst>
          </p:cNvPr>
          <p:cNvSpPr txBox="1"/>
          <p:nvPr/>
        </p:nvSpPr>
        <p:spPr>
          <a:xfrm>
            <a:off x="13792200" y="6848475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45.4%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 낮아 저녁 피크가 얇음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14742601-8D0E-D981-DA73-5D2C5BA8E6AA}"/>
              </a:ext>
            </a:extLst>
          </p:cNvPr>
          <p:cNvCxnSpPr/>
          <p:nvPr/>
        </p:nvCxnSpPr>
        <p:spPr>
          <a:xfrm>
            <a:off x="13792200" y="7748588"/>
            <a:ext cx="3886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418396B-01FE-A4C8-1F48-B48B6E4F04E1}"/>
              </a:ext>
            </a:extLst>
          </p:cNvPr>
          <p:cNvSpPr txBox="1"/>
          <p:nvPr/>
        </p:nvSpPr>
        <p:spPr>
          <a:xfrm>
            <a:off x="13792200" y="792003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+10%</a:t>
            </a:r>
            <a:endParaRPr lang="ko-KR" altLang="en-US" sz="30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A35B0A-0BE0-5ECE-5825-71803023A361}"/>
              </a:ext>
            </a:extLst>
          </p:cNvPr>
          <p:cNvSpPr txBox="1"/>
          <p:nvPr/>
        </p:nvSpPr>
        <p:spPr>
          <a:xfrm>
            <a:off x="13792200" y="841533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하루 평균 급식 결제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대비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23A4AFE-AD33-4B14-3549-01FBE2108FA9}"/>
              </a:ext>
            </a:extLst>
          </p:cNvPr>
          <p:cNvSpPr txBox="1"/>
          <p:nvPr/>
        </p:nvSpPr>
        <p:spPr>
          <a:xfrm>
            <a:off x="13792200" y="8739188"/>
            <a:ext cx="388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+43%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 작아 급식은 평일 쪽</a:t>
            </a:r>
          </a:p>
        </p:txBody>
      </p:sp>
    </p:spTree>
    <p:extLst>
      <p:ext uri="{BB962C8B-B14F-4D97-AF65-F5344CB8AC3E}">
        <p14:creationId xmlns:p14="http://schemas.microsoft.com/office/powerpoint/2010/main" val="486342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CE156FA-F181-0466-1A14-50D0E131CFEC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DA1868-E533-A2B2-F3C9-DDBB73AF95CB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D334B-EE74-B9F8-B681-CAD061CE5C2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C7179-1993-A707-E0CF-33F789F05843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AF54DD-0CB5-D6CF-63E4-3F80AF82320D}"/>
              </a:ext>
            </a:extLst>
          </p:cNvPr>
          <p:cNvSpPr/>
          <p:nvPr/>
        </p:nvSpPr>
        <p:spPr>
          <a:xfrm>
            <a:off x="381000" y="382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E613F-7E1B-8BA3-485C-A926DB499253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B3821-A0F1-1BFA-A925-26303AF824B6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AC4CC-6C44-257C-1555-41C78808E340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EE1673-E318-242E-8817-B975F1EE6E8F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95170-C97E-4A8D-6BD2-98954DFFBA98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57D7A-240A-2D70-A410-A94C46A0C2A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F863E0-2D9B-FF14-37E5-5145BF676733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0667A-4944-6D98-1C35-A082A2EE51C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03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시간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달성군 학기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8278D-A655-632A-3F47-E429BDB5E8A1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달성군만 학기 이용이 유독 적음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학교 점심이 아니라 군 단위 차이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CCAB88D-030E-0913-CA78-2823850CA40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A50048-2F64-FFFD-FC02-C22BD63C652A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52368-A9FF-C86A-AF9D-C95B66C21B9C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동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 파일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위치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소재지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남구는 다른 구로 배달한 몫 포함 가능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 비중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지원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경북매일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아주경제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2024-08-01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F6B1F-5447-5696-DE56-A2682B3DD716}"/>
              </a:ext>
            </a:extLst>
          </p:cNvPr>
          <p:cNvSpPr txBox="1"/>
          <p:nvPr/>
        </p:nvSpPr>
        <p:spPr>
          <a:xfrm>
            <a:off x="3314700" y="2247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 월 급식 결제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D943C7-94F4-FDF6-9039-8DC2F4E5397E}"/>
              </a:ext>
            </a:extLst>
          </p:cNvPr>
          <p:cNvSpPr/>
          <p:nvPr/>
        </p:nvSpPr>
        <p:spPr>
          <a:xfrm>
            <a:off x="10877550" y="2324100"/>
            <a:ext cx="133350" cy="1333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6AFF70-F526-3F94-DA00-7719A93CEF31}"/>
              </a:ext>
            </a:extLst>
          </p:cNvPr>
          <p:cNvSpPr txBox="1"/>
          <p:nvPr/>
        </p:nvSpPr>
        <p:spPr>
          <a:xfrm>
            <a:off x="110871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D518AC-7F0F-9C14-B72A-50212F4E346F}"/>
              </a:ext>
            </a:extLst>
          </p:cNvPr>
          <p:cNvSpPr/>
          <p:nvPr/>
        </p:nvSpPr>
        <p:spPr>
          <a:xfrm>
            <a:off x="10077450" y="2324100"/>
            <a:ext cx="133350" cy="1333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3CAC71-B88F-5197-30E7-75A01D39177E}"/>
              </a:ext>
            </a:extLst>
          </p:cNvPr>
          <p:cNvSpPr txBox="1"/>
          <p:nvPr/>
        </p:nvSpPr>
        <p:spPr>
          <a:xfrm>
            <a:off x="10287000" y="2266950"/>
            <a:ext cx="4000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12E954-DB1D-86DA-0965-EC2705213517}"/>
              </a:ext>
            </a:extLst>
          </p:cNvPr>
          <p:cNvSpPr txBox="1"/>
          <p:nvPr/>
        </p:nvSpPr>
        <p:spPr>
          <a:xfrm>
            <a:off x="3314700" y="255270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소재 군구 기준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배수 순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달성군은 학기 이용이 방학의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1/25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C0C47-C6C5-49E2-445C-2BCBC2AE5ADB}"/>
              </a:ext>
            </a:extLst>
          </p:cNvPr>
          <p:cNvSpPr txBox="1"/>
          <p:nvPr/>
        </p:nvSpPr>
        <p:spPr>
          <a:xfrm>
            <a:off x="3314700" y="299085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6017C5F-C7D4-8941-230D-4BEB66FBFA0A}"/>
              </a:ext>
            </a:extLst>
          </p:cNvPr>
          <p:cNvSpPr/>
          <p:nvPr/>
        </p:nvSpPr>
        <p:spPr>
          <a:xfrm>
            <a:off x="4267200" y="2933700"/>
            <a:ext cx="104121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1B42B-D992-EE08-32AA-18A4708972CB}"/>
              </a:ext>
            </a:extLst>
          </p:cNvPr>
          <p:cNvSpPr txBox="1"/>
          <p:nvPr/>
        </p:nvSpPr>
        <p:spPr>
          <a:xfrm>
            <a:off x="5384615" y="291465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66.7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A720AC-4196-4652-AE35-1458461B2DB4}"/>
              </a:ext>
            </a:extLst>
          </p:cNvPr>
          <p:cNvSpPr/>
          <p:nvPr/>
        </p:nvSpPr>
        <p:spPr>
          <a:xfrm>
            <a:off x="4267200" y="3181350"/>
            <a:ext cx="40587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3A5A2C-0ECB-2DD2-D0BA-73DCC717940E}"/>
              </a:ext>
            </a:extLst>
          </p:cNvPr>
          <p:cNvSpPr txBox="1"/>
          <p:nvPr/>
        </p:nvSpPr>
        <p:spPr>
          <a:xfrm>
            <a:off x="4383987" y="3162300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AB81D0-BFFC-6B93-1947-DF110A63D7C9}"/>
              </a:ext>
            </a:extLst>
          </p:cNvPr>
          <p:cNvSpPr txBox="1"/>
          <p:nvPr/>
        </p:nvSpPr>
        <p:spPr>
          <a:xfrm>
            <a:off x="10363200" y="29718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25.3</a:t>
            </a:r>
            <a:r>
              <a:rPr lang="ko-KR" altLang="en-US" sz="165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805D406-266F-92B1-9454-3E7CB8081375}"/>
              </a:ext>
            </a:extLst>
          </p:cNvPr>
          <p:cNvCxnSpPr/>
          <p:nvPr/>
        </p:nvCxnSpPr>
        <p:spPr>
          <a:xfrm>
            <a:off x="3314700" y="3664744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F75B36-5AB4-1DD6-7E2D-65A6D4DCF4C9}"/>
              </a:ext>
            </a:extLst>
          </p:cNvPr>
          <p:cNvSpPr txBox="1"/>
          <p:nvPr/>
        </p:nvSpPr>
        <p:spPr>
          <a:xfrm>
            <a:off x="3314700" y="383619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1751CD-7EFF-9DF1-5CF4-B08A9EBCFB79}"/>
              </a:ext>
            </a:extLst>
          </p:cNvPr>
          <p:cNvSpPr/>
          <p:nvPr/>
        </p:nvSpPr>
        <p:spPr>
          <a:xfrm>
            <a:off x="4267200" y="3779044"/>
            <a:ext cx="1634411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3B2354-72E5-610D-AC5F-4C1064DD8163}"/>
              </a:ext>
            </a:extLst>
          </p:cNvPr>
          <p:cNvSpPr txBox="1"/>
          <p:nvPr/>
        </p:nvSpPr>
        <p:spPr>
          <a:xfrm>
            <a:off x="5977811" y="375999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104.7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0F1234-384B-6BDB-F1A6-C2208E3BEEBA}"/>
              </a:ext>
            </a:extLst>
          </p:cNvPr>
          <p:cNvSpPr/>
          <p:nvPr/>
        </p:nvSpPr>
        <p:spPr>
          <a:xfrm>
            <a:off x="4267200" y="4026694"/>
            <a:ext cx="198252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829E26-BC52-6C81-6517-AD7CD7FC1856}"/>
              </a:ext>
            </a:extLst>
          </p:cNvPr>
          <p:cNvSpPr txBox="1"/>
          <p:nvPr/>
        </p:nvSpPr>
        <p:spPr>
          <a:xfrm>
            <a:off x="4541652" y="4007644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783227-ADC7-714A-062C-08F66E7EC891}"/>
              </a:ext>
            </a:extLst>
          </p:cNvPr>
          <p:cNvSpPr txBox="1"/>
          <p:nvPr/>
        </p:nvSpPr>
        <p:spPr>
          <a:xfrm>
            <a:off x="10363200" y="3817144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8.2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EF702AB-9BA3-B227-73A9-3A9028D82E38}"/>
              </a:ext>
            </a:extLst>
          </p:cNvPr>
          <p:cNvCxnSpPr/>
          <p:nvPr/>
        </p:nvCxnSpPr>
        <p:spPr>
          <a:xfrm>
            <a:off x="3314700" y="4510088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AF6D220-FDAF-173C-10B0-E7DDC5A0C935}"/>
              </a:ext>
            </a:extLst>
          </p:cNvPr>
          <p:cNvSpPr txBox="1"/>
          <p:nvPr/>
        </p:nvSpPr>
        <p:spPr>
          <a:xfrm>
            <a:off x="3314700" y="468153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달서구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C59430-F7DB-F5D4-75B2-4B0F2D5F58A0}"/>
              </a:ext>
            </a:extLst>
          </p:cNvPr>
          <p:cNvSpPr/>
          <p:nvPr/>
        </p:nvSpPr>
        <p:spPr>
          <a:xfrm>
            <a:off x="4267200" y="4624388"/>
            <a:ext cx="201530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B13500-F1CC-3299-699D-886397B399CF}"/>
              </a:ext>
            </a:extLst>
          </p:cNvPr>
          <p:cNvSpPr txBox="1"/>
          <p:nvPr/>
        </p:nvSpPr>
        <p:spPr>
          <a:xfrm>
            <a:off x="6358705" y="460533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129.1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CFCE9A8-C29A-7F90-1213-94DDDFBD06A4}"/>
              </a:ext>
            </a:extLst>
          </p:cNvPr>
          <p:cNvSpPr/>
          <p:nvPr/>
        </p:nvSpPr>
        <p:spPr>
          <a:xfrm>
            <a:off x="4267200" y="4872038"/>
            <a:ext cx="371528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7EC5F4-636A-AB1B-D491-A4486ED48B96}"/>
              </a:ext>
            </a:extLst>
          </p:cNvPr>
          <p:cNvSpPr txBox="1"/>
          <p:nvPr/>
        </p:nvSpPr>
        <p:spPr>
          <a:xfrm>
            <a:off x="4714928" y="4852988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23.8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C9E96C-38EC-FE18-BA41-3EA2AF632478}"/>
              </a:ext>
            </a:extLst>
          </p:cNvPr>
          <p:cNvSpPr txBox="1"/>
          <p:nvPr/>
        </p:nvSpPr>
        <p:spPr>
          <a:xfrm>
            <a:off x="10363200" y="4662488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5.4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9BFA404-7D8B-EC3C-9105-9455A70A2BD9}"/>
              </a:ext>
            </a:extLst>
          </p:cNvPr>
          <p:cNvCxnSpPr/>
          <p:nvPr/>
        </p:nvCxnSpPr>
        <p:spPr>
          <a:xfrm>
            <a:off x="3314700" y="5355431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883269B-F2ED-E2D5-5E0D-960BB6B614CC}"/>
              </a:ext>
            </a:extLst>
          </p:cNvPr>
          <p:cNvSpPr txBox="1"/>
          <p:nvPr/>
        </p:nvSpPr>
        <p:spPr>
          <a:xfrm>
            <a:off x="3314700" y="552688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1805F0E-646E-81D9-A967-CAF21A73C3EB}"/>
              </a:ext>
            </a:extLst>
          </p:cNvPr>
          <p:cNvSpPr/>
          <p:nvPr/>
        </p:nvSpPr>
        <p:spPr>
          <a:xfrm>
            <a:off x="4267200" y="5469731"/>
            <a:ext cx="2133944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30B568-DC38-E0D7-CA31-1B7535659A32}"/>
              </a:ext>
            </a:extLst>
          </p:cNvPr>
          <p:cNvSpPr txBox="1"/>
          <p:nvPr/>
        </p:nvSpPr>
        <p:spPr>
          <a:xfrm>
            <a:off x="6477344" y="545068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136.7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F2D078-03C1-BD46-5A66-8C79F881A57A}"/>
              </a:ext>
            </a:extLst>
          </p:cNvPr>
          <p:cNvSpPr/>
          <p:nvPr/>
        </p:nvSpPr>
        <p:spPr>
          <a:xfrm>
            <a:off x="4267200" y="5717381"/>
            <a:ext cx="505778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340805-CDCA-FCA6-8B2A-14A7F5C33FAA}"/>
              </a:ext>
            </a:extLst>
          </p:cNvPr>
          <p:cNvSpPr txBox="1"/>
          <p:nvPr/>
        </p:nvSpPr>
        <p:spPr>
          <a:xfrm>
            <a:off x="4849178" y="5698331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32.4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E8A21B-96E6-9A8F-ED15-0CFA5C2D9F2B}"/>
              </a:ext>
            </a:extLst>
          </p:cNvPr>
          <p:cNvSpPr txBox="1"/>
          <p:nvPr/>
        </p:nvSpPr>
        <p:spPr>
          <a:xfrm>
            <a:off x="10363200" y="5507831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4.2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243CC39-9D21-38B7-3436-664F56AE9A19}"/>
              </a:ext>
            </a:extLst>
          </p:cNvPr>
          <p:cNvCxnSpPr/>
          <p:nvPr/>
        </p:nvCxnSpPr>
        <p:spPr>
          <a:xfrm>
            <a:off x="3314700" y="6200775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CBB5FA6-61BD-D5B4-300A-3407D270945B}"/>
              </a:ext>
            </a:extLst>
          </p:cNvPr>
          <p:cNvSpPr txBox="1"/>
          <p:nvPr/>
        </p:nvSpPr>
        <p:spPr>
          <a:xfrm>
            <a:off x="3314700" y="637222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서구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8ACB893-6522-83A9-002A-B04B1C63CEBA}"/>
              </a:ext>
            </a:extLst>
          </p:cNvPr>
          <p:cNvSpPr/>
          <p:nvPr/>
        </p:nvSpPr>
        <p:spPr>
          <a:xfrm>
            <a:off x="4267200" y="6315075"/>
            <a:ext cx="2561669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262A64-3522-BF9D-CEC9-4867AEBFE0ED}"/>
              </a:ext>
            </a:extLst>
          </p:cNvPr>
          <p:cNvSpPr txBox="1"/>
          <p:nvPr/>
        </p:nvSpPr>
        <p:spPr>
          <a:xfrm>
            <a:off x="6905069" y="629602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164.1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F3A3801-4103-2BF8-57B5-583C922665A0}"/>
              </a:ext>
            </a:extLst>
          </p:cNvPr>
          <p:cNvSpPr/>
          <p:nvPr/>
        </p:nvSpPr>
        <p:spPr>
          <a:xfrm>
            <a:off x="4267200" y="6562725"/>
            <a:ext cx="615050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677B65-36DA-181C-1591-F2DA707D6405}"/>
              </a:ext>
            </a:extLst>
          </p:cNvPr>
          <p:cNvSpPr txBox="1"/>
          <p:nvPr/>
        </p:nvSpPr>
        <p:spPr>
          <a:xfrm>
            <a:off x="4958450" y="6543675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C0C909-55E5-9425-2D89-9AC2B9330E90}"/>
              </a:ext>
            </a:extLst>
          </p:cNvPr>
          <p:cNvSpPr txBox="1"/>
          <p:nvPr/>
        </p:nvSpPr>
        <p:spPr>
          <a:xfrm>
            <a:off x="10363200" y="6353175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4.2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12529D7-03E6-5112-EEF6-2AE64FBFDE2F}"/>
              </a:ext>
            </a:extLst>
          </p:cNvPr>
          <p:cNvCxnSpPr/>
          <p:nvPr/>
        </p:nvCxnSpPr>
        <p:spPr>
          <a:xfrm>
            <a:off x="3314700" y="7046119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D7E9E61-8621-60C7-111D-BE99F7277CC4}"/>
              </a:ext>
            </a:extLst>
          </p:cNvPr>
          <p:cNvSpPr txBox="1"/>
          <p:nvPr/>
        </p:nvSpPr>
        <p:spPr>
          <a:xfrm>
            <a:off x="3314700" y="721756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남구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37610B7-CE86-8C72-20DA-9D5A3E0415EA}"/>
              </a:ext>
            </a:extLst>
          </p:cNvPr>
          <p:cNvSpPr/>
          <p:nvPr/>
        </p:nvSpPr>
        <p:spPr>
          <a:xfrm>
            <a:off x="4267200" y="7160419"/>
            <a:ext cx="5579163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BA2E00-BEF9-F86A-39DB-D1458155A6BA}"/>
              </a:ext>
            </a:extLst>
          </p:cNvPr>
          <p:cNvSpPr txBox="1"/>
          <p:nvPr/>
        </p:nvSpPr>
        <p:spPr>
          <a:xfrm>
            <a:off x="9922563" y="714136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357.4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3ACF7CD-027E-B463-40A4-DCC26DC156C7}"/>
              </a:ext>
            </a:extLst>
          </p:cNvPr>
          <p:cNvSpPr/>
          <p:nvPr/>
        </p:nvSpPr>
        <p:spPr>
          <a:xfrm>
            <a:off x="4267200" y="7408069"/>
            <a:ext cx="1389327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807BFA-1D8A-102D-6E6D-99E6CE2A444F}"/>
              </a:ext>
            </a:extLst>
          </p:cNvPr>
          <p:cNvSpPr txBox="1"/>
          <p:nvPr/>
        </p:nvSpPr>
        <p:spPr>
          <a:xfrm>
            <a:off x="5732727" y="7389019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89.0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660944-8282-0065-900D-CA9D5668F034}"/>
              </a:ext>
            </a:extLst>
          </p:cNvPr>
          <p:cNvSpPr txBox="1"/>
          <p:nvPr/>
        </p:nvSpPr>
        <p:spPr>
          <a:xfrm>
            <a:off x="10363200" y="7198519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4.0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08676BF0-5CB8-5AF2-1C2D-A0787F7724E8}"/>
              </a:ext>
            </a:extLst>
          </p:cNvPr>
          <p:cNvCxnSpPr/>
          <p:nvPr/>
        </p:nvCxnSpPr>
        <p:spPr>
          <a:xfrm>
            <a:off x="3314700" y="7891463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0E57F0D-CD86-0BCA-1A54-B620033C2408}"/>
              </a:ext>
            </a:extLst>
          </p:cNvPr>
          <p:cNvSpPr txBox="1"/>
          <p:nvPr/>
        </p:nvSpPr>
        <p:spPr>
          <a:xfrm>
            <a:off x="3314700" y="806291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동구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5E58CF7-E857-6E5A-260E-268EFF97C936}"/>
              </a:ext>
            </a:extLst>
          </p:cNvPr>
          <p:cNvSpPr/>
          <p:nvPr/>
        </p:nvSpPr>
        <p:spPr>
          <a:xfrm>
            <a:off x="4267200" y="8005763"/>
            <a:ext cx="1835785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A3CFB5-F559-39FB-6732-07DFDBEE9B54}"/>
              </a:ext>
            </a:extLst>
          </p:cNvPr>
          <p:cNvSpPr txBox="1"/>
          <p:nvPr/>
        </p:nvSpPr>
        <p:spPr>
          <a:xfrm>
            <a:off x="6179185" y="798671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117.6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BDA5532-FA82-94B5-4DB0-50380D16C673}"/>
              </a:ext>
            </a:extLst>
          </p:cNvPr>
          <p:cNvSpPr/>
          <p:nvPr/>
        </p:nvSpPr>
        <p:spPr>
          <a:xfrm>
            <a:off x="4267200" y="8253413"/>
            <a:ext cx="477679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704647-D7C3-66EB-3900-F1BA92EEF411}"/>
              </a:ext>
            </a:extLst>
          </p:cNvPr>
          <p:cNvSpPr txBox="1"/>
          <p:nvPr/>
        </p:nvSpPr>
        <p:spPr>
          <a:xfrm>
            <a:off x="4821079" y="8234363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30.6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7E16BE-C850-FBE1-30B2-0B021BF1E6FF}"/>
              </a:ext>
            </a:extLst>
          </p:cNvPr>
          <p:cNvSpPr txBox="1"/>
          <p:nvPr/>
        </p:nvSpPr>
        <p:spPr>
          <a:xfrm>
            <a:off x="10363200" y="8043863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3.8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FDA0464-B6FE-3812-F1F6-C219F077CB3F}"/>
              </a:ext>
            </a:extLst>
          </p:cNvPr>
          <p:cNvCxnSpPr/>
          <p:nvPr/>
        </p:nvCxnSpPr>
        <p:spPr>
          <a:xfrm>
            <a:off x="3314700" y="8736806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506E1AF-85FA-5F6F-BA55-CB51A6E32BBC}"/>
              </a:ext>
            </a:extLst>
          </p:cNvPr>
          <p:cNvSpPr txBox="1"/>
          <p:nvPr/>
        </p:nvSpPr>
        <p:spPr>
          <a:xfrm>
            <a:off x="3314700" y="890825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수성구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57B52A1-4E56-BE36-6F23-C66F53DC556A}"/>
              </a:ext>
            </a:extLst>
          </p:cNvPr>
          <p:cNvSpPr/>
          <p:nvPr/>
        </p:nvSpPr>
        <p:spPr>
          <a:xfrm>
            <a:off x="4267200" y="8851106"/>
            <a:ext cx="1500161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A44851-2285-EA50-DC02-18567204956B}"/>
              </a:ext>
            </a:extLst>
          </p:cNvPr>
          <p:cNvSpPr txBox="1"/>
          <p:nvPr/>
        </p:nvSpPr>
        <p:spPr>
          <a:xfrm>
            <a:off x="5843561" y="883205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96.1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8E10880-D925-6D7A-03D0-22A05A1E512C}"/>
              </a:ext>
            </a:extLst>
          </p:cNvPr>
          <p:cNvSpPr/>
          <p:nvPr/>
        </p:nvSpPr>
        <p:spPr>
          <a:xfrm>
            <a:off x="4267200" y="9098756"/>
            <a:ext cx="593196" cy="2095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C68D3C-769A-42AC-2894-50DAFF60B860}"/>
              </a:ext>
            </a:extLst>
          </p:cNvPr>
          <p:cNvSpPr txBox="1"/>
          <p:nvPr/>
        </p:nvSpPr>
        <p:spPr>
          <a:xfrm>
            <a:off x="4936596" y="9079706"/>
            <a:ext cx="857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38.0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D6200E-B9DB-539E-5EB8-DABC70E28267}"/>
              </a:ext>
            </a:extLst>
          </p:cNvPr>
          <p:cNvSpPr txBox="1"/>
          <p:nvPr/>
        </p:nvSpPr>
        <p:spPr>
          <a:xfrm>
            <a:off x="10363200" y="8889206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2.5</a:t>
            </a:r>
            <a:r>
              <a:rPr lang="ko-KR" altLang="en-US" sz="16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배</a:t>
            </a: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D7A844D-1536-6748-A102-0DBC73539814}"/>
              </a:ext>
            </a:extLst>
          </p:cNvPr>
          <p:cNvCxnSpPr/>
          <p:nvPr/>
        </p:nvCxnSpPr>
        <p:spPr>
          <a:xfrm>
            <a:off x="11791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51E6061-1788-A94D-66E5-0B365007C1D0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남부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읍면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0A4200-72DB-2EE8-80D7-7D34F4A41271}"/>
              </a:ext>
            </a:extLst>
          </p:cNvPr>
          <p:cNvSpPr txBox="1"/>
          <p:nvPr/>
        </p:nvSpPr>
        <p:spPr>
          <a:xfrm>
            <a:off x="12077700" y="2571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논공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유가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구지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옥포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현풍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D652D90-0D26-E3D3-826E-C78A6B90103F}"/>
              </a:ext>
            </a:extLst>
          </p:cNvPr>
          <p:cNvSpPr txBox="1"/>
          <p:nvPr/>
        </p:nvSpPr>
        <p:spPr>
          <a:xfrm>
            <a:off x="12077700" y="29718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1/66~1/85</a:t>
            </a:r>
            <a:endParaRPr lang="ko-KR" altLang="en-US" sz="375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4FEE5F-E27D-DA81-BDDB-E74F557375EC}"/>
              </a:ext>
            </a:extLst>
          </p:cNvPr>
          <p:cNvSpPr txBox="1"/>
          <p:nvPr/>
        </p:nvSpPr>
        <p:spPr>
          <a:xfrm>
            <a:off x="12077700" y="36766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대비 배수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아동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 월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0.3~1.8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6344963-5EEF-EBCB-0FDB-A1267B40ED3D}"/>
              </a:ext>
            </a:extLst>
          </p:cNvPr>
          <p:cNvCxnSpPr/>
          <p:nvPr/>
        </p:nvCxnSpPr>
        <p:spPr>
          <a:xfrm>
            <a:off x="12077700" y="42100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BA6DAA2-DC81-446B-D2E3-A0D91EA82412}"/>
              </a:ext>
            </a:extLst>
          </p:cNvPr>
          <p:cNvSpPr txBox="1"/>
          <p:nvPr/>
        </p:nvSpPr>
        <p:spPr>
          <a:xfrm>
            <a:off x="12077700" y="4419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학교 점심 때문만은 아님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8B136A-3D82-EE67-5668-465C49E498BE}"/>
              </a:ext>
            </a:extLst>
          </p:cNvPr>
          <p:cNvSpPr txBox="1"/>
          <p:nvPr/>
        </p:nvSpPr>
        <p:spPr>
          <a:xfrm>
            <a:off x="12077700" y="4800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학기에도 평일 저녁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점심엔 카드를 씀</a:t>
            </a:r>
            <a:b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주말 점심 급식 비중이 일반의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1.2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학기 아동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구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12.7~89.0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2.6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북부 읍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3.9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F3D4DFD9-5D87-F72D-1042-F18CAC132DC3}"/>
              </a:ext>
            </a:extLst>
          </p:cNvPr>
          <p:cNvCxnSpPr/>
          <p:nvPr/>
        </p:nvCxnSpPr>
        <p:spPr>
          <a:xfrm>
            <a:off x="12077700" y="63436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1FEECC0-29A5-D851-44DB-F47F45DD54DE}"/>
              </a:ext>
            </a:extLst>
          </p:cNvPr>
          <p:cNvSpPr txBox="1"/>
          <p:nvPr/>
        </p:nvSpPr>
        <p:spPr>
          <a:xfrm>
            <a:off x="12077700" y="65532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해석 </a:t>
            </a: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추정</a:t>
            </a: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 b="1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27F44E-DA26-0458-5D72-D014532767B6}"/>
              </a:ext>
            </a:extLst>
          </p:cNvPr>
          <p:cNvSpPr txBox="1"/>
          <p:nvPr/>
        </p:nvSpPr>
        <p:spPr>
          <a:xfrm>
            <a:off x="12077700" y="68770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군 전체가 학기에 거의 안 씀</a:t>
            </a:r>
            <a:b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동네가 아니라 군의 지원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 방식 차이</a:t>
            </a:r>
            <a:b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달성군은 여름방학 지원 대상을 따로 정해 발표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(2024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보도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B56422FC-B5F8-A471-2491-4A5B47863D11}"/>
              </a:ext>
            </a:extLst>
          </p:cNvPr>
          <p:cNvCxnSpPr/>
          <p:nvPr/>
        </p:nvCxnSpPr>
        <p:spPr>
          <a:xfrm>
            <a:off x="12077700" y="796290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8C4263E-D761-1BAC-0234-BBCDF068851E}"/>
              </a:ext>
            </a:extLst>
          </p:cNvPr>
          <p:cNvSpPr txBox="1"/>
          <p:nvPr/>
        </p:nvSpPr>
        <p:spPr>
          <a:xfrm>
            <a:off x="12077700" y="81724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 대신 확인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95E45C-B502-6FB2-6D2E-D98C27E659DD}"/>
              </a:ext>
            </a:extLst>
          </p:cNvPr>
          <p:cNvSpPr txBox="1"/>
          <p:nvPr/>
        </p:nvSpPr>
        <p:spPr>
          <a:xfrm>
            <a:off x="12077700" y="84963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달성군청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지원 방식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신청 인원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4F5E1E7-0D5A-A6D7-E004-6AFDD4104887}"/>
              </a:ext>
            </a:extLst>
          </p:cNvPr>
          <p:cNvSpPr txBox="1"/>
          <p:nvPr/>
        </p:nvSpPr>
        <p:spPr>
          <a:xfrm>
            <a:off x="12077700" y="88773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경로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지역아동센터 등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먹으면 사각지대 아님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지원이 비어 있으면 군 정책 과제로 보고</a:t>
            </a:r>
          </a:p>
        </p:txBody>
      </p:sp>
    </p:spTree>
    <p:extLst>
      <p:ext uri="{BB962C8B-B14F-4D97-AF65-F5344CB8AC3E}">
        <p14:creationId xmlns:p14="http://schemas.microsoft.com/office/powerpoint/2010/main" val="195146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B0CD145-C0A9-3D25-D601-CB69794F0129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2AB107-BD03-EE32-9C57-44844F3263C8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9CD55-86B1-E3F9-A5C3-2EBC6533046D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7A91F-C887-0617-F1F8-C1666A1D867A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E1DAD-9E54-F273-05C5-278A97D3BEEA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DDFC82-DE63-963C-1D45-2F9C98C1801E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CF39E-1978-5D6A-84C5-036B7F78D4C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50017-4125-A890-C752-29F5B271D652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B0622-F3F7-031B-52EC-64460D9C55CC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9945E-4A80-7021-2BE2-8F32B797240A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D4B9E-4A7F-1F5C-46D8-5C738FBDED9B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3838C-CEC5-C929-D031-5CD8175C5A2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AAF26B-922C-AF4C-82DA-130AE164E06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지도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333CB-4FBF-DD45-7AD3-362A2EB6EACB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방학에 덜 쓰는 동은 권역이 아니라 동 단위로 흩어져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동 하나씩 판정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703A386-1460-A619-DF73-43202B4886D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BE234CC-3255-AADF-E244-AE5CD3790CDE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1F9F24-7655-A286-A0B4-B562E3050EE4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 뭉침 지수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(Moran’s I):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300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이상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9,999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순열 검정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지도는 우선 점검 위치만 표시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지표 값 비공개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공표 규칙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E5A83EB-B172-1367-211D-78E684EC6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2247900"/>
            <a:ext cx="5524500" cy="6826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A3E07F-2079-D48E-7258-92F3583BEE78}"/>
              </a:ext>
            </a:extLst>
          </p:cNvPr>
          <p:cNvSpPr txBox="1"/>
          <p:nvPr/>
        </p:nvSpPr>
        <p:spPr>
          <a:xfrm>
            <a:off x="7223246" y="3529645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18013F-0111-A8D6-D254-E17B8FE9B01E}"/>
              </a:ext>
            </a:extLst>
          </p:cNvPr>
          <p:cNvSpPr txBox="1"/>
          <p:nvPr/>
        </p:nvSpPr>
        <p:spPr>
          <a:xfrm>
            <a:off x="5149786" y="476579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4892C-258F-AA8F-643B-BDB32217CF76}"/>
              </a:ext>
            </a:extLst>
          </p:cNvPr>
          <p:cNvSpPr txBox="1"/>
          <p:nvPr/>
        </p:nvSpPr>
        <p:spPr>
          <a:xfrm>
            <a:off x="5927198" y="524703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D85700-9186-C8B9-1E92-542F9CAE18DB}"/>
              </a:ext>
            </a:extLst>
          </p:cNvPr>
          <p:cNvSpPr txBox="1"/>
          <p:nvPr/>
        </p:nvSpPr>
        <p:spPr>
          <a:xfrm>
            <a:off x="5584127" y="3597911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A765EC-95DE-AAE7-8668-05FC3C22135E}"/>
              </a:ext>
            </a:extLst>
          </p:cNvPr>
          <p:cNvSpPr txBox="1"/>
          <p:nvPr/>
        </p:nvSpPr>
        <p:spPr>
          <a:xfrm>
            <a:off x="6977958" y="5151651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수성구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CE4FF3-B62C-4E23-3A3D-4D697BDCBE42}"/>
              </a:ext>
            </a:extLst>
          </p:cNvPr>
          <p:cNvSpPr txBox="1"/>
          <p:nvPr/>
        </p:nvSpPr>
        <p:spPr>
          <a:xfrm>
            <a:off x="5225034" y="5400140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달서구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D1E416-14E8-7A1C-4985-0950908D8AF2}"/>
              </a:ext>
            </a:extLst>
          </p:cNvPr>
          <p:cNvSpPr txBox="1"/>
          <p:nvPr/>
        </p:nvSpPr>
        <p:spPr>
          <a:xfrm>
            <a:off x="4153833" y="4271699"/>
            <a:ext cx="95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75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FE8BB03-5411-69CD-FE65-1FBC457D24FB}"/>
              </a:ext>
            </a:extLst>
          </p:cNvPr>
          <p:cNvSpPr/>
          <p:nvPr/>
        </p:nvSpPr>
        <p:spPr>
          <a:xfrm>
            <a:off x="3934606" y="7992892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168A3E9-3B7E-4D75-BB6A-5EE057121E4E}"/>
              </a:ext>
            </a:extLst>
          </p:cNvPr>
          <p:cNvSpPr/>
          <p:nvPr/>
        </p:nvSpPr>
        <p:spPr>
          <a:xfrm>
            <a:off x="4085425" y="6048669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13D2AF7-1792-A14F-353A-37E4CF76C778}"/>
              </a:ext>
            </a:extLst>
          </p:cNvPr>
          <p:cNvSpPr/>
          <p:nvPr/>
        </p:nvSpPr>
        <p:spPr>
          <a:xfrm>
            <a:off x="4579315" y="4780965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84987AD-BB74-D3A1-8765-CB39329A0B65}"/>
              </a:ext>
            </a:extLst>
          </p:cNvPr>
          <p:cNvSpPr/>
          <p:nvPr/>
        </p:nvSpPr>
        <p:spPr>
          <a:xfrm>
            <a:off x="5134527" y="4550908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F9F1DA-BACC-4461-9782-992E0A1DA42E}"/>
              </a:ext>
            </a:extLst>
          </p:cNvPr>
          <p:cNvSpPr/>
          <p:nvPr/>
        </p:nvSpPr>
        <p:spPr>
          <a:xfrm>
            <a:off x="4743393" y="494821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1B513F4-2D1C-6254-584C-0D8699242204}"/>
              </a:ext>
            </a:extLst>
          </p:cNvPr>
          <p:cNvSpPr/>
          <p:nvPr/>
        </p:nvSpPr>
        <p:spPr>
          <a:xfrm>
            <a:off x="4652791" y="5874590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85A7416-D8FD-BBA1-6AA3-7D2D4CE62646}"/>
              </a:ext>
            </a:extLst>
          </p:cNvPr>
          <p:cNvSpPr/>
          <p:nvPr/>
        </p:nvSpPr>
        <p:spPr>
          <a:xfrm>
            <a:off x="5274850" y="6031603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D77EAFF-324A-3345-EFC0-B8F651451020}"/>
              </a:ext>
            </a:extLst>
          </p:cNvPr>
          <p:cNvSpPr/>
          <p:nvPr/>
        </p:nvSpPr>
        <p:spPr>
          <a:xfrm>
            <a:off x="5623446" y="6054130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78900FB-47A6-CE46-C405-65F9D8879497}"/>
              </a:ext>
            </a:extLst>
          </p:cNvPr>
          <p:cNvSpPr/>
          <p:nvPr/>
        </p:nvSpPr>
        <p:spPr>
          <a:xfrm>
            <a:off x="7042138" y="3239513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21F90CF-67E6-4DA8-6067-533B8130EAAD}"/>
              </a:ext>
            </a:extLst>
          </p:cNvPr>
          <p:cNvSpPr/>
          <p:nvPr/>
        </p:nvSpPr>
        <p:spPr>
          <a:xfrm>
            <a:off x="6786905" y="3803392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2478655-7B90-D143-2DCD-5F83092FC0A6}"/>
              </a:ext>
            </a:extLst>
          </p:cNvPr>
          <p:cNvSpPr/>
          <p:nvPr/>
        </p:nvSpPr>
        <p:spPr>
          <a:xfrm>
            <a:off x="5823433" y="3197871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05E9B1F-A0D7-3FA6-2177-3EEC7E6367E4}"/>
              </a:ext>
            </a:extLst>
          </p:cNvPr>
          <p:cNvSpPr/>
          <p:nvPr/>
        </p:nvSpPr>
        <p:spPr>
          <a:xfrm>
            <a:off x="6474771" y="4432124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21A7C29A-D241-D188-08B3-876A07A3E23D}"/>
              </a:ext>
            </a:extLst>
          </p:cNvPr>
          <p:cNvSpPr/>
          <p:nvPr/>
        </p:nvSpPr>
        <p:spPr>
          <a:xfrm>
            <a:off x="6321742" y="4208894"/>
            <a:ext cx="228601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20C2318-D26B-1308-FD32-086BBE10DB1D}"/>
              </a:ext>
            </a:extLst>
          </p:cNvPr>
          <p:cNvSpPr/>
          <p:nvPr/>
        </p:nvSpPr>
        <p:spPr>
          <a:xfrm>
            <a:off x="6058224" y="3240879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79932DB-C2FE-1A4A-9923-01EE649B8388}"/>
              </a:ext>
            </a:extLst>
          </p:cNvPr>
          <p:cNvSpPr/>
          <p:nvPr/>
        </p:nvSpPr>
        <p:spPr>
          <a:xfrm>
            <a:off x="6222854" y="440959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E7790F6-F34D-4A29-7401-8B0D64344414}"/>
              </a:ext>
            </a:extLst>
          </p:cNvPr>
          <p:cNvSpPr/>
          <p:nvPr/>
        </p:nvSpPr>
        <p:spPr>
          <a:xfrm>
            <a:off x="5718467" y="4558417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64B9184-560D-547F-EEF3-E8891DA0EA4C}"/>
              </a:ext>
            </a:extLst>
          </p:cNvPr>
          <p:cNvSpPr/>
          <p:nvPr/>
        </p:nvSpPr>
        <p:spPr>
          <a:xfrm>
            <a:off x="7819434" y="5184418"/>
            <a:ext cx="228600" cy="228600"/>
          </a:xfrm>
          <a:prstGeom prst="ellipse">
            <a:avLst/>
          </a:prstGeom>
          <a:solidFill>
            <a:srgbClr val="2B23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975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endParaRPr lang="ko-KR" altLang="en-US" sz="975" b="1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A5ED72E-E8F8-2FE4-A429-76E26A52F37D}"/>
              </a:ext>
            </a:extLst>
          </p:cNvPr>
          <p:cNvCxnSpPr/>
          <p:nvPr/>
        </p:nvCxnSpPr>
        <p:spPr>
          <a:xfrm>
            <a:off x="9220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8096BD-DCDF-46F3-985A-4AA0FC2EE8F2}"/>
              </a:ext>
            </a:extLst>
          </p:cNvPr>
          <p:cNvSpPr txBox="1"/>
          <p:nvPr/>
        </p:nvSpPr>
        <p:spPr>
          <a:xfrm>
            <a:off x="9601200" y="22479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학기 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9CC316-0A7E-E5FF-0186-BD1FC7BF340D}"/>
              </a:ext>
            </a:extLst>
          </p:cNvPr>
          <p:cNvSpPr txBox="1"/>
          <p:nvPr/>
        </p:nvSpPr>
        <p:spPr>
          <a:xfrm>
            <a:off x="9601200" y="25717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I 0.53</a:t>
            </a:r>
            <a:endParaRPr lang="ko-KR" altLang="en-US" sz="54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C1693D-7A30-85C1-1C16-CA23B3D2DA7C}"/>
              </a:ext>
            </a:extLst>
          </p:cNvPr>
          <p:cNvSpPr txBox="1"/>
          <p:nvPr/>
        </p:nvSpPr>
        <p:spPr>
          <a:xfrm>
            <a:off x="9601200" y="34861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 &lt; 0.001 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강하게 뭉침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992045-363C-71DC-C051-045F1F5FD809}"/>
              </a:ext>
            </a:extLst>
          </p:cNvPr>
          <p:cNvSpPr txBox="1"/>
          <p:nvPr/>
        </p:nvSpPr>
        <p:spPr>
          <a:xfrm>
            <a:off x="9601200" y="38862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 외곽에 낮은 이용이 권역으로 모임</a:t>
            </a:r>
          </a:p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지역 단위 원인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지원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 방식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12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05D2DAC-49D9-99B9-5266-08A85FA067EB}"/>
              </a:ext>
            </a:extLst>
          </p:cNvPr>
          <p:cNvCxnSpPr/>
          <p:nvPr/>
        </p:nvCxnSpPr>
        <p:spPr>
          <a:xfrm>
            <a:off x="13639800" y="2247900"/>
            <a:ext cx="0" cy="3143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8A83E74-0F76-05F3-A76C-A7B81D15ED3B}"/>
              </a:ext>
            </a:extLst>
          </p:cNvPr>
          <p:cNvSpPr txBox="1"/>
          <p:nvPr/>
        </p:nvSpPr>
        <p:spPr>
          <a:xfrm>
            <a:off x="13925550" y="22479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이용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3C3378-1AD3-DB3C-30CA-386A4DFAE5E8}"/>
              </a:ext>
            </a:extLst>
          </p:cNvPr>
          <p:cNvSpPr txBox="1"/>
          <p:nvPr/>
        </p:nvSpPr>
        <p:spPr>
          <a:xfrm>
            <a:off x="13925550" y="25717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I −0.02</a:t>
            </a:r>
            <a:endParaRPr lang="ko-KR" altLang="en-US" sz="54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0920E1-E56A-B566-430A-00C00BEDD9F3}"/>
              </a:ext>
            </a:extLst>
          </p:cNvPr>
          <p:cNvSpPr txBox="1"/>
          <p:nvPr/>
        </p:nvSpPr>
        <p:spPr>
          <a:xfrm>
            <a:off x="13925550" y="348615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 0.49 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뭉치지 않음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363030-7C80-EFB6-E827-C5048928EF62}"/>
              </a:ext>
            </a:extLst>
          </p:cNvPr>
          <p:cNvSpPr txBox="1"/>
          <p:nvPr/>
        </p:nvSpPr>
        <p:spPr>
          <a:xfrm>
            <a:off x="13925550" y="3886200"/>
            <a:ext cx="37528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권역 단위 해결방안 불가</a:t>
            </a:r>
          </a:p>
          <a:p>
            <a:pPr>
              <a:lnSpc>
                <a:spcPct val="135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동마다 이유를 따로 판정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DE0306E-CF5E-A989-A7AE-31143619C271}"/>
              </a:ext>
            </a:extLst>
          </p:cNvPr>
          <p:cNvCxnSpPr/>
          <p:nvPr/>
        </p:nvCxnSpPr>
        <p:spPr>
          <a:xfrm>
            <a:off x="9601200" y="5676900"/>
            <a:ext cx="807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8574909-AD61-0CEB-4660-18C570C1A96A}"/>
              </a:ext>
            </a:extLst>
          </p:cNvPr>
          <p:cNvSpPr txBox="1"/>
          <p:nvPr/>
        </p:nvSpPr>
        <p:spPr>
          <a:xfrm>
            <a:off x="9601200" y="59245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기준 모두 낮은 동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82B798-997C-EEE5-E4A9-BCAD8A98D175}"/>
              </a:ext>
            </a:extLst>
          </p:cNvPr>
          <p:cNvSpPr txBox="1"/>
          <p:nvPr/>
        </p:nvSpPr>
        <p:spPr>
          <a:xfrm>
            <a:off x="9601200" y="63627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배달 대비 방학 급식 비중 지수 하위 </a:t>
            </a:r>
            <a:r>
              <a:rPr lang="en-US" altLang="ko-KR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 </a:t>
            </a:r>
            <a:r>
              <a:rPr lang="en-US" altLang="ko-KR" sz="15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lang="en-US" altLang="ko-KR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 이용 중앙값 미만</a:t>
            </a:r>
          </a:p>
          <a:p>
            <a:pPr>
              <a:lnSpc>
                <a:spcPct val="140000"/>
              </a:lnSpc>
            </a:pPr>
            <a:r>
              <a:rPr lang="ko-KR" altLang="en-US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 번호 </a:t>
            </a:r>
            <a:r>
              <a:rPr lang="en-US" altLang="ko-KR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16</a:t>
            </a:r>
            <a:r>
              <a:rPr lang="ko-KR" altLang="en-US" sz="15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 판정표 번호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662D761-E548-ECA0-3E25-F9EBF133BD7C}"/>
              </a:ext>
            </a:extLst>
          </p:cNvPr>
          <p:cNvCxnSpPr/>
          <p:nvPr/>
        </p:nvCxnSpPr>
        <p:spPr>
          <a:xfrm>
            <a:off x="9601200" y="7467600"/>
            <a:ext cx="8077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408AB5C-CC11-B9E5-652D-0E4CBD1C3C7F}"/>
              </a:ext>
            </a:extLst>
          </p:cNvPr>
          <p:cNvSpPr txBox="1"/>
          <p:nvPr/>
        </p:nvSpPr>
        <p:spPr>
          <a:xfrm>
            <a:off x="9601200" y="771525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번째 기준으로 거른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중 대표 예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21501D-2C07-62B2-95FD-9DEBCFBC11B5}"/>
              </a:ext>
            </a:extLst>
          </p:cNvPr>
          <p:cNvSpPr txBox="1"/>
          <p:nvPr/>
        </p:nvSpPr>
        <p:spPr>
          <a:xfrm>
            <a:off x="9601200" y="8077200"/>
            <a:ext cx="807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달서구 서부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신당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호산 등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):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배달 대비로만 낮음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직장 배달이 많은 곳으로 추정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b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수 대비로는 중앙값의 약 </a:t>
            </a:r>
            <a:r>
              <a:rPr lang="en-US" altLang="ko-KR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2.2</a:t>
            </a: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</a:t>
            </a:r>
          </a:p>
          <a:p>
            <a:pPr>
              <a:lnSpc>
                <a:spcPct val="140000"/>
              </a:lnSpc>
            </a:pPr>
            <a:r>
              <a:rPr lang="ko-KR" altLang="en-US" sz="14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하나로만 골랐다면 우선 점검에 잘못 들어갔을 곳</a:t>
            </a:r>
          </a:p>
        </p:txBody>
      </p:sp>
    </p:spTree>
    <p:extLst>
      <p:ext uri="{BB962C8B-B14F-4D97-AF65-F5344CB8AC3E}">
        <p14:creationId xmlns:p14="http://schemas.microsoft.com/office/powerpoint/2010/main" val="4093488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1B9E1E8-1951-5494-C92C-B96EEB1C48A4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D117FA-A29D-843D-C40D-BE727B919B09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3FC29-30FA-A51E-0F78-47B0B02893C2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0FF00-0B6E-B614-FE45-D48E1414D8BE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4F460-4857-72F7-229F-6B5619D94E72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08C97C-DF9D-102F-4246-427B3FDB03BC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17489-345F-0C87-555F-8AE69ED1C40B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1BB4E-DF5A-E2DC-6F2B-0EF6E3F4159D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BB1FB-73D8-32B0-1C31-ABB007686AE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453BB-3470-2C43-F60F-F3CF174753BF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38747-27AD-30BD-19BA-1224A9D6127E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5C763-0F5D-59A7-7C8C-65DF91119FB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C53F3-3849-66C6-8321-546B01186A5C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우선 점검 선정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0226E-A311-7CBE-1766-00A22F55F138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우선 점검 동네는 일시적으로 낮은 곳이 아님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대부분 두 방학 연속 하위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35FFC10-FE81-FD5C-4DDD-CA896AC97596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D487C56-4915-730A-7D46-662BAC8D7E61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00BC9-2D75-BBDC-BBF1-A3788027162A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3·4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반기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앞 반기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2023-08·2024-01·02 /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 반기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2024-08·2025-01·02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2CB5DBA-119E-953D-573E-7C7FB7E6A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30611"/>
              </p:ext>
            </p:extLst>
          </p:nvPr>
        </p:nvGraphicFramePr>
        <p:xfrm>
          <a:off x="3314700" y="2247900"/>
          <a:ext cx="8572500" cy="6153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67512223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1775871375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선정 단계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5116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198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가게가 있는 동네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5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9917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181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결제가 있어 비교할 수 있는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85594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37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급식 비중 하위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25% +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등록 가게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이상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6293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17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아이 수로 봐도 적은 곳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32741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7</a:t>
                      </a:r>
                      <a:endParaRPr lang="ko-KR" altLang="en-US" sz="30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점검 후 남은 곳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 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  <a:r>
                        <a:rPr lang="en-US" altLang="ko-KR" sz="15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5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892827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300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4</a:t>
                      </a:r>
                      <a:endParaRPr lang="ko-KR" altLang="en-US" sz="3000" b="0">
                        <a:solidFill>
                          <a:srgbClr val="E63946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5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점검 후 개선이 필요한 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42774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32E822C-A5A5-D50D-0DC0-8BC04D628047}"/>
              </a:ext>
            </a:extLst>
          </p:cNvPr>
          <p:cNvSpPr txBox="1"/>
          <p:nvPr/>
        </p:nvSpPr>
        <p:spPr>
          <a:xfrm>
            <a:off x="3314700" y="861060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분모를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동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시기별 일반 결제로 바꿔 다시 계산하니 북구 읍내동이 들어오고 화원읍 설화리가 빠짐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3EA0201-0BE2-8DD5-BFBD-349F6AEA4175}"/>
              </a:ext>
            </a:extLst>
          </p:cNvPr>
          <p:cNvCxnSpPr/>
          <p:nvPr/>
        </p:nvCxnSpPr>
        <p:spPr>
          <a:xfrm>
            <a:off x="12268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C1EA72-B369-EC97-7089-2B3D50DBE41D}"/>
              </a:ext>
            </a:extLst>
          </p:cNvPr>
          <p:cNvSpPr txBox="1"/>
          <p:nvPr/>
        </p:nvSpPr>
        <p:spPr>
          <a:xfrm>
            <a:off x="12649200" y="22479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0.785</a:t>
            </a:r>
            <a:endParaRPr lang="ko-KR" altLang="en-US" sz="42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B4BA65-906B-EB30-4471-780D5BA2906A}"/>
              </a:ext>
            </a:extLst>
          </p:cNvPr>
          <p:cNvSpPr txBox="1"/>
          <p:nvPr/>
        </p:nvSpPr>
        <p:spPr>
          <a:xfrm>
            <a:off x="12649200" y="29260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반기 동 순위 상관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E2BA80-356F-7464-BE7D-368DFDF34746}"/>
              </a:ext>
            </a:extLst>
          </p:cNvPr>
          <p:cNvSpPr txBox="1"/>
          <p:nvPr/>
        </p:nvSpPr>
        <p:spPr>
          <a:xfrm>
            <a:off x="12649200" y="32499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급식 비중 지수 순위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156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동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등록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이상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DF36CA2-949C-D325-4F4E-EA6FC22B325D}"/>
              </a:ext>
            </a:extLst>
          </p:cNvPr>
          <p:cNvCxnSpPr/>
          <p:nvPr/>
        </p:nvCxnSpPr>
        <p:spPr>
          <a:xfrm>
            <a:off x="12649200" y="4572000"/>
            <a:ext cx="5029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1DA7233-5229-243E-3A5F-EB9D08403D86}"/>
              </a:ext>
            </a:extLst>
          </p:cNvPr>
          <p:cNvSpPr txBox="1"/>
          <p:nvPr/>
        </p:nvSpPr>
        <p:spPr>
          <a:xfrm>
            <a:off x="12649200" y="474345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13 / 17</a:t>
            </a:r>
            <a:endParaRPr lang="ko-KR" altLang="en-US" sz="42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AB8802-B232-3F6B-1962-3D4564497045}"/>
              </a:ext>
            </a:extLst>
          </p:cNvPr>
          <p:cNvSpPr txBox="1"/>
          <p:nvPr/>
        </p:nvSpPr>
        <p:spPr>
          <a:xfrm>
            <a:off x="12649200" y="54216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중 두 반기 모두 하위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352496-DBD1-DFAB-2F72-BA9A9212ECE3}"/>
              </a:ext>
            </a:extLst>
          </p:cNvPr>
          <p:cNvSpPr txBox="1"/>
          <p:nvPr/>
        </p:nvSpPr>
        <p:spPr>
          <a:xfrm>
            <a:off x="12649200" y="57454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덜 쓰는 곳은 일시적이지 않음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4F2EA51-0F91-B18C-1B93-6C4F40CE7A55}"/>
              </a:ext>
            </a:extLst>
          </p:cNvPr>
          <p:cNvCxnSpPr/>
          <p:nvPr/>
        </p:nvCxnSpPr>
        <p:spPr>
          <a:xfrm>
            <a:off x="12649200" y="7067550"/>
            <a:ext cx="5029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646757F-F1AC-2B44-452F-ED676DCFBF60}"/>
              </a:ext>
            </a:extLst>
          </p:cNvPr>
          <p:cNvSpPr txBox="1"/>
          <p:nvPr/>
        </p:nvSpPr>
        <p:spPr>
          <a:xfrm>
            <a:off x="12649200" y="72390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 / 4</a:t>
            </a:r>
            <a:endParaRPr lang="ko-KR" altLang="en-US" sz="420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A8E91E-B230-B768-5135-F8932C226E06}"/>
              </a:ext>
            </a:extLst>
          </p:cNvPr>
          <p:cNvSpPr txBox="1"/>
          <p:nvPr/>
        </p:nvSpPr>
        <p:spPr>
          <a:xfrm>
            <a:off x="12649200" y="791718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동 모두 연속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AE39DB-63D3-0854-9803-C979837BCA1E}"/>
              </a:ext>
            </a:extLst>
          </p:cNvPr>
          <p:cNvSpPr txBox="1"/>
          <p:nvPr/>
        </p:nvSpPr>
        <p:spPr>
          <a:xfrm>
            <a:off x="12649200" y="824103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대상 선정 근거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093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F6C114C-82C2-B54E-2612-84E940FAE99B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76A8A0-D852-3AC0-5315-100784E5C884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35934-3284-09AE-39CD-82757ACB5CF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3A997-E15C-3885-F200-28EAE6950255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CCA45-4FC4-1D60-A0A6-50F095D7311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E6F92C-156E-4193-37BF-5940C2A5E50D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321EF-0B56-AB26-496D-6B40DB031ABF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6086B-2FA2-2615-BE22-90635A7C5516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6787D-899B-F277-064D-82B910E99FE2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DB2EC-4128-2166-29C2-783755DA79C9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E8D39-AF52-B2A4-126C-D5B047353C83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2EE70-8AEC-A113-5B78-DE3BE3A91AF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811DFD-8989-7AEE-9178-2D2A121CD4A6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공급 점검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80F0C-F703-8F1E-9C18-D2FC1F41E73C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 주문 가게가 이미 거의 모든 아이에게 닿아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가게를 더 모아도 효과 없음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A74EACF-B645-3B4D-5CEC-61AF2076F2AD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B30DF5-8329-7B06-BA05-8B6A73196430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E52DDC-4B6B-BABA-7EB8-5F00998908A5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점검 코드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266,222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71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 법정동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290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 아래 계산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791A99-56AD-980F-E035-98B3F6669DC5}"/>
              </a:ext>
            </a:extLst>
          </p:cNvPr>
          <p:cNvSpPr txBox="1"/>
          <p:nvPr/>
        </p:nvSpPr>
        <p:spPr>
          <a:xfrm>
            <a:off x="3314700" y="2247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가게가 닿는 아이 비율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AAAFF-5155-D6C0-61CB-BC4E73CD1FA3}"/>
              </a:ext>
            </a:extLst>
          </p:cNvPr>
          <p:cNvSpPr txBox="1"/>
          <p:nvPr/>
        </p:nvSpPr>
        <p:spPr>
          <a:xfrm>
            <a:off x="3314700" y="2628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78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99.9%</a:t>
            </a:r>
            <a:endParaRPr lang="ko-KR" altLang="en-US" sz="78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07DD-D1F7-5D98-19FA-E5CAD1808CB0}"/>
              </a:ext>
            </a:extLst>
          </p:cNvPr>
          <p:cNvSpPr txBox="1"/>
          <p:nvPr/>
        </p:nvSpPr>
        <p:spPr>
          <a:xfrm>
            <a:off x="3314700" y="38862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점검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(MCLP)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방학에 실제 급식 주문을 받은 가게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맞닿은 동까지 닿음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KCB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소득으로 필요 반영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문턱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1~50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모두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0.999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62060-6BBC-F765-EEA7-4B0C9B420BA7}"/>
              </a:ext>
            </a:extLst>
          </p:cNvPr>
          <p:cNvSpPr txBox="1"/>
          <p:nvPr/>
        </p:nvSpPr>
        <p:spPr>
          <a:xfrm>
            <a:off x="3314700" y="501015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 빡빡한 설정에서도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333DFDB-ABE8-BE9A-7872-AEADD5538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11549"/>
              </p:ext>
            </p:extLst>
          </p:nvPr>
        </p:nvGraphicFramePr>
        <p:xfrm>
          <a:off x="3314700" y="5410200"/>
          <a:ext cx="4762500" cy="2705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43250">
                  <a:extLst>
                    <a:ext uri="{9D8B030D-6E8A-4147-A177-3AD203B41FA5}">
                      <a16:colId xmlns:a16="http://schemas.microsoft.com/office/drawing/2014/main" val="2390170827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33999259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닿는 범위 </a:t>
                      </a:r>
                      <a:r>
                        <a:rPr lang="en-US" altLang="ko-KR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문턱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닿는 비율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6603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맞닿은 동까지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1~50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99.9%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40424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99.9%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8696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20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98.5%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01492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 동네 묶음 안만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89.3%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936836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39FA0E4-439D-B4B0-B2C3-62C5BC2D2BFD}"/>
              </a:ext>
            </a:extLst>
          </p:cNvPr>
          <p:cNvCxnSpPr/>
          <p:nvPr/>
        </p:nvCxnSpPr>
        <p:spPr>
          <a:xfrm>
            <a:off x="8362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820F09-9E98-7C4E-C016-7C969FB8CF81}"/>
              </a:ext>
            </a:extLst>
          </p:cNvPr>
          <p:cNvSpPr txBox="1"/>
          <p:nvPr/>
        </p:nvSpPr>
        <p:spPr>
          <a:xfrm>
            <a:off x="8648700" y="2247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가게는 있는데 주문이 없음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67EF-B57B-B05F-C877-1D8774AE5FB8}"/>
              </a:ext>
            </a:extLst>
          </p:cNvPr>
          <p:cNvSpPr txBox="1"/>
          <p:nvPr/>
        </p:nvSpPr>
        <p:spPr>
          <a:xfrm>
            <a:off x="8648700" y="2628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4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631</a:t>
            </a:r>
            <a:r>
              <a:rPr lang="ko-KR" altLang="en-US" sz="54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EB2E76-ACD7-A0B7-C0C0-3EE2F79353AB}"/>
              </a:ext>
            </a:extLst>
          </p:cNvPr>
          <p:cNvSpPr txBox="1"/>
          <p:nvPr/>
        </p:nvSpPr>
        <p:spPr>
          <a:xfrm>
            <a:off x="8648700" y="35433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 등록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영업 중인데 급식 결제가 없는 가게</a:t>
            </a:r>
          </a:p>
          <a:p>
            <a:pPr>
              <a:lnSpc>
                <a:spcPct val="135000"/>
              </a:lnSpc>
            </a:pP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영업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 유지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0958AF-F2BC-BFC9-B116-7E951A09937B}"/>
              </a:ext>
            </a:extLst>
          </p:cNvPr>
          <p:cNvSpPr txBox="1"/>
          <p:nvPr/>
        </p:nvSpPr>
        <p:spPr>
          <a:xfrm>
            <a:off x="8648700" y="443865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부족이 아니라 이용 쪽 문제</a:t>
            </a:r>
          </a:p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가게 수 대신 이유 판정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</a:t>
            </a:r>
          </a:p>
          <a:p>
            <a:pPr>
              <a:lnSpc>
                <a:spcPct val="14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1CF20D3-94B5-DFAF-AFC5-4A9BF01981F2}"/>
              </a:ext>
            </a:extLst>
          </p:cNvPr>
          <p:cNvCxnSpPr/>
          <p:nvPr/>
        </p:nvCxnSpPr>
        <p:spPr>
          <a:xfrm>
            <a:off x="13125450" y="2247900"/>
            <a:ext cx="0" cy="4191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754D27-970D-69D1-88FD-A11F2A14743C}"/>
              </a:ext>
            </a:extLst>
          </p:cNvPr>
          <p:cNvSpPr txBox="1"/>
          <p:nvPr/>
        </p:nvSpPr>
        <p:spPr>
          <a:xfrm>
            <a:off x="13411200" y="22479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외곽 예외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00EF41-2ECD-A68F-0D54-5C1731CB52F2}"/>
              </a:ext>
            </a:extLst>
          </p:cNvPr>
          <p:cNvSpPr txBox="1"/>
          <p:nvPr/>
        </p:nvSpPr>
        <p:spPr>
          <a:xfrm>
            <a:off x="13411200" y="26098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점검 후보로 유지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D-018)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EA7BA4-E168-9637-6E3D-3A25901D2727}"/>
              </a:ext>
            </a:extLst>
          </p:cNvPr>
          <p:cNvSpPr txBox="1"/>
          <p:nvPr/>
        </p:nvSpPr>
        <p:spPr>
          <a:xfrm>
            <a:off x="13411200" y="304800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가창면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하빈면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공산동</a:t>
            </a:r>
          </a:p>
          <a:p>
            <a:pPr>
              <a:lnSpc>
                <a:spcPct val="14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안심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검단동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파동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D01CF-FA53-8F1F-BC04-834548BD56D0}"/>
              </a:ext>
            </a:extLst>
          </p:cNvPr>
          <p:cNvSpPr txBox="1"/>
          <p:nvPr/>
        </p:nvSpPr>
        <p:spPr>
          <a:xfrm>
            <a:off x="13411200" y="4057650"/>
            <a:ext cx="426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 주문받는 가게 기준 공급과 주문 흐름 자료가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결함으로 일부만 반출 → 공급형 해결방안 판정 보류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 회차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C9D401C-000C-A189-D189-CA8EC441F427}"/>
              </a:ext>
            </a:extLst>
          </p:cNvPr>
          <p:cNvCxnSpPr/>
          <p:nvPr/>
        </p:nvCxnSpPr>
        <p:spPr>
          <a:xfrm>
            <a:off x="8648700" y="6724650"/>
            <a:ext cx="9029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54FF01B-2CAB-E70A-BB0F-F85B382C4FAE}"/>
              </a:ext>
            </a:extLst>
          </p:cNvPr>
          <p:cNvSpPr txBox="1"/>
          <p:nvPr/>
        </p:nvSpPr>
        <p:spPr>
          <a:xfrm>
            <a:off x="8648700" y="69723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· 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 아래 계산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462134-23FC-5903-74AC-9C6323268C59}"/>
              </a:ext>
            </a:extLst>
          </p:cNvPr>
          <p:cNvSpPr txBox="1"/>
          <p:nvPr/>
        </p:nvSpPr>
        <p:spPr>
          <a:xfrm>
            <a:off x="8648700" y="7315200"/>
            <a:ext cx="902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모집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 → 방학 월 이용자 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5EAC6-6094-FA6C-C98F-B4BC9E178121}"/>
              </a:ext>
            </a:extLst>
          </p:cNvPr>
          <p:cNvSpPr txBox="1"/>
          <p:nvPr/>
        </p:nvSpPr>
        <p:spPr>
          <a:xfrm>
            <a:off x="8648700" y="7772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58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+0</a:t>
            </a:r>
            <a:endParaRPr lang="ko-KR" altLang="en-US" sz="585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E7B1ED-1569-8141-B009-A17962983632}"/>
              </a:ext>
            </a:extLst>
          </p:cNvPr>
          <p:cNvSpPr txBox="1"/>
          <p:nvPr/>
        </p:nvSpPr>
        <p:spPr>
          <a:xfrm>
            <a:off x="10744200" y="79629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 후한 가정에서도 최대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+35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방학 월평균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3,785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대비</a:t>
            </a:r>
          </a:p>
        </p:txBody>
      </p:sp>
    </p:spTree>
    <p:extLst>
      <p:ext uri="{BB962C8B-B14F-4D97-AF65-F5344CB8AC3E}">
        <p14:creationId xmlns:p14="http://schemas.microsoft.com/office/powerpoint/2010/main" val="227582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E0788A-A7EF-8D3E-FF53-246DEB1BFA40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2D5142-AA89-017A-D68C-60620B005F0D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097CA-94C0-7CA6-9AF1-AABCF3F3541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417B1-E93C-A575-31A1-27A298B63EE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4265C-6D2E-8438-83DC-B6E816B1CCC7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79474A-D61C-79DE-F0A0-C8C6835D84E9}"/>
              </a:ext>
            </a:extLst>
          </p:cNvPr>
          <p:cNvSpPr/>
          <p:nvPr/>
        </p:nvSpPr>
        <p:spPr>
          <a:xfrm>
            <a:off x="381000" y="478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28C84-1E36-4224-9D0F-9CFD38B1827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C7CD1-0D58-234A-F1F2-9FD3D86B49B8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05ADA-92D0-B6D6-9355-728C3CBF1F3A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8BE43-A58A-ED10-32AE-8CBCE66084B0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A35925-2422-C873-1B33-7D056B7ABB6F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96501-12FE-AC34-8E0F-167DA3E386C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74712-8CF4-8FB6-EDE6-CC1628E35C7E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04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공간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판정표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BC7D9-9F3C-B005-8BE0-E5634336B568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옆 동네 이용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필요 적음을 먼저 빼고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남은 곳만 해결방안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현장 확인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8AB4FD1-A613-FFE7-75FA-9445D208320F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A0EBF5-CE00-BA5F-FBCE-D889143EC3F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4533E-CF73-2C86-7CF1-55DC4FFAEA3E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● 해당  ○ 아님 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불가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경로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안내는 동별 자료 없음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가게는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결함으로 판단 불가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규칙은 반출 전 고정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(D-019)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1E01835-554A-EBF8-EB18-50646D188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945617"/>
              </p:ext>
            </p:extLst>
          </p:nvPr>
        </p:nvGraphicFramePr>
        <p:xfrm>
          <a:off x="3314700" y="2209800"/>
          <a:ext cx="9867900" cy="6896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57377677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68345048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2268956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65062189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151820712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0841317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76801847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636231659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60857399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8748069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468778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번호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경로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안내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650811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논공읍 금포리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88811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화원읍 본리리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1234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검단동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94051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3001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화원읍 명곡리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1155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읍내동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017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침산동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7151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구지면 화산리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7214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옥포읍 본리리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1085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지묘동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4137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원대동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01662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이현동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7636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다사읍 매곡리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282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다사읍 서재리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18561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달성군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다사읍 죽곡리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74588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북구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칠성동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A09C9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52204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수성구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노변동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</a:t>
                      </a:r>
                      <a:endParaRPr lang="ko-KR" altLang="en-US" sz="127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제외 </a:t>
                      </a:r>
                      <a:r>
                        <a:rPr lang="en-US" altLang="ko-KR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27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적음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453531"/>
                  </a:ext>
                </a:extLst>
              </a:tr>
            </a:tbl>
          </a:graphicData>
        </a:graphic>
      </p:graphicFrame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B9323C1-0755-09AF-4FD9-DD9068F7BE52}"/>
              </a:ext>
            </a:extLst>
          </p:cNvPr>
          <p:cNvCxnSpPr/>
          <p:nvPr/>
        </p:nvCxnSpPr>
        <p:spPr>
          <a:xfrm>
            <a:off x="134683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37195D-ADF6-789C-1DD3-DDFA4926BFAF}"/>
              </a:ext>
            </a:extLst>
          </p:cNvPr>
          <p:cNvSpPr txBox="1"/>
          <p:nvPr/>
        </p:nvSpPr>
        <p:spPr>
          <a:xfrm>
            <a:off x="13754100" y="22479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사각지대 아님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82FC0-DFB1-D134-F0D2-E8B575F5E8B9}"/>
              </a:ext>
            </a:extLst>
          </p:cNvPr>
          <p:cNvSpPr txBox="1"/>
          <p:nvPr/>
        </p:nvSpPr>
        <p:spPr>
          <a:xfrm>
            <a:off x="13754100" y="26098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10</a:t>
            </a:r>
            <a:r>
              <a:rPr lang="ko-KR" altLang="en-US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A56E6-BB6D-F9BB-08BB-8641FAAB82DB}"/>
              </a:ext>
            </a:extLst>
          </p:cNvPr>
          <p:cNvSpPr txBox="1"/>
          <p:nvPr/>
        </p:nvSpPr>
        <p:spPr>
          <a:xfrm>
            <a:off x="13754100" y="33528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옆 동네 가게 이용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 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가구 적음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조치 없이 다음 회차 관찰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E008607-64D3-7C38-1437-FD0AFE3D8577}"/>
              </a:ext>
            </a:extLst>
          </p:cNvPr>
          <p:cNvCxnSpPr/>
          <p:nvPr/>
        </p:nvCxnSpPr>
        <p:spPr>
          <a:xfrm>
            <a:off x="13754100" y="4533900"/>
            <a:ext cx="39243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6CFE89-D1BA-89EC-4777-B86597F6351A}"/>
              </a:ext>
            </a:extLst>
          </p:cNvPr>
          <p:cNvSpPr txBox="1"/>
          <p:nvPr/>
        </p:nvSpPr>
        <p:spPr>
          <a:xfrm>
            <a:off x="13754100" y="47434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13B01A-DB43-2544-2E50-3DAB40CC3C66}"/>
              </a:ext>
            </a:extLst>
          </p:cNvPr>
          <p:cNvSpPr txBox="1"/>
          <p:nvPr/>
        </p:nvSpPr>
        <p:spPr>
          <a:xfrm>
            <a:off x="13754100" y="51054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</a:t>
            </a:r>
            <a:r>
              <a:rPr lang="ko-KR" altLang="en-US" sz="42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49EE9E-EE26-2493-D8BF-6E5E4CF39676}"/>
              </a:ext>
            </a:extLst>
          </p:cNvPr>
          <p:cNvSpPr txBox="1"/>
          <p:nvPr/>
        </p:nvSpPr>
        <p:spPr>
          <a:xfrm>
            <a:off x="13754100" y="58483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자체가 적거나 오래 걸림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배달팁 아님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정기 배달편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EDE8386-AF65-3BB9-DBF3-1C1DD17612D5}"/>
              </a:ext>
            </a:extLst>
          </p:cNvPr>
          <p:cNvCxnSpPr/>
          <p:nvPr/>
        </p:nvCxnSpPr>
        <p:spPr>
          <a:xfrm>
            <a:off x="13754100" y="7029450"/>
            <a:ext cx="39243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7CFC38-7ACE-CA9D-9419-7AD8090087AD}"/>
              </a:ext>
            </a:extLst>
          </p:cNvPr>
          <p:cNvSpPr txBox="1"/>
          <p:nvPr/>
        </p:nvSpPr>
        <p:spPr>
          <a:xfrm>
            <a:off x="13754100" y="72390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필요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01825C-655C-09C3-02CA-7E58B3BABBCE}"/>
              </a:ext>
            </a:extLst>
          </p:cNvPr>
          <p:cNvSpPr txBox="1"/>
          <p:nvPr/>
        </p:nvSpPr>
        <p:spPr>
          <a:xfrm>
            <a:off x="13754100" y="760095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A09C9B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3</a:t>
            </a:r>
            <a:r>
              <a:rPr lang="ko-KR" altLang="en-US" sz="4200">
                <a:solidFill>
                  <a:srgbClr val="A09C9B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0DE4E-C4B3-EE9E-ACF8-2A8D6993B58A}"/>
              </a:ext>
            </a:extLst>
          </p:cNvPr>
          <p:cNvSpPr txBox="1"/>
          <p:nvPr/>
        </p:nvSpPr>
        <p:spPr>
          <a:xfrm>
            <a:off x="13754100" y="8343900"/>
            <a:ext cx="3924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이유 판정 불가 항목 남음</a:t>
            </a:r>
          </a:p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구청 현장 확인 후 다음 회차</a:t>
            </a:r>
          </a:p>
        </p:txBody>
      </p:sp>
    </p:spTree>
    <p:extLst>
      <p:ext uri="{BB962C8B-B14F-4D97-AF65-F5344CB8AC3E}">
        <p14:creationId xmlns:p14="http://schemas.microsoft.com/office/powerpoint/2010/main" val="3983317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B92D356-5DD7-0433-3E24-B211C95C8CBE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942B2E-67AA-53B5-D6D6-C4267BC13BFB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4E01-4737-F169-C67F-34F02DFB0B99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78CBC-F976-CF86-75ED-69C214D1F58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7A0DE-64EC-991D-2C41-9F1E57081AA2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8BC66-51CB-4B03-C9F9-F4CA04A5D17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183F8D-3C90-133A-89C4-3DA313C7AAC3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6D587-063C-8354-960F-52FD92854A78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B41EC-CAA3-495F-5B69-BBD70724FC87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A95C1-1EC0-B497-1272-86CD4C314586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EF27F-051F-5451-0F75-AE14A915E452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2CF79D-E86A-3D84-12BC-6288D1C5126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92808-94E2-D7C1-D695-5EF51D4D9222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앱 점검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5BFCA-D4E0-EA22-225A-5CF96E7EBDA7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급식카드 최소주문 면제 가게는 있지만 앱 목록에는 표시 안 됨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866167A-CFDF-3843-7E84-3C68070FA23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874D2C-0FA3-0AEB-482D-D7F47F392114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DF54D-7F55-C9F1-C148-8D2045537AF0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 기록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2026-10-15 17:26~17:53,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상세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18:01~20:58) · 1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 기준 개정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확인 후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9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3625CC-43D4-EC7C-27D7-1E87AB9420C7}"/>
              </a:ext>
            </a:extLst>
          </p:cNvPr>
          <p:cNvSpPr txBox="1"/>
          <p:nvPr/>
        </p:nvSpPr>
        <p:spPr>
          <a:xfrm>
            <a:off x="3314700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동별 실제 주소 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F9D8D-25C3-4CF5-4944-0FD34CDE9DD8}"/>
              </a:ext>
            </a:extLst>
          </p:cNvPr>
          <p:cNvSpPr txBox="1"/>
          <p:nvPr/>
        </p:nvSpPr>
        <p:spPr>
          <a:xfrm>
            <a:off x="6905625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‘1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인분’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가까운 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3667D-ED0C-08D3-54C9-27251CD8D70F}"/>
              </a:ext>
            </a:extLst>
          </p:cNvPr>
          <p:cNvSpPr txBox="1"/>
          <p:nvPr/>
        </p:nvSpPr>
        <p:spPr>
          <a:xfrm>
            <a:off x="10496550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최소주문 기록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54C95C-467F-797E-084A-EBB163E9B596}"/>
              </a:ext>
            </a:extLst>
          </p:cNvPr>
          <p:cNvSpPr txBox="1"/>
          <p:nvPr/>
        </p:nvSpPr>
        <p:spPr>
          <a:xfrm>
            <a:off x="14087475" y="2247900"/>
            <a:ext cx="3400425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화면 면제 문구 확인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38862C1-1AA0-8690-1E03-01898B95C5F0}"/>
              </a:ext>
            </a:extLst>
          </p:cNvPr>
          <p:cNvCxnSpPr/>
          <p:nvPr/>
        </p:nvCxnSpPr>
        <p:spPr>
          <a:xfrm>
            <a:off x="3314700" y="28765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84042B9-261C-7D90-F170-1C13B3C36B64}"/>
              </a:ext>
            </a:extLst>
          </p:cNvPr>
          <p:cNvSpPr txBox="1"/>
          <p:nvPr/>
        </p:nvSpPr>
        <p:spPr>
          <a:xfrm>
            <a:off x="3314700" y="31623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64</a:t>
            </a:r>
            <a:r>
              <a:rPr lang="ko-KR" altLang="en-US" sz="42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곳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385030-30A2-4920-4FC4-639233CC9917}"/>
              </a:ext>
            </a:extLst>
          </p:cNvPr>
          <p:cNvSpPr txBox="1"/>
          <p:nvPr/>
        </p:nvSpPr>
        <p:spPr>
          <a:xfrm>
            <a:off x="3314700" y="384048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기록한 가게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3DB931-85F1-F8C2-D758-BEF3D5E94635}"/>
              </a:ext>
            </a:extLst>
          </p:cNvPr>
          <p:cNvSpPr txBox="1"/>
          <p:nvPr/>
        </p:nvSpPr>
        <p:spPr>
          <a:xfrm>
            <a:off x="3314700" y="416433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주소의</a:t>
            </a:r>
            <a:b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인분’ 목록 상위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2026-10-15</a:t>
            </a:r>
            <a:endParaRPr lang="ko-KR" altLang="en-US" sz="127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A821990-92B8-D00D-A2E0-CF497285A32E}"/>
              </a:ext>
            </a:extLst>
          </p:cNvPr>
          <p:cNvCxnSpPr/>
          <p:nvPr/>
        </p:nvCxnSpPr>
        <p:spPr>
          <a:xfrm>
            <a:off x="6838950" y="3162300"/>
            <a:ext cx="0" cy="2286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21C46F-3937-9217-96B1-40BBB6B85EDB}"/>
              </a:ext>
            </a:extLst>
          </p:cNvPr>
          <p:cNvSpPr txBox="1"/>
          <p:nvPr/>
        </p:nvSpPr>
        <p:spPr>
          <a:xfrm>
            <a:off x="7124700" y="31623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2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5 / 13</a:t>
            </a:r>
            <a:endParaRPr lang="ko-KR" altLang="en-US" sz="420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77F38F-CF75-F316-CBDD-A8FB4F3D9A81}"/>
              </a:ext>
            </a:extLst>
          </p:cNvPr>
          <p:cNvSpPr txBox="1"/>
          <p:nvPr/>
        </p:nvSpPr>
        <p:spPr>
          <a:xfrm>
            <a:off x="7124700" y="384048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상세 확인 가게 중 면제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CCE2A9-EA25-F0EB-D4D1-B4633C2FC67B}"/>
              </a:ext>
            </a:extLst>
          </p:cNvPr>
          <p:cNvSpPr txBox="1"/>
          <p:nvPr/>
        </p:nvSpPr>
        <p:spPr>
          <a:xfrm>
            <a:off x="7124700" y="416433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‘최소주문 미적용’ 문구 확인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FC91377-9A96-7F92-A781-1BC646E6F8C0}"/>
              </a:ext>
            </a:extLst>
          </p:cNvPr>
          <p:cNvCxnSpPr/>
          <p:nvPr/>
        </p:nvCxnSpPr>
        <p:spPr>
          <a:xfrm>
            <a:off x="10648950" y="3162300"/>
            <a:ext cx="0" cy="2286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0765855-9F86-FF10-69A8-A0C09495D844}"/>
              </a:ext>
            </a:extLst>
          </p:cNvPr>
          <p:cNvSpPr txBox="1"/>
          <p:nvPr/>
        </p:nvSpPr>
        <p:spPr>
          <a:xfrm>
            <a:off x="10934700" y="31623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 표시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73F7C5-D5AE-D88F-CDA6-A7CCD07657F9}"/>
              </a:ext>
            </a:extLst>
          </p:cNvPr>
          <p:cNvSpPr txBox="1"/>
          <p:nvPr/>
        </p:nvSpPr>
        <p:spPr>
          <a:xfrm>
            <a:off x="10934700" y="35052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면제 여부는 가게 상세 화면 문구로만 확인 가능</a:t>
            </a:r>
          </a:p>
          <a:p>
            <a:pPr>
              <a:lnSpc>
                <a:spcPct val="135000"/>
              </a:lnSpc>
            </a:pP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 목록에는 최소주문 금액만 노출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5F6555-C138-D8FE-B87B-64A4B8396DF5}"/>
              </a:ext>
            </a:extLst>
          </p:cNvPr>
          <p:cNvSpPr txBox="1"/>
          <p:nvPr/>
        </p:nvSpPr>
        <p:spPr>
          <a:xfrm>
            <a:off x="10934700" y="45720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해결방안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목록에 ‘급식카드 최소주문 면제’ 표시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전역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비용이 작고 해가 없어 시범 없이 시행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5E5F5EB-8890-C210-EEBD-4A0355A398C4}"/>
              </a:ext>
            </a:extLst>
          </p:cNvPr>
          <p:cNvCxnSpPr/>
          <p:nvPr/>
        </p:nvCxnSpPr>
        <p:spPr>
          <a:xfrm>
            <a:off x="3314700" y="58293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DBF4C59-FA95-B137-C5F0-89CE41FB77E1}"/>
              </a:ext>
            </a:extLst>
          </p:cNvPr>
          <p:cNvSpPr txBox="1"/>
          <p:nvPr/>
        </p:nvSpPr>
        <p:spPr>
          <a:xfrm>
            <a:off x="3314700" y="61150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곳의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 판정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AE481E-EF3D-FE0A-85A0-46C22B5523B3}"/>
              </a:ext>
            </a:extLst>
          </p:cNvPr>
          <p:cNvSpPr txBox="1"/>
          <p:nvPr/>
        </p:nvSpPr>
        <p:spPr>
          <a:xfrm>
            <a:off x="3314700" y="65341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 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·  </a:t>
            </a:r>
            <a:r>
              <a:rPr lang="ko-KR" altLang="en-US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아님 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en-US" altLang="ko-KR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·  </a:t>
            </a:r>
            <a:r>
              <a:rPr lang="ko-KR" altLang="en-US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불가 </a:t>
            </a:r>
            <a:r>
              <a:rPr lang="en-US" altLang="ko-KR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</a:t>
            </a:r>
            <a:endParaRPr lang="ko-KR" altLang="en-US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25A65B-4D2A-9073-BA86-B5E1432502DE}"/>
              </a:ext>
            </a:extLst>
          </p:cNvPr>
          <p:cNvSpPr txBox="1"/>
          <p:nvPr/>
        </p:nvSpPr>
        <p:spPr>
          <a:xfrm>
            <a:off x="3314700" y="70675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 불가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 =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면제 여부 미확인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 +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 안 한 동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옥포 본리리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지묘동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옆 동네 이용으로 최종 제외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1B58C-3211-EAA9-300B-CEDF417F1CEF}"/>
              </a:ext>
            </a:extLst>
          </p:cNvPr>
          <p:cNvSpPr txBox="1"/>
          <p:nvPr/>
        </p:nvSpPr>
        <p:spPr>
          <a:xfrm>
            <a:off x="3314700" y="77914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카드 한 끼 값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만으로 주문할 수 있는가</a:t>
            </a:r>
            <a:b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끼만 신청했거나 돈을 더 낼 수 없는 아이 기준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D2E0EF8-2D86-7F87-F6B2-50121ECF6887}"/>
              </a:ext>
            </a:extLst>
          </p:cNvPr>
          <p:cNvCxnSpPr/>
          <p:nvPr/>
        </p:nvCxnSpPr>
        <p:spPr>
          <a:xfrm>
            <a:off x="9315450" y="61150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505BF6-32CD-62FA-6D46-378A3F6F81CD}"/>
              </a:ext>
            </a:extLst>
          </p:cNvPr>
          <p:cNvSpPr txBox="1"/>
          <p:nvPr/>
        </p:nvSpPr>
        <p:spPr>
          <a:xfrm>
            <a:off x="9601200" y="6115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지역 공통 장벽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5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2FAEC4-5566-28F2-27C2-18D8613F57C3}"/>
              </a:ext>
            </a:extLst>
          </p:cNvPr>
          <p:cNvSpPr txBox="1"/>
          <p:nvPr/>
        </p:nvSpPr>
        <p:spPr>
          <a:xfrm>
            <a:off x="9601200" y="6457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화원 명곡리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본리리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옥포 본리리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 칠성동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침산동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CD37F1-D7FC-5135-7CEC-B7838A3014A3}"/>
              </a:ext>
            </a:extLst>
          </p:cNvPr>
          <p:cNvSpPr txBox="1"/>
          <p:nvPr/>
        </p:nvSpPr>
        <p:spPr>
          <a:xfrm>
            <a:off x="9601200" y="72199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 구 대조 동도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가능 가게가 똑같이 적음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동이 아니라 구 단위 가격 장벽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3363E93-226A-CEED-AD3A-6B108D1DE842}"/>
              </a:ext>
            </a:extLst>
          </p:cNvPr>
          <p:cNvCxnSpPr/>
          <p:nvPr/>
        </p:nvCxnSpPr>
        <p:spPr>
          <a:xfrm>
            <a:off x="13982700" y="6115050"/>
            <a:ext cx="0" cy="2095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2DC8155-2665-A6BB-75B3-92DF97BDC227}"/>
              </a:ext>
            </a:extLst>
          </p:cNvPr>
          <p:cNvSpPr txBox="1"/>
          <p:nvPr/>
        </p:nvSpPr>
        <p:spPr>
          <a:xfrm>
            <a:off x="14268450" y="61150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 자체가 짧은 곳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BFB9FE-48AB-4C25-EE98-D13B9840F085}"/>
              </a:ext>
            </a:extLst>
          </p:cNvPr>
          <p:cNvSpPr txBox="1"/>
          <p:nvPr/>
        </p:nvSpPr>
        <p:spPr>
          <a:xfrm>
            <a:off x="14268450" y="64579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동구 지묘동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옥포 본리리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32D486-62B2-5D93-B0B9-D65B53951FE4}"/>
              </a:ext>
            </a:extLst>
          </p:cNvPr>
          <p:cNvSpPr txBox="1"/>
          <p:nvPr/>
        </p:nvSpPr>
        <p:spPr>
          <a:xfrm>
            <a:off x="14268450" y="6877050"/>
            <a:ext cx="34099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 기준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 목록에 가게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곳뿐</a:t>
            </a:r>
          </a:p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집 근처보다 옆 동네에서 주문</a:t>
            </a:r>
          </a:p>
        </p:txBody>
      </p:sp>
    </p:spTree>
    <p:extLst>
      <p:ext uri="{BB962C8B-B14F-4D97-AF65-F5344CB8AC3E}">
        <p14:creationId xmlns:p14="http://schemas.microsoft.com/office/powerpoint/2010/main" val="1806958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E728DE6-C9AA-E622-DD81-C61D13C5832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B760E2C-8510-225E-7C4D-B28D7F91FB8C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D72CB-3FA1-52CD-32B5-742A3B4005E8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19E2A-F097-C404-AAA5-CD12669E2C0E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849A2-FBBA-04BA-1B71-D5C34798F69A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DD58A-9A89-3A75-B175-47A6243FF04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1D0D2-C0BB-05E5-8A5A-2FBB3011DA0B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281B9-AB35-D920-87E4-3BA37C052544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963D27-6B93-C925-A9BC-89177EB41094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AB3C9-A26D-41D5-1CA7-242946FAF003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5A56DD-8393-8B8A-DEBA-AD36058EDD25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8E633-70C5-BAFE-EB0C-51D6F5AF7377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E7093B-781D-DF6E-B439-436614361EE2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결제 금액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1BC1D-07FC-61D9-75F9-EAADF53FDE6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쓰는 아이는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끼 값에 막히지 않음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여러 끼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형제 카드를 합쳐 카드로 결제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7D240F-40A5-E558-F077-F2EBE6A0BEC4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0C8406-0B7B-4799-F37D-04B48C9E6F5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ED03C-9E79-9E14-49AC-8D2AE053BC5C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하루 결제 금액표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원장 직접 집계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 파일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합계 분포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한도는 신청한 끼니 수만큼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대구시청 복지과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D6BE8-CFBF-E3D8-134A-5AD697D5665C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중 하루 최대 카드 승인액별 이용자 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70271-AF6D-96D6-8A5E-1665B33E28AC}"/>
              </a:ext>
            </a:extLst>
          </p:cNvPr>
          <p:cNvSpPr txBox="1"/>
          <p:nvPr/>
        </p:nvSpPr>
        <p:spPr>
          <a:xfrm>
            <a:off x="3314700" y="2552700"/>
            <a:ext cx="895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방학에 결제한 이용자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6,223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 승인액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본인이 더 낸 돈은 빠짐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63D776C-B066-C021-76F2-3F2B5EC34D84}"/>
              </a:ext>
            </a:extLst>
          </p:cNvPr>
          <p:cNvCxnSpPr/>
          <p:nvPr/>
        </p:nvCxnSpPr>
        <p:spPr>
          <a:xfrm>
            <a:off x="3886200" y="602615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FDE622-1068-5FBC-EF84-8FD94E4A491D}"/>
              </a:ext>
            </a:extLst>
          </p:cNvPr>
          <p:cNvSpPr txBox="1"/>
          <p:nvPr/>
        </p:nvSpPr>
        <p:spPr>
          <a:xfrm>
            <a:off x="3276600" y="591185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F18098D-D85F-6834-FB6F-9833F80EBE58}"/>
              </a:ext>
            </a:extLst>
          </p:cNvPr>
          <p:cNvCxnSpPr/>
          <p:nvPr/>
        </p:nvCxnSpPr>
        <p:spPr>
          <a:xfrm>
            <a:off x="3886200" y="52324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314F8B-9726-A2CC-B4ED-B2EDDF19CAFC}"/>
              </a:ext>
            </a:extLst>
          </p:cNvPr>
          <p:cNvSpPr txBox="1"/>
          <p:nvPr/>
        </p:nvSpPr>
        <p:spPr>
          <a:xfrm>
            <a:off x="3276600" y="511810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B433C1C-FD79-9D8A-E4B3-A8CD69062BDD}"/>
              </a:ext>
            </a:extLst>
          </p:cNvPr>
          <p:cNvCxnSpPr/>
          <p:nvPr/>
        </p:nvCxnSpPr>
        <p:spPr>
          <a:xfrm>
            <a:off x="3886200" y="443865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6F7014-220C-26FF-BE74-DD4202752ABE}"/>
              </a:ext>
            </a:extLst>
          </p:cNvPr>
          <p:cNvSpPr txBox="1"/>
          <p:nvPr/>
        </p:nvSpPr>
        <p:spPr>
          <a:xfrm>
            <a:off x="3276600" y="432435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1,500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E3D1589-2BC4-2A14-5EAB-0EA097FC7682}"/>
              </a:ext>
            </a:extLst>
          </p:cNvPr>
          <p:cNvCxnSpPr/>
          <p:nvPr/>
        </p:nvCxnSpPr>
        <p:spPr>
          <a:xfrm>
            <a:off x="3886200" y="3644900"/>
            <a:ext cx="8382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CB4D984-D071-3AE8-58EB-039B53F9F9F1}"/>
              </a:ext>
            </a:extLst>
          </p:cNvPr>
          <p:cNvSpPr txBox="1"/>
          <p:nvPr/>
        </p:nvSpPr>
        <p:spPr>
          <a:xfrm>
            <a:off x="3276600" y="3530600"/>
            <a:ext cx="5143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2,000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71874F0-81D9-EDEA-804C-E08195072E80}"/>
              </a:ext>
            </a:extLst>
          </p:cNvPr>
          <p:cNvSpPr/>
          <p:nvPr/>
        </p:nvSpPr>
        <p:spPr>
          <a:xfrm>
            <a:off x="39624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C72F70-4205-74A6-0C49-C3AB12B0B9C4}"/>
              </a:ext>
            </a:extLst>
          </p:cNvPr>
          <p:cNvSpPr txBox="1"/>
          <p:nvPr/>
        </p:nvSpPr>
        <p:spPr>
          <a:xfrm>
            <a:off x="38481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ko-KR" altLang="en-US" sz="10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211152-EE80-FFFE-9FE0-8FC55EC66C24}"/>
              </a:ext>
            </a:extLst>
          </p:cNvPr>
          <p:cNvSpPr txBox="1"/>
          <p:nvPr/>
        </p:nvSpPr>
        <p:spPr>
          <a:xfrm>
            <a:off x="38481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~8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33EF853-4B77-6916-F376-C712B5165B06}"/>
              </a:ext>
            </a:extLst>
          </p:cNvPr>
          <p:cNvSpPr/>
          <p:nvPr/>
        </p:nvSpPr>
        <p:spPr>
          <a:xfrm>
            <a:off x="48006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F552AF-08D0-3A8B-27CD-785995C0DD67}"/>
              </a:ext>
            </a:extLst>
          </p:cNvPr>
          <p:cNvSpPr txBox="1"/>
          <p:nvPr/>
        </p:nvSpPr>
        <p:spPr>
          <a:xfrm>
            <a:off x="46863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ko-KR" altLang="en-US" sz="10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D9CAC7-1838-DD99-9F91-16CD75A96ADC}"/>
              </a:ext>
            </a:extLst>
          </p:cNvPr>
          <p:cNvSpPr txBox="1"/>
          <p:nvPr/>
        </p:nvSpPr>
        <p:spPr>
          <a:xfrm>
            <a:off x="46863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~9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142089-1DF9-4EFA-AA45-5721F93FADF5}"/>
              </a:ext>
            </a:extLst>
          </p:cNvPr>
          <p:cNvSpPr/>
          <p:nvPr/>
        </p:nvSpPr>
        <p:spPr>
          <a:xfrm>
            <a:off x="5638800" y="6791325"/>
            <a:ext cx="685800" cy="28575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F45D0D-5931-D5DB-EF97-96927A16F98D}"/>
              </a:ext>
            </a:extLst>
          </p:cNvPr>
          <p:cNvSpPr txBox="1"/>
          <p:nvPr/>
        </p:nvSpPr>
        <p:spPr>
          <a:xfrm>
            <a:off x="5524500" y="654367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endParaRPr lang="ko-KR" altLang="en-US" sz="1050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28B7A5-704D-DF6E-2CFA-36A4EC54129D}"/>
              </a:ext>
            </a:extLst>
          </p:cNvPr>
          <p:cNvSpPr txBox="1"/>
          <p:nvPr/>
        </p:nvSpPr>
        <p:spPr>
          <a:xfrm>
            <a:off x="55245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~1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F159B0-543B-3C64-1593-F46E2CE1F28C}"/>
              </a:ext>
            </a:extLst>
          </p:cNvPr>
          <p:cNvSpPr/>
          <p:nvPr/>
        </p:nvSpPr>
        <p:spPr>
          <a:xfrm>
            <a:off x="6477000" y="6648450"/>
            <a:ext cx="685800" cy="171450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636F70-AB57-164C-0F58-9FAB259F02A5}"/>
              </a:ext>
            </a:extLst>
          </p:cNvPr>
          <p:cNvSpPr txBox="1"/>
          <p:nvPr/>
        </p:nvSpPr>
        <p:spPr>
          <a:xfrm>
            <a:off x="6362700" y="64008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108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D13CD4-3AF6-AFF0-EB42-31407C4792D6}"/>
              </a:ext>
            </a:extLst>
          </p:cNvPr>
          <p:cNvSpPr txBox="1"/>
          <p:nvPr/>
        </p:nvSpPr>
        <p:spPr>
          <a:xfrm>
            <a:off x="63627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~1.6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38B21A-44D7-8F17-E9BA-B21C3A3CCD73}"/>
              </a:ext>
            </a:extLst>
          </p:cNvPr>
          <p:cNvSpPr/>
          <p:nvPr/>
        </p:nvSpPr>
        <p:spPr>
          <a:xfrm>
            <a:off x="7315200" y="6694488"/>
            <a:ext cx="685800" cy="125412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1F1B69-7591-25DB-3B34-4582B2C90FCE}"/>
              </a:ext>
            </a:extLst>
          </p:cNvPr>
          <p:cNvSpPr txBox="1"/>
          <p:nvPr/>
        </p:nvSpPr>
        <p:spPr>
          <a:xfrm>
            <a:off x="7200900" y="644683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E2D314-808C-DD05-A64C-B6C90B132A6C}"/>
              </a:ext>
            </a:extLst>
          </p:cNvPr>
          <p:cNvSpPr txBox="1"/>
          <p:nvPr/>
        </p:nvSpPr>
        <p:spPr>
          <a:xfrm>
            <a:off x="72009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~1.8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D31CF8C-817D-3016-2DB5-8E65A30D062E}"/>
              </a:ext>
            </a:extLst>
          </p:cNvPr>
          <p:cNvSpPr/>
          <p:nvPr/>
        </p:nvSpPr>
        <p:spPr>
          <a:xfrm>
            <a:off x="8153400" y="6607175"/>
            <a:ext cx="685800" cy="212725"/>
          </a:xfrm>
          <a:prstGeom prst="rect">
            <a:avLst/>
          </a:prstGeom>
          <a:solidFill>
            <a:srgbClr val="D0CF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1A4A0-B7D8-6CDF-58A2-FFB9FD20AE4F}"/>
              </a:ext>
            </a:extLst>
          </p:cNvPr>
          <p:cNvSpPr txBox="1"/>
          <p:nvPr/>
        </p:nvSpPr>
        <p:spPr>
          <a:xfrm>
            <a:off x="8039100" y="6359525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134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B758AF-AABA-4BB7-B67D-8CC1121333B7}"/>
              </a:ext>
            </a:extLst>
          </p:cNvPr>
          <p:cNvSpPr txBox="1"/>
          <p:nvPr/>
        </p:nvSpPr>
        <p:spPr>
          <a:xfrm>
            <a:off x="80391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~2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242C50E-0C4B-8009-F0D1-333AAEB00D24}"/>
              </a:ext>
            </a:extLst>
          </p:cNvPr>
          <p:cNvSpPr/>
          <p:nvPr/>
        </p:nvSpPr>
        <p:spPr>
          <a:xfrm>
            <a:off x="8991600" y="5295900"/>
            <a:ext cx="685800" cy="152400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95B176-C0BB-6654-36BF-B0A7317020A7}"/>
              </a:ext>
            </a:extLst>
          </p:cNvPr>
          <p:cNvSpPr txBox="1"/>
          <p:nvPr/>
        </p:nvSpPr>
        <p:spPr>
          <a:xfrm>
            <a:off x="8877300" y="50482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960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1F09A7-7397-EECA-0B73-B97252B0737E}"/>
              </a:ext>
            </a:extLst>
          </p:cNvPr>
          <p:cNvSpPr txBox="1"/>
          <p:nvPr/>
        </p:nvSpPr>
        <p:spPr>
          <a:xfrm>
            <a:off x="88773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~2.4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2FA3176-C08E-C34F-A3BC-A072F1F19A01}"/>
              </a:ext>
            </a:extLst>
          </p:cNvPr>
          <p:cNvSpPr/>
          <p:nvPr/>
        </p:nvSpPr>
        <p:spPr>
          <a:xfrm>
            <a:off x="9829800" y="4376738"/>
            <a:ext cx="685800" cy="2443162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0AC283-812E-3512-183C-F4777A7541AB}"/>
              </a:ext>
            </a:extLst>
          </p:cNvPr>
          <p:cNvSpPr txBox="1"/>
          <p:nvPr/>
        </p:nvSpPr>
        <p:spPr>
          <a:xfrm>
            <a:off x="9715500" y="4129088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1,539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72A696-C726-9D4B-567A-B84C2F9A736D}"/>
              </a:ext>
            </a:extLst>
          </p:cNvPr>
          <p:cNvSpPr txBox="1"/>
          <p:nvPr/>
        </p:nvSpPr>
        <p:spPr>
          <a:xfrm>
            <a:off x="97155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~2.7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6D2B708-2B3E-D9EC-B4BD-8F59D7ECF817}"/>
              </a:ext>
            </a:extLst>
          </p:cNvPr>
          <p:cNvSpPr/>
          <p:nvPr/>
        </p:nvSpPr>
        <p:spPr>
          <a:xfrm>
            <a:off x="10668000" y="5054600"/>
            <a:ext cx="685800" cy="176530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F0CD2B-8FDC-6BEC-73F3-1A664EAD368C}"/>
              </a:ext>
            </a:extLst>
          </p:cNvPr>
          <p:cNvSpPr txBox="1"/>
          <p:nvPr/>
        </p:nvSpPr>
        <p:spPr>
          <a:xfrm>
            <a:off x="10553700" y="48069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1,112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790542-038E-A9AD-CF8D-62E371EF54BF}"/>
              </a:ext>
            </a:extLst>
          </p:cNvPr>
          <p:cNvSpPr txBox="1"/>
          <p:nvPr/>
        </p:nvSpPr>
        <p:spPr>
          <a:xfrm>
            <a:off x="105537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~3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01B15E-E737-DF38-BE9D-F9AB8C0E4FC5}"/>
              </a:ext>
            </a:extLst>
          </p:cNvPr>
          <p:cNvSpPr/>
          <p:nvPr/>
        </p:nvSpPr>
        <p:spPr>
          <a:xfrm>
            <a:off x="11506200" y="3232150"/>
            <a:ext cx="685800" cy="3587750"/>
          </a:xfrm>
          <a:prstGeom prst="rect">
            <a:avLst/>
          </a:prstGeom>
          <a:solidFill>
            <a:srgbClr val="F7BE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2B4D5B-6B15-B78A-DB87-D18C555B0CF4}"/>
              </a:ext>
            </a:extLst>
          </p:cNvPr>
          <p:cNvSpPr txBox="1"/>
          <p:nvPr/>
        </p:nvSpPr>
        <p:spPr>
          <a:xfrm>
            <a:off x="11391900" y="29845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</a:t>
            </a:r>
            <a:endParaRPr lang="ko-KR" altLang="en-US" sz="10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0D2267-E17C-CA42-5F38-35B3BD307ADE}"/>
              </a:ext>
            </a:extLst>
          </p:cNvPr>
          <p:cNvSpPr txBox="1"/>
          <p:nvPr/>
        </p:nvSpPr>
        <p:spPr>
          <a:xfrm>
            <a:off x="11391900" y="691515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</a:t>
            </a: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24DD5567-D71A-87CD-D3C1-79733B89D8E4}"/>
              </a:ext>
            </a:extLst>
          </p:cNvPr>
          <p:cNvCxnSpPr/>
          <p:nvPr/>
        </p:nvCxnSpPr>
        <p:spPr>
          <a:xfrm>
            <a:off x="3886200" y="6819900"/>
            <a:ext cx="8382000" cy="0"/>
          </a:xfrm>
          <a:prstGeom prst="line">
            <a:avLst/>
          </a:prstGeom>
          <a:ln w="9525">
            <a:solidFill>
              <a:srgbClr val="A7A3A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E798EA3-E04E-6F9B-B94B-181F372A73F2}"/>
              </a:ext>
            </a:extLst>
          </p:cNvPr>
          <p:cNvSpPr txBox="1"/>
          <p:nvPr/>
        </p:nvSpPr>
        <p:spPr>
          <a:xfrm>
            <a:off x="3886200" y="72390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이하는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(0.5%)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뿐이고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나머지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99.5%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하루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넘게 결제한 날이 있음</a:t>
            </a:r>
            <a:b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2.4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초과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4,911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(78.9%) · 3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초과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(36.3%,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카드 한 장의 하루 한도를 넘는 금액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0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DECB850-478E-F9E2-C3C4-26C222C52787}"/>
              </a:ext>
            </a:extLst>
          </p:cNvPr>
          <p:cNvCxnSpPr/>
          <p:nvPr/>
        </p:nvCxnSpPr>
        <p:spPr>
          <a:xfrm>
            <a:off x="12553950" y="2247900"/>
            <a:ext cx="0" cy="5524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030ED02-E4DD-F770-1C2D-56DE2342E800}"/>
              </a:ext>
            </a:extLst>
          </p:cNvPr>
          <p:cNvSpPr txBox="1"/>
          <p:nvPr/>
        </p:nvSpPr>
        <p:spPr>
          <a:xfrm>
            <a:off x="12839700" y="224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18,626</a:t>
            </a:r>
            <a:r>
              <a:rPr lang="ko-KR" altLang="en-US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원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D531C9-7366-2F29-C869-2E4BD81C2648}"/>
              </a:ext>
            </a:extLst>
          </p:cNvPr>
          <p:cNvSpPr txBox="1"/>
          <p:nvPr/>
        </p:nvSpPr>
        <p:spPr>
          <a:xfrm>
            <a:off x="12839700" y="2857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평균 카드 승인액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584073-FB69-C3C5-3E6C-B0A7B19566E4}"/>
              </a:ext>
            </a:extLst>
          </p:cNvPr>
          <p:cNvSpPr txBox="1"/>
          <p:nvPr/>
        </p:nvSpPr>
        <p:spPr>
          <a:xfrm>
            <a:off x="12839700" y="3181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승인액 합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6,355,520,400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÷ 341,216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5DDFFFB-EE60-C9D3-ECE7-1B5050957C1A}"/>
              </a:ext>
            </a:extLst>
          </p:cNvPr>
          <p:cNvCxnSpPr/>
          <p:nvPr/>
        </p:nvCxnSpPr>
        <p:spPr>
          <a:xfrm>
            <a:off x="12839700" y="39814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3625202-1E69-497B-B9F6-B5BDD2EF1234}"/>
              </a:ext>
            </a:extLst>
          </p:cNvPr>
          <p:cNvSpPr txBox="1"/>
          <p:nvPr/>
        </p:nvSpPr>
        <p:spPr>
          <a:xfrm>
            <a:off x="12839700" y="4152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82.9%</a:t>
            </a:r>
            <a:endParaRPr lang="ko-KR" altLang="en-US" sz="3750">
              <a:solidFill>
                <a:srgbClr val="2B2320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4FA8AB-3F1A-3297-8E1E-BA222F6BCB15}"/>
              </a:ext>
            </a:extLst>
          </p:cNvPr>
          <p:cNvSpPr txBox="1"/>
          <p:nvPr/>
        </p:nvSpPr>
        <p:spPr>
          <a:xfrm>
            <a:off x="12839700" y="4762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회만 결제한 날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A0A641-E0EE-AB18-29DC-E1422F0340FB}"/>
              </a:ext>
            </a:extLst>
          </p:cNvPr>
          <p:cNvSpPr txBox="1"/>
          <p:nvPr/>
        </p:nvSpPr>
        <p:spPr>
          <a:xfrm>
            <a:off x="12839700" y="5086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이용자별 결제일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284,110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중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235,512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0B1736C-52A1-66FC-5CB4-F9F3CACF3B8B}"/>
              </a:ext>
            </a:extLst>
          </p:cNvPr>
          <p:cNvCxnSpPr/>
          <p:nvPr/>
        </p:nvCxnSpPr>
        <p:spPr>
          <a:xfrm>
            <a:off x="12839700" y="58864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37FC3D0-176C-BDA1-50EF-72FC6495292C}"/>
              </a:ext>
            </a:extLst>
          </p:cNvPr>
          <p:cNvSpPr txBox="1"/>
          <p:nvPr/>
        </p:nvSpPr>
        <p:spPr>
          <a:xfrm>
            <a:off x="12839700" y="605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75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8.4%</a:t>
            </a:r>
            <a:endParaRPr lang="ko-KR" altLang="en-US" sz="3750">
              <a:solidFill>
                <a:srgbClr val="E63946"/>
              </a:solidFill>
              <a:latin typeface="Suseong Dotum" panose="02000600000000000000" pitchFamily="2" charset="-127"/>
              <a:ea typeface="Suseong Dotum" panose="020006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FF21E5-CC8E-9EBB-5F52-6BFDCC350220}"/>
              </a:ext>
            </a:extLst>
          </p:cNvPr>
          <p:cNvSpPr txBox="1"/>
          <p:nvPr/>
        </p:nvSpPr>
        <p:spPr>
          <a:xfrm>
            <a:off x="12839700" y="66675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합계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이상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A93D0FC-B388-1B41-3393-8C2475370100}"/>
              </a:ext>
            </a:extLst>
          </p:cNvPr>
          <p:cNvSpPr txBox="1"/>
          <p:nvPr/>
        </p:nvSpPr>
        <p:spPr>
          <a:xfrm>
            <a:off x="12839700" y="69913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 결제는 </a:t>
            </a:r>
            <a:r>
              <a:rPr lang="en-US" altLang="ko-KR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24.4%, </a:t>
            </a:r>
            <a:r>
              <a:rPr lang="ko-KR" altLang="en-US" sz="127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주문은 카드 한도 근처에서 끊김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0591BBC-1845-6E5E-40BB-D01812EAA2C6}"/>
              </a:ext>
            </a:extLst>
          </p:cNvPr>
          <p:cNvCxnSpPr/>
          <p:nvPr/>
        </p:nvCxnSpPr>
        <p:spPr>
          <a:xfrm>
            <a:off x="3314700" y="815340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083169E-3BEB-AFAE-819D-0DCEC9CD2F56}"/>
              </a:ext>
            </a:extLst>
          </p:cNvPr>
          <p:cNvSpPr txBox="1"/>
          <p:nvPr/>
        </p:nvSpPr>
        <p:spPr>
          <a:xfrm>
            <a:off x="3314700" y="83820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넘는 결제의 출처 </a:t>
            </a: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추정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8C17A2-D3C5-8AEB-8D74-09DAFEB1A776}"/>
              </a:ext>
            </a:extLst>
          </p:cNvPr>
          <p:cNvSpPr txBox="1"/>
          <p:nvPr/>
        </p:nvSpPr>
        <p:spPr>
          <a:xfrm>
            <a:off x="3314700" y="870585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 끼를 한 번에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한도는 신청한 끼니 수만큼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결제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82.9%</a:t>
            </a:r>
          </a:p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형제 카드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초과는 카드 한 장으로 안 되는 금액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(36.3%)</a:t>
            </a:r>
          </a:p>
          <a:p>
            <a:pPr marL="209550" indent="-209550">
              <a:lnSpc>
                <a:spcPct val="130000"/>
              </a:lnSpc>
              <a:spcAft>
                <a:spcPts val="3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본인 돈 추가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승인액에는 없지만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주문 합계가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원에서 끊겨 흔하지 않아 보임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C5094F1-7FED-4E60-E8F8-600E1CCC6BE4}"/>
              </a:ext>
            </a:extLst>
          </p:cNvPr>
          <p:cNvCxnSpPr/>
          <p:nvPr/>
        </p:nvCxnSpPr>
        <p:spPr>
          <a:xfrm>
            <a:off x="10458450" y="8382000"/>
            <a:ext cx="0" cy="12573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7E7D6B0-5AA6-96B0-0D90-9B6CCB1C5F30}"/>
              </a:ext>
            </a:extLst>
          </p:cNvPr>
          <p:cNvSpPr txBox="1"/>
          <p:nvPr/>
        </p:nvSpPr>
        <p:spPr>
          <a:xfrm>
            <a:off x="10744200" y="83820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그래서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 점검의 뜻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F68DF1-BC5F-9FC9-54D0-190F2757C5B6}"/>
              </a:ext>
            </a:extLst>
          </p:cNvPr>
          <p:cNvSpPr txBox="1"/>
          <p:nvPr/>
        </p:nvSpPr>
        <p:spPr>
          <a:xfrm>
            <a:off x="10744200" y="87058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기준은 ‘카드 한 끼 값만으로 한 끼’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끼만 신청했거나 돈을 더 낼 수 없는 아이 기준</a:t>
            </a:r>
            <a:b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쓰는 아이는 막히지 않음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막힌 아이는 로그에 없음</a:t>
            </a:r>
            <a:b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운영 회차 지표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이용자 수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이하 결제 비중</a:t>
            </a:r>
          </a:p>
        </p:txBody>
      </p:sp>
    </p:spTree>
    <p:extLst>
      <p:ext uri="{BB962C8B-B14F-4D97-AF65-F5344CB8AC3E}">
        <p14:creationId xmlns:p14="http://schemas.microsoft.com/office/powerpoint/2010/main" val="2277960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6E5B939-89CF-DDD2-418A-E5A58BFB7E13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E965A01-731A-3448-998E-D490BD57C40F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F3AD1-D915-42D8-BDD0-3CA694F48C0E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12A-AD86-CBD3-9E26-EAEC7E197B94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6D876-1041-442D-CEEF-D818CD1A1AC3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73A97-3345-6C34-46EC-EEB3EA9F687B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902D0D-9615-B033-2DC3-00F3BD851DC1}"/>
              </a:ext>
            </a:extLst>
          </p:cNvPr>
          <p:cNvSpPr/>
          <p:nvPr/>
        </p:nvSpPr>
        <p:spPr>
          <a:xfrm>
            <a:off x="381000" y="5734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ADD69-3DBE-97AE-0EBF-4514B9F7D15D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4DCBA-E5E4-8F9D-9796-097FFF0A4B5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6CEEEF-07EE-D521-456D-F907CE8FD73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1A9DC-EDCE-5F73-A404-DD83C792CE0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22B12-F238-79E9-D8D4-CA141AC16C51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21065-F835-F9DC-D731-9236929F05CA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05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결과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·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제도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대표 사례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A58CB-048F-EAE9-C14E-340E290682CD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가격은 구 단위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배달은 동 단위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나머지는 사각지대 아님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79C0F7E-7FFD-DBD7-3CA5-ECCC64376980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95A503-779F-15C8-DBC9-E51949089D62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BA66E-4F50-EEDC-EA48-2DB9BE8C51F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결과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2026-10-15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설계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docs/topics/T2_pilot_design.md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EE25C-3285-5621-EE49-9A40F51C8481}"/>
              </a:ext>
            </a:extLst>
          </p:cNvPr>
          <p:cNvSpPr txBox="1"/>
          <p:nvPr/>
        </p:nvSpPr>
        <p:spPr>
          <a:xfrm>
            <a:off x="3314700" y="2247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가격형 </a:t>
            </a:r>
            <a:r>
              <a:rPr lang="en-US" altLang="ko-KR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 단위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F5C071-1BC5-B64B-206C-4E485BA5EDB7}"/>
              </a:ext>
            </a:extLst>
          </p:cNvPr>
          <p:cNvSpPr txBox="1"/>
          <p:nvPr/>
        </p:nvSpPr>
        <p:spPr>
          <a:xfrm>
            <a:off x="3314700" y="2590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화원읍 일대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1732F3-18ED-B20C-2038-793CD1715F8C}"/>
              </a:ext>
            </a:extLst>
          </p:cNvPr>
          <p:cNvSpPr txBox="1"/>
          <p:nvPr/>
        </p:nvSpPr>
        <p:spPr>
          <a:xfrm>
            <a:off x="3314700" y="33147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 동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명곡리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본리리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많이 쓰는 대조 동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구라리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 목록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중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 급식 가게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수준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동별 판정 대신 ‘지역 공통 장벽’ 표시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8FC0E80-EF67-7520-C8CF-BE416F133B6E}"/>
              </a:ext>
            </a:extLst>
          </p:cNvPr>
          <p:cNvCxnSpPr/>
          <p:nvPr/>
        </p:nvCxnSpPr>
        <p:spPr>
          <a:xfrm>
            <a:off x="3314700" y="5105400"/>
            <a:ext cx="4953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5CDDE8-3FE6-5F4F-D1DC-74A3401C2928}"/>
              </a:ext>
            </a:extLst>
          </p:cNvPr>
          <p:cNvSpPr txBox="1"/>
          <p:nvPr/>
        </p:nvSpPr>
        <p:spPr>
          <a:xfrm>
            <a:off x="33147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0530B-A52F-05EA-B79C-627DEC497B5F}"/>
              </a:ext>
            </a:extLst>
          </p:cNvPr>
          <p:cNvSpPr txBox="1"/>
          <p:nvPr/>
        </p:nvSpPr>
        <p:spPr>
          <a:xfrm>
            <a:off x="3314700" y="558165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B(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탐색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):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면제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·1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이하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메뉴 가게 모집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 면제 표시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B5CA104-A771-4782-297A-960DE98B44F5}"/>
              </a:ext>
            </a:extLst>
          </p:cNvPr>
          <p:cNvCxnSpPr/>
          <p:nvPr/>
        </p:nvCxnSpPr>
        <p:spPr>
          <a:xfrm>
            <a:off x="3314700" y="6724650"/>
            <a:ext cx="49530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53C24F-EEC3-B667-C1DF-59E3FB2B962C}"/>
              </a:ext>
            </a:extLst>
          </p:cNvPr>
          <p:cNvSpPr txBox="1"/>
          <p:nvPr/>
        </p:nvSpPr>
        <p:spPr>
          <a:xfrm>
            <a:off x="33147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지표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7CE95F-2FA4-1087-A0E6-569E73C1FB45}"/>
              </a:ext>
            </a:extLst>
          </p:cNvPr>
          <p:cNvSpPr txBox="1"/>
          <p:nvPr/>
        </p:nvSpPr>
        <p:spPr>
          <a:xfrm>
            <a:off x="3314700" y="72009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신규 이용자 수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처음 쓴 이용자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 이하 결제 비중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다른 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A02250-3551-0B5E-FFB6-DBEB8C7A2E08}"/>
              </a:ext>
            </a:extLst>
          </p:cNvPr>
          <p:cNvSpPr txBox="1"/>
          <p:nvPr/>
        </p:nvSpPr>
        <p:spPr>
          <a:xfrm>
            <a:off x="3314700" y="8153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대구시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 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31C508B-C2BF-8F7B-6ED2-AF57C2EC99C1}"/>
              </a:ext>
            </a:extLst>
          </p:cNvPr>
          <p:cNvCxnSpPr/>
          <p:nvPr/>
        </p:nvCxnSpPr>
        <p:spPr>
          <a:xfrm>
            <a:off x="8553450" y="2247900"/>
            <a:ext cx="0" cy="6286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FF1C1AE-D39B-8E1C-9CB9-EEDAB7B46534}"/>
              </a:ext>
            </a:extLst>
          </p:cNvPr>
          <p:cNvSpPr txBox="1"/>
          <p:nvPr/>
        </p:nvSpPr>
        <p:spPr>
          <a:xfrm>
            <a:off x="8839200" y="2247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 단위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F2B45B-98AB-823F-9961-D008D71AD816}"/>
              </a:ext>
            </a:extLst>
          </p:cNvPr>
          <p:cNvSpPr txBox="1"/>
          <p:nvPr/>
        </p:nvSpPr>
        <p:spPr>
          <a:xfrm>
            <a:off x="8839200" y="25908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 검단동</a:t>
            </a:r>
            <a:r>
              <a:rPr lang="en-US" altLang="ko-KR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학정동</a:t>
            </a:r>
            <a:r>
              <a:rPr lang="en-US" altLang="ko-KR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논공 금포리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CC2B6D-2EC2-083B-0ED9-AE5850B7A5BD}"/>
              </a:ext>
            </a:extLst>
          </p:cNvPr>
          <p:cNvSpPr txBox="1"/>
          <p:nvPr/>
        </p:nvSpPr>
        <p:spPr>
          <a:xfrm>
            <a:off x="8839200" y="33147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배달 자체가 적음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곳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시간이 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금포리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배달팁은 걸리지 않음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 곳 모두 방학 앞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 반기 연속 하위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중 화원 본리리는 시범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지역 안이라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평가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5DFEB9F-5327-C927-72A0-62BE79050162}"/>
              </a:ext>
            </a:extLst>
          </p:cNvPr>
          <p:cNvCxnSpPr/>
          <p:nvPr/>
        </p:nvCxnSpPr>
        <p:spPr>
          <a:xfrm>
            <a:off x="8839200" y="5105400"/>
            <a:ext cx="476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183C99-3358-D7C8-58B0-086531B097C2}"/>
              </a:ext>
            </a:extLst>
          </p:cNvPr>
          <p:cNvSpPr txBox="1"/>
          <p:nvPr/>
        </p:nvSpPr>
        <p:spPr>
          <a:xfrm>
            <a:off x="88392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1654A-0444-4A5F-FC24-8AA283C6A124}"/>
              </a:ext>
            </a:extLst>
          </p:cNvPr>
          <p:cNvSpPr txBox="1"/>
          <p:nvPr/>
        </p:nvSpPr>
        <p:spPr>
          <a:xfrm>
            <a:off x="8839200" y="558165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A: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정기 배달편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점심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저녁 묶음 배달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가능 급식 가게 우선 노출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EDE57EA-821F-8632-BDD0-B09267736277}"/>
              </a:ext>
            </a:extLst>
          </p:cNvPr>
          <p:cNvCxnSpPr/>
          <p:nvPr/>
        </p:nvCxnSpPr>
        <p:spPr>
          <a:xfrm>
            <a:off x="8839200" y="6724650"/>
            <a:ext cx="4762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B22B6FD-144C-E57D-157C-A740FFB29924}"/>
              </a:ext>
            </a:extLst>
          </p:cNvPr>
          <p:cNvSpPr txBox="1"/>
          <p:nvPr/>
        </p:nvSpPr>
        <p:spPr>
          <a:xfrm>
            <a:off x="88392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지표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9692BF-71C3-6335-FC92-7B4E93EC499E}"/>
              </a:ext>
            </a:extLst>
          </p:cNvPr>
          <p:cNvSpPr txBox="1"/>
          <p:nvPr/>
        </p:nvSpPr>
        <p:spPr>
          <a:xfrm>
            <a:off x="8839200" y="72009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수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아동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명당 결제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 배달 시간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가능 급식 가게 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F96CFD-DCAB-BAF9-3FFA-945D25F1BACB}"/>
              </a:ext>
            </a:extLst>
          </p:cNvPr>
          <p:cNvSpPr txBox="1"/>
          <p:nvPr/>
        </p:nvSpPr>
        <p:spPr>
          <a:xfrm>
            <a:off x="8839200" y="81534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51AA103-1307-C784-E860-AB0790BCE6E6}"/>
              </a:ext>
            </a:extLst>
          </p:cNvPr>
          <p:cNvCxnSpPr/>
          <p:nvPr/>
        </p:nvCxnSpPr>
        <p:spPr>
          <a:xfrm>
            <a:off x="13887450" y="2247900"/>
            <a:ext cx="0" cy="62865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32EDA50-8ED8-2539-EED7-85C18E0933C6}"/>
              </a:ext>
            </a:extLst>
          </p:cNvPr>
          <p:cNvSpPr txBox="1"/>
          <p:nvPr/>
        </p:nvSpPr>
        <p:spPr>
          <a:xfrm>
            <a:off x="14173200" y="22479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사각지대 아님 </a:t>
            </a:r>
            <a:r>
              <a:rPr lang="en-US" altLang="ko-KR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 제외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FDBF1C-DAFC-BB90-E64D-A1A8C26ADD3A}"/>
              </a:ext>
            </a:extLst>
          </p:cNvPr>
          <p:cNvSpPr txBox="1"/>
          <p:nvPr/>
        </p:nvSpPr>
        <p:spPr>
          <a:xfrm>
            <a:off x="14173200" y="25908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18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동구 지묘동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053EB4-D74A-A6DD-E7A7-B29D42CF306A}"/>
              </a:ext>
            </a:extLst>
          </p:cNvPr>
          <p:cNvSpPr txBox="1"/>
          <p:nvPr/>
        </p:nvSpPr>
        <p:spPr>
          <a:xfrm>
            <a:off x="14173200" y="33147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모두 해당</a:t>
            </a:r>
          </a:p>
          <a:p>
            <a:pPr marL="209550" indent="-209550">
              <a:lnSpc>
                <a:spcPct val="130000"/>
              </a:lnSpc>
              <a:spcAft>
                <a:spcPts val="7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그러나 옆 동네 가게에서 주문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1C99507A-B750-67FA-CE26-9CCD95A73618}"/>
              </a:ext>
            </a:extLst>
          </p:cNvPr>
          <p:cNvCxnSpPr/>
          <p:nvPr/>
        </p:nvCxnSpPr>
        <p:spPr>
          <a:xfrm>
            <a:off x="14173200" y="5105400"/>
            <a:ext cx="3505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51894BE-5A8F-FEF6-4EB8-B8A487E12884}"/>
              </a:ext>
            </a:extLst>
          </p:cNvPr>
          <p:cNvSpPr txBox="1"/>
          <p:nvPr/>
        </p:nvSpPr>
        <p:spPr>
          <a:xfrm>
            <a:off x="14173200" y="52959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4DC57C-4CFA-2554-FC1C-696C91CA1862}"/>
              </a:ext>
            </a:extLst>
          </p:cNvPr>
          <p:cNvSpPr txBox="1"/>
          <p:nvPr/>
        </p:nvSpPr>
        <p:spPr>
          <a:xfrm>
            <a:off x="14173200" y="558165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조치 없이 다음 회차 관찰</a:t>
            </a:r>
          </a:p>
          <a:p>
            <a:pPr>
              <a:lnSpc>
                <a:spcPct val="135000"/>
              </a:lnSpc>
            </a:pP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없이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전체에 사업하면</a:t>
            </a:r>
          </a:p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포함될 곳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25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4A67BA1-B32B-CD8B-88B2-9B3500BB48E4}"/>
              </a:ext>
            </a:extLst>
          </p:cNvPr>
          <p:cNvCxnSpPr/>
          <p:nvPr/>
        </p:nvCxnSpPr>
        <p:spPr>
          <a:xfrm>
            <a:off x="14173200" y="6724650"/>
            <a:ext cx="3505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E0F66AC-6A6A-B018-A986-87B1CB5FF8C4}"/>
              </a:ext>
            </a:extLst>
          </p:cNvPr>
          <p:cNvSpPr txBox="1"/>
          <p:nvPr/>
        </p:nvSpPr>
        <p:spPr>
          <a:xfrm>
            <a:off x="14173200" y="69151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지표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065E6B-1DD0-AC34-2598-F196AEDD54D8}"/>
              </a:ext>
            </a:extLst>
          </p:cNvPr>
          <p:cNvSpPr txBox="1"/>
          <p:nvPr/>
        </p:nvSpPr>
        <p:spPr>
          <a:xfrm>
            <a:off x="14173200" y="72009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다음 회차 이동표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 주소 기준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</a:t>
            </a:r>
          </a:p>
          <a:p>
            <a:pPr>
              <a:lnSpc>
                <a:spcPct val="135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동별 급식카드 대상 아동 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D00061-44CD-E907-FA3E-8CD57EE68E29}"/>
              </a:ext>
            </a:extLst>
          </p:cNvPr>
          <p:cNvSpPr txBox="1"/>
          <p:nvPr/>
        </p:nvSpPr>
        <p:spPr>
          <a:xfrm>
            <a:off x="14173200" y="81534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없음</a:t>
            </a:r>
          </a:p>
        </p:txBody>
      </p:sp>
    </p:spTree>
    <p:extLst>
      <p:ext uri="{BB962C8B-B14F-4D97-AF65-F5344CB8AC3E}">
        <p14:creationId xmlns:p14="http://schemas.microsoft.com/office/powerpoint/2010/main" val="381490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D05FD74-3404-9802-CCD3-CC8D80D3E955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2C7EB4-CDF9-2BB8-B27C-07B364AC2EA7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EDF08-10F4-8426-FAC6-5C5389EAE3B1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9EC2C-2BBA-B57E-BC3B-FF495606D863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AA335-29BC-D7B1-5D96-0DB3F07A79DC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732A8-6176-37C3-002F-AB5096D9F94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6FBD9-FB16-91F0-7DC4-846A5A4B1E96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BE075A2-509B-76CB-DB00-AB5798C025F1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046B4-97C8-F11F-7751-BEACCF0D2226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C832EA-CE49-6D1B-BD0A-C8CC4E578B0E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C2190-6B18-72E7-E756-090D09C305A0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7FDF3-BD6C-7259-A7B1-CC73FE1319C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29CCE0-E617-9CDC-C30A-DE86DC66B0A8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유형별 조치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6B3CC-41F8-822A-ACA9-7D9FDC37A802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담당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조치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확인 지표를 판정 유형에 고정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3CC7F56-6EEB-DB9E-B785-024F05F6A731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B48841A-34CB-BDF0-E164-DACD0B3A305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C4C6B-8D3D-DA4F-46F5-7979E2D5A4D7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배달비 지원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매일신문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2024-02-29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 설계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점검표 설계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docs/topics/T2_checkup_tool.md §6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5474DC0-02F4-19C4-4EAB-EC4F7C6EE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707475"/>
              </p:ext>
            </p:extLst>
          </p:nvPr>
        </p:nvGraphicFramePr>
        <p:xfrm>
          <a:off x="3314700" y="2247900"/>
          <a:ext cx="14363700" cy="5924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321898526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67385976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224577984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46116904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663671579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1224889016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걸린 이유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담당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지표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이번 분석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4253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정기 배달편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점심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저녁 묶음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가능 급식 가게 우선 노출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결제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시간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99473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최소주문 면제 가게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 이하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 메뉴 확대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목록 면제 표시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가능 가게 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신규 이용자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공통 장벽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41477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쉬는 등록 가게 다시 살리기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가맹점 모집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점검 순서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주문받는 가게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판단 불가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78596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안내형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안내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전 보호자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아이 모두에게 안내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 끼니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 유형 비중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자료 없음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16819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판단 불가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현장 확인 질문지 → 다음 회차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 회차 유형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90961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사각지대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조치 없음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 회차 관찰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이동표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대상 아동 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7872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FCB56B2-BF82-1A07-1769-5DA58FE3A02D}"/>
              </a:ext>
            </a:extLst>
          </p:cNvPr>
          <p:cNvSpPr txBox="1"/>
          <p:nvPr/>
        </p:nvSpPr>
        <p:spPr>
          <a:xfrm>
            <a:off x="3314700" y="86677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배달비는 이미 지원 중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누적 약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 명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·2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억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천만 원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→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쟁점은 비용이 아니라 배달이 오느냐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877992-8D07-8DFD-71EA-7C0C092B7FB6}"/>
              </a:ext>
            </a:extLst>
          </p:cNvPr>
          <p:cNvSpPr txBox="1"/>
          <p:nvPr/>
        </p:nvSpPr>
        <p:spPr>
          <a:xfrm>
            <a:off x="3314700" y="90297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안내형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약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분의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11%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표본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→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 대상은 보호자와 아이 모두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공급형은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결함으로 이번 회차 판정 불가</a:t>
            </a:r>
          </a:p>
        </p:txBody>
      </p:sp>
    </p:spTree>
    <p:extLst>
      <p:ext uri="{BB962C8B-B14F-4D97-AF65-F5344CB8AC3E}">
        <p14:creationId xmlns:p14="http://schemas.microsoft.com/office/powerpoint/2010/main" val="281105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6F6B068-DB55-6B73-A6FB-324E85E06E43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9FAF14-4E9D-0851-72FC-B05F1998C993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27FCA-2571-343B-8097-D5CA1DE7F0E4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3B0FB-C367-86AD-70C3-8D9484854A05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26C3B-BA78-2311-7224-D9EF450CAFA0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3C320-013C-2569-B3A3-E1F586FA770D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62854-F86F-C646-F0F7-2FA13713534D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142F8C-9B3C-25FB-45CE-A24BE11A262D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E6128-966D-363C-0B6B-8BE58E48A6FA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F1B53-C923-6A61-6F7E-DC84409E2FDF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52453-3E8A-F73E-575D-80D3BEF78445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0D9A3-13AC-9E13-B218-DB0CC0657618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4CE8A-4BA6-C227-B9AB-65E2B134BAF0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기대효과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DBB74-8A98-4C80-F4B2-DCA4220EF1CE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진짜 공백은 작고 몇 곳에 있어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 사업 대신 판정한 곳에 정확히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68DEDC9-8BD8-B3F3-3421-F41C157F455F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8F9308-9CAD-1CA9-4615-85FA6D97DA90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2B8E36-1DE6-8711-44F2-A77E7819FA44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코드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85·80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이용 모형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동네 묶음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R² 0.746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 수는 아동 수와 다름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A2AFB-AF49-E5FE-86D5-255694A30A3C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늘어나는 방학 월 이용자 수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하한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상한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50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5D88D3-1F3D-4D62-6FB4-AEDEE369380D}"/>
              </a:ext>
            </a:extLst>
          </p:cNvPr>
          <p:cNvSpPr txBox="1"/>
          <p:nvPr/>
        </p:nvSpPr>
        <p:spPr>
          <a:xfrm>
            <a:off x="3314700" y="2552700"/>
            <a:ext cx="895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방학 한 달 이용자 수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월평균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3,785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 아래 계산이라 진단 결과와 분리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B7026C0-38F6-6BD3-6618-28ECC0400759}"/>
              </a:ext>
            </a:extLst>
          </p:cNvPr>
          <p:cNvCxnSpPr/>
          <p:nvPr/>
        </p:nvCxnSpPr>
        <p:spPr>
          <a:xfrm>
            <a:off x="6934200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05A3CF3-6906-E0A8-6E24-7EC82CDF686A}"/>
              </a:ext>
            </a:extLst>
          </p:cNvPr>
          <p:cNvSpPr txBox="1"/>
          <p:nvPr/>
        </p:nvSpPr>
        <p:spPr>
          <a:xfrm>
            <a:off x="6648450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94AE4CB-1625-9AA4-FB9F-02DF7BEE9AA3}"/>
              </a:ext>
            </a:extLst>
          </p:cNvPr>
          <p:cNvCxnSpPr/>
          <p:nvPr/>
        </p:nvCxnSpPr>
        <p:spPr>
          <a:xfrm>
            <a:off x="8194862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DF0883-9945-5C31-A038-1B28EED75789}"/>
              </a:ext>
            </a:extLst>
          </p:cNvPr>
          <p:cNvSpPr txBox="1"/>
          <p:nvPr/>
        </p:nvSpPr>
        <p:spPr>
          <a:xfrm>
            <a:off x="7909112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EC4CD5-C8DD-BD94-3CB1-38FBD02875C5}"/>
              </a:ext>
            </a:extLst>
          </p:cNvPr>
          <p:cNvCxnSpPr/>
          <p:nvPr/>
        </p:nvCxnSpPr>
        <p:spPr>
          <a:xfrm>
            <a:off x="9455524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5A9B43-CCC5-F728-718E-5945B66F0C33}"/>
              </a:ext>
            </a:extLst>
          </p:cNvPr>
          <p:cNvSpPr txBox="1"/>
          <p:nvPr/>
        </p:nvSpPr>
        <p:spPr>
          <a:xfrm>
            <a:off x="9169774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2D73700-2CB3-1B51-F635-B2DBD365651B}"/>
              </a:ext>
            </a:extLst>
          </p:cNvPr>
          <p:cNvCxnSpPr/>
          <p:nvPr/>
        </p:nvCxnSpPr>
        <p:spPr>
          <a:xfrm>
            <a:off x="10716185" y="2914650"/>
            <a:ext cx="0" cy="6248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8758F1B-067B-88E5-61AE-9A53B2EAF5D5}"/>
              </a:ext>
            </a:extLst>
          </p:cNvPr>
          <p:cNvSpPr txBox="1"/>
          <p:nvPr/>
        </p:nvSpPr>
        <p:spPr>
          <a:xfrm>
            <a:off x="10430435" y="92202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5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</a:t>
            </a:r>
            <a:endParaRPr lang="ko-KR" altLang="en-US" sz="105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38A179-3A33-8633-0DC0-BE1ED82E125B}"/>
              </a:ext>
            </a:extLst>
          </p:cNvPr>
          <p:cNvSpPr txBox="1"/>
          <p:nvPr/>
        </p:nvSpPr>
        <p:spPr>
          <a:xfrm>
            <a:off x="3314700" y="3086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더 모집하기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어디서나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31511AD-6E98-7B1E-C11C-F43A216C3F6D}"/>
              </a:ext>
            </a:extLst>
          </p:cNvPr>
          <p:cNvSpPr/>
          <p:nvPr/>
        </p:nvSpPr>
        <p:spPr>
          <a:xfrm>
            <a:off x="6934200" y="3162300"/>
            <a:ext cx="57150" cy="209550"/>
          </a:xfrm>
          <a:prstGeom prst="rect">
            <a:avLst/>
          </a:prstGeom>
          <a:solidFill>
            <a:srgbClr val="BFBD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A6A38-574D-2715-0B59-3836B20FE6D4}"/>
              </a:ext>
            </a:extLst>
          </p:cNvPr>
          <p:cNvSpPr txBox="1"/>
          <p:nvPr/>
        </p:nvSpPr>
        <p:spPr>
          <a:xfrm>
            <a:off x="7086600" y="312420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0CD31E-B776-4996-C57B-FE96068BA93F}"/>
              </a:ext>
            </a:extLst>
          </p:cNvPr>
          <p:cNvSpPr txBox="1"/>
          <p:nvPr/>
        </p:nvSpPr>
        <p:spPr>
          <a:xfrm>
            <a:off x="3314700" y="411162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쉬는 등록 가게 다시 살리기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0CD83DB-DEFB-4ACA-7273-ED20E1EA4E67}"/>
              </a:ext>
            </a:extLst>
          </p:cNvPr>
          <p:cNvSpPr/>
          <p:nvPr/>
        </p:nvSpPr>
        <p:spPr>
          <a:xfrm>
            <a:off x="6934200" y="4187825"/>
            <a:ext cx="57150" cy="209550"/>
          </a:xfrm>
          <a:prstGeom prst="rect">
            <a:avLst/>
          </a:prstGeom>
          <a:solidFill>
            <a:srgbClr val="BFBD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9C784F-56C8-AAC5-94F1-80CEF82C8529}"/>
              </a:ext>
            </a:extLst>
          </p:cNvPr>
          <p:cNvSpPr txBox="1"/>
          <p:nvPr/>
        </p:nvSpPr>
        <p:spPr>
          <a:xfrm>
            <a:off x="7086600" y="414972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6B6852-01AA-BC96-90F5-85B38FC393E3}"/>
              </a:ext>
            </a:extLst>
          </p:cNvPr>
          <p:cNvSpPr txBox="1"/>
          <p:nvPr/>
        </p:nvSpPr>
        <p:spPr>
          <a:xfrm>
            <a:off x="3314700" y="513715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모집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 후한 가정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3D5F23-ADBF-AE18-CA3F-5676B0EDA7DF}"/>
              </a:ext>
            </a:extLst>
          </p:cNvPr>
          <p:cNvSpPr/>
          <p:nvPr/>
        </p:nvSpPr>
        <p:spPr>
          <a:xfrm>
            <a:off x="7819185" y="5213350"/>
            <a:ext cx="57150" cy="209550"/>
          </a:xfrm>
          <a:prstGeom prst="rect">
            <a:avLst/>
          </a:prstGeom>
          <a:solidFill>
            <a:srgbClr val="D9D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3F0D7E-DE9A-8291-6EF2-F3B236B98DC8}"/>
              </a:ext>
            </a:extLst>
          </p:cNvPr>
          <p:cNvSpPr txBox="1"/>
          <p:nvPr/>
        </p:nvSpPr>
        <p:spPr>
          <a:xfrm>
            <a:off x="7971585" y="517525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35.1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D1F1F3C-656E-5D87-FD2B-56D8A1BF06E5}"/>
              </a:ext>
            </a:extLst>
          </p:cNvPr>
          <p:cNvCxnSpPr/>
          <p:nvPr/>
        </p:nvCxnSpPr>
        <p:spPr>
          <a:xfrm>
            <a:off x="3314700" y="6048375"/>
            <a:ext cx="8953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9D60355-6C34-7C48-B9D1-695A03F0446E}"/>
              </a:ext>
            </a:extLst>
          </p:cNvPr>
          <p:cNvSpPr txBox="1"/>
          <p:nvPr/>
        </p:nvSpPr>
        <p:spPr>
          <a:xfrm>
            <a:off x="3314700" y="616267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이용 회복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7C8004-A0B0-9961-5880-6966D88BE720}"/>
              </a:ext>
            </a:extLst>
          </p:cNvPr>
          <p:cNvSpPr/>
          <p:nvPr/>
        </p:nvSpPr>
        <p:spPr>
          <a:xfrm>
            <a:off x="7082958" y="6238875"/>
            <a:ext cx="148759" cy="2095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34E7F4-4A9E-16BB-A5C4-22EA702DAA4A}"/>
              </a:ext>
            </a:extLst>
          </p:cNvPr>
          <p:cNvSpPr txBox="1"/>
          <p:nvPr/>
        </p:nvSpPr>
        <p:spPr>
          <a:xfrm>
            <a:off x="7326966" y="620077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5.9~11.8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293D70-99E7-4221-7F8C-F7BC59E8CDBB}"/>
              </a:ext>
            </a:extLst>
          </p:cNvPr>
          <p:cNvSpPr txBox="1"/>
          <p:nvPr/>
        </p:nvSpPr>
        <p:spPr>
          <a:xfrm>
            <a:off x="3314700" y="71882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필요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174B9B6-5FD6-1BC2-D871-FE3F62DD9AA1}"/>
              </a:ext>
            </a:extLst>
          </p:cNvPr>
          <p:cNvSpPr/>
          <p:nvPr/>
        </p:nvSpPr>
        <p:spPr>
          <a:xfrm>
            <a:off x="6934200" y="7264400"/>
            <a:ext cx="1119467" cy="209550"/>
          </a:xfrm>
          <a:prstGeom prst="rect">
            <a:avLst/>
          </a:prstGeom>
          <a:solidFill>
            <a:srgbClr val="A09C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8C6147-B752-F4BC-FE35-4A9004C51055}"/>
              </a:ext>
            </a:extLst>
          </p:cNvPr>
          <p:cNvSpPr txBox="1"/>
          <p:nvPr/>
        </p:nvSpPr>
        <p:spPr>
          <a:xfrm>
            <a:off x="8148917" y="7226300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0~44.4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7147B1-C9C4-9642-9508-A8E98E8A1D3E}"/>
              </a:ext>
            </a:extLst>
          </p:cNvPr>
          <p:cNvSpPr txBox="1"/>
          <p:nvPr/>
        </p:nvSpPr>
        <p:spPr>
          <a:xfrm>
            <a:off x="3314700" y="8213725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없이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전체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겉보기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C18D3DB-1920-7E16-C79F-EFFC1FDCBCC5}"/>
              </a:ext>
            </a:extLst>
          </p:cNvPr>
          <p:cNvSpPr/>
          <p:nvPr/>
        </p:nvSpPr>
        <p:spPr>
          <a:xfrm>
            <a:off x="8963865" y="8289925"/>
            <a:ext cx="2027145" cy="209550"/>
          </a:xfrm>
          <a:prstGeom prst="rect">
            <a:avLst/>
          </a:prstGeom>
          <a:solidFill>
            <a:srgbClr val="D9D7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EFDFA6-704F-AC64-231D-F1202DB035E7}"/>
              </a:ext>
            </a:extLst>
          </p:cNvPr>
          <p:cNvSpPr txBox="1"/>
          <p:nvPr/>
        </p:nvSpPr>
        <p:spPr>
          <a:xfrm>
            <a:off x="11086260" y="8251825"/>
            <a:ext cx="12382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80.5~160.9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FCDF9A2-F59E-84C2-821B-D3CD326341DA}"/>
              </a:ext>
            </a:extLst>
          </p:cNvPr>
          <p:cNvCxnSpPr/>
          <p:nvPr/>
        </p:nvCxnSpPr>
        <p:spPr>
          <a:xfrm>
            <a:off x="12553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037D28D-3D4E-B270-D385-385A04C5F4AC}"/>
              </a:ext>
            </a:extLst>
          </p:cNvPr>
          <p:cNvSpPr txBox="1"/>
          <p:nvPr/>
        </p:nvSpPr>
        <p:spPr>
          <a:xfrm>
            <a:off x="12839700" y="2247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진짜 공백은 작음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1FE9E1-181B-8E7C-8E67-D0EE8E7DA007}"/>
              </a:ext>
            </a:extLst>
          </p:cNvPr>
          <p:cNvSpPr txBox="1"/>
          <p:nvPr/>
        </p:nvSpPr>
        <p:spPr>
          <a:xfrm>
            <a:off x="12839700" y="25717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겉보기 부족분 월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1,337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B275DB-1725-1A25-5DE8-FBE0194CCDAF}"/>
              </a:ext>
            </a:extLst>
          </p:cNvPr>
          <p:cNvSpPr txBox="1"/>
          <p:nvPr/>
        </p:nvSpPr>
        <p:spPr>
          <a:xfrm>
            <a:off x="12839700" y="29146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8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98</a:t>
            </a:r>
            <a:r>
              <a:rPr lang="ko-KR" altLang="en-US" sz="48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건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EC9633-EA6D-396B-7B17-72EAE9852309}"/>
              </a:ext>
            </a:extLst>
          </p:cNvPr>
          <p:cNvSpPr txBox="1"/>
          <p:nvPr/>
        </p:nvSpPr>
        <p:spPr>
          <a:xfrm>
            <a:off x="14458950" y="3162300"/>
            <a:ext cx="3219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판정으로 확정한 공백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01A166-98A0-5232-AEF9-554EA0379E39}"/>
              </a:ext>
            </a:extLst>
          </p:cNvPr>
          <p:cNvSpPr txBox="1"/>
          <p:nvPr/>
        </p:nvSpPr>
        <p:spPr>
          <a:xfrm>
            <a:off x="12839700" y="37719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사각지대 아님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(65%) 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필요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369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5531EEB-99F6-F87D-1A51-FB9B0EEE5560}"/>
              </a:ext>
            </a:extLst>
          </p:cNvPr>
          <p:cNvCxnSpPr/>
          <p:nvPr/>
        </p:nvCxnSpPr>
        <p:spPr>
          <a:xfrm>
            <a:off x="12839700" y="42862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B36B97B-ABAC-B588-C22C-0EEAE0A3661D}"/>
              </a:ext>
            </a:extLst>
          </p:cNvPr>
          <p:cNvSpPr txBox="1"/>
          <p:nvPr/>
        </p:nvSpPr>
        <p:spPr>
          <a:xfrm>
            <a:off x="12839700" y="45148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동네에선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1.6~2.1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9A80D7-B49F-0582-30D4-307DDB586ADD}"/>
              </a:ext>
            </a:extLst>
          </p:cNvPr>
          <p:cNvSpPr txBox="1"/>
          <p:nvPr/>
        </p:nvSpPr>
        <p:spPr>
          <a:xfrm>
            <a:off x="12839700" y="48387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10</a:t>
            </a:r>
            <a:r>
              <a:rPr lang="ko-KR" altLang="en-US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명 → </a:t>
            </a:r>
            <a:r>
              <a:rPr lang="en-US" altLang="ko-KR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16~22</a:t>
            </a:r>
            <a:r>
              <a:rPr lang="ko-KR" altLang="en-US" sz="30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명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B64DC2-A278-633E-3EE7-B30F781C5A46}"/>
              </a:ext>
            </a:extLst>
          </p:cNvPr>
          <p:cNvSpPr txBox="1"/>
          <p:nvPr/>
        </p:nvSpPr>
        <p:spPr>
          <a:xfrm>
            <a:off x="12839700" y="54292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방학 월 이용자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이용의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50~100%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회복 시 </a:t>
            </a:r>
            <a:r>
              <a:rPr lang="en-US" altLang="ko-KR" sz="127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+57~114%</a:t>
            </a:r>
            <a:b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기대 모형으로는 최대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+26.7~40.8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모형이 가장 작게 잡음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E34BD57-6CF3-4E3F-4AAA-F00345AAC8C8}"/>
              </a:ext>
            </a:extLst>
          </p:cNvPr>
          <p:cNvCxnSpPr/>
          <p:nvPr/>
        </p:nvCxnSpPr>
        <p:spPr>
          <a:xfrm>
            <a:off x="12839700" y="6686550"/>
            <a:ext cx="4838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963812A-D5D5-4128-2EDA-2ACBC34E3D2C}"/>
              </a:ext>
            </a:extLst>
          </p:cNvPr>
          <p:cNvSpPr txBox="1"/>
          <p:nvPr/>
        </p:nvSpPr>
        <p:spPr>
          <a:xfrm>
            <a:off x="12839700" y="69151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헛수고를 막는 효과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F18A4D-BE2C-E308-0750-AC81EFB1E4A8}"/>
              </a:ext>
            </a:extLst>
          </p:cNvPr>
          <p:cNvSpPr txBox="1"/>
          <p:nvPr/>
        </p:nvSpPr>
        <p:spPr>
          <a:xfrm>
            <a:off x="12839700" y="723900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없이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전체에 사업하면</a:t>
            </a:r>
            <a:b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부족분의 약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분의 </a:t>
            </a:r>
            <a:r>
              <a:rPr lang="en-US" altLang="ko-KR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3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사각지대 아닌 곳에서 추적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724C2A-ACAB-48DA-1034-93D8B1F3BE00}"/>
              </a:ext>
            </a:extLst>
          </p:cNvPr>
          <p:cNvSpPr txBox="1"/>
          <p:nvPr/>
        </p:nvSpPr>
        <p:spPr>
          <a:xfrm>
            <a:off x="12839700" y="7981950"/>
            <a:ext cx="483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모집은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→ 큰 사업 대신 매 방학 같은 로그로 다시 판정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점검표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회차당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1~2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인일 추정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22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760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68B8023-B4FF-3E93-97C3-0BEFFA5C2B9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E683DA-E205-4B6B-E30D-463E75A6FBDB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FC86C-3C28-5E1B-24E6-98A0E67D2DA5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345F-C3F7-AEFB-70ED-5C3BE0C0A8AA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06B40-8F8F-F36D-A9FC-8453FCAF1433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7AB8FD-C46D-A5E0-873E-5F4D5E458BD6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99A37-8076-0D63-ED29-5E8458E48D7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6A6C19-CD5B-9227-FBB2-F9F4D3A3D1F9}"/>
              </a:ext>
            </a:extLst>
          </p:cNvPr>
          <p:cNvSpPr/>
          <p:nvPr/>
        </p:nvSpPr>
        <p:spPr>
          <a:xfrm>
            <a:off x="381000" y="6686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42B10-1A5F-048D-CD53-BED3ED93FAB2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DDD96D-4B62-D0FB-14A3-378E9ADBD72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DCD943-A69F-9C4F-C1F4-56CC14AD6629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F1A7D-77A7-73B0-148F-AFB5C104B77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C035C8-41FB-27AD-0C42-33E7C908EF6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06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해결방안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점검표 제도화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E81DF-9CA6-4346-7AFA-BBB1EE3065F8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운영사 재공모 협약에 ‘방학 급식 사각지대 점검표’ 제출 조항을 넣음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2B29630-9DC6-4EDC-5919-68F05F64B2D7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ACE440-D6E5-764F-7E06-0B48C669F13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1670AE-BFE1-6DD5-52A0-82D49974C68D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docs/topics/T2_checkup_tool.md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docs/topics/T2_pilot_design.md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일정과 시범 지역은 제안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A25B99-FFE0-5522-0C6A-1C4AAAF95453}"/>
              </a:ext>
            </a:extLst>
          </p:cNvPr>
          <p:cNvSpPr txBox="1"/>
          <p:nvPr/>
        </p:nvSpPr>
        <p:spPr>
          <a:xfrm>
            <a:off x="3314700" y="22479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 절차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 방학 종료 후 </a:t>
            </a:r>
            <a:r>
              <a:rPr lang="en-US" altLang="ko-KR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이내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B1E0F48-21F7-81DD-EB1D-14D8BDE3D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004259"/>
              </p:ext>
            </p:extLst>
          </p:nvPr>
        </p:nvGraphicFramePr>
        <p:xfrm>
          <a:off x="3314700" y="2667000"/>
          <a:ext cx="6667500" cy="33718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40994582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69623244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16768427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할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76324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자료 점검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실제 오류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종을 점검 항목화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합계 대조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취소율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코드 연결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3995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덜 쓰는 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회차 문턱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첫 회 문턱 고정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추적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지속성 표시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8107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가지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규칙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(D-019)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그대로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가린 칸 두 번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66039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담당 배정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구청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(20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쪽 해결방안 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42627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1275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추적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다음 회차 지표로 효과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483676"/>
                  </a:ext>
                </a:extLst>
              </a:tr>
            </a:tbl>
          </a:graphicData>
        </a:graphic>
      </p:graphicFrame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A1FEE0E-5683-38AF-33EC-E9E9101014D6}"/>
              </a:ext>
            </a:extLst>
          </p:cNvPr>
          <p:cNvCxnSpPr/>
          <p:nvPr/>
        </p:nvCxnSpPr>
        <p:spPr>
          <a:xfrm>
            <a:off x="3314700" y="6343650"/>
            <a:ext cx="6667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4EF8485-4D9F-9286-2077-EFBBD4FBA789}"/>
              </a:ext>
            </a:extLst>
          </p:cNvPr>
          <p:cNvSpPr txBox="1"/>
          <p:nvPr/>
        </p:nvSpPr>
        <p:spPr>
          <a:xfrm>
            <a:off x="3314700" y="65722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협약 조항안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6DB3F-1E8E-10C1-CD7C-147BF1439023}"/>
              </a:ext>
            </a:extLst>
          </p:cNvPr>
          <p:cNvSpPr txBox="1"/>
          <p:nvPr/>
        </p:nvSpPr>
        <p:spPr>
          <a:xfrm>
            <a:off x="3314700" y="69151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2000"/>
              </a:lnSpc>
            </a:pP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“운영자는 매 방학 종료 후 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이내에 ‘방학 급식 사각지대 점검표’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법정동별 이용 지표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이유 판정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작성하여 시에 제출한다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공개본은 동 단위 집계로 작성하며 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미만 칸은 가린다</a:t>
            </a:r>
            <a:r>
              <a:rPr lang="en-US" altLang="ko-KR" sz="1350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.”</a:t>
            </a:r>
            <a:endParaRPr lang="ko-KR" altLang="en-US" sz="1350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36A547-28DD-52BD-EE30-7D9182FB063C}"/>
              </a:ext>
            </a:extLst>
          </p:cNvPr>
          <p:cNvSpPr txBox="1"/>
          <p:nvPr/>
        </p:nvSpPr>
        <p:spPr>
          <a:xfrm>
            <a:off x="3314700" y="843915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협약 종료 시 동 단위 집계 인계 조항 </a:t>
            </a:r>
            <a:r>
              <a:rPr lang="en-US" altLang="ko-KR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이번 분석</a:t>
            </a:r>
            <a:r>
              <a:rPr lang="en-US" altLang="ko-KR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</a:t>
            </a:r>
            <a:r>
              <a:rPr lang="ko-KR" altLang="en-US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  <a:r>
              <a:rPr lang="en-US" altLang="ko-KR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= </a:t>
            </a:r>
            <a:r>
              <a:rPr lang="ko-KR" altLang="en-US" sz="1200" b="1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첫 기준선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29B98D-2A01-0C87-2B32-B0016836A7AB}"/>
              </a:ext>
            </a:extLst>
          </p:cNvPr>
          <p:cNvSpPr txBox="1"/>
          <p:nvPr/>
        </p:nvSpPr>
        <p:spPr>
          <a:xfrm>
            <a:off x="3314700" y="88392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시점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 운영사 협약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2026-12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종료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 운영사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2027-01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부터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b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공모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10/12~11/10,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아이뉴스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 2026-10-11)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B63E7ED-FB98-7A56-EAD0-AA8A54AAF0A3}"/>
              </a:ext>
            </a:extLst>
          </p:cNvPr>
          <p:cNvCxnSpPr/>
          <p:nvPr/>
        </p:nvCxnSpPr>
        <p:spPr>
          <a:xfrm>
            <a:off x="1036320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6DB40D-DB15-E533-729C-318AA505B8CD}"/>
              </a:ext>
            </a:extLst>
          </p:cNvPr>
          <p:cNvSpPr txBox="1"/>
          <p:nvPr/>
        </p:nvSpPr>
        <p:spPr>
          <a:xfrm>
            <a:off x="10744200" y="224790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로드맵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C92CF9C-62AD-3496-225A-FFEC02741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76556"/>
              </p:ext>
            </p:extLst>
          </p:nvPr>
        </p:nvGraphicFramePr>
        <p:xfrm>
          <a:off x="10744200" y="2667000"/>
          <a:ext cx="6934200" cy="2552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405239147"/>
                    </a:ext>
                  </a:extLst>
                </a:gridCol>
                <a:gridCol w="5219700">
                  <a:extLst>
                    <a:ext uri="{9D8B030D-6E8A-4147-A177-3AD203B41FA5}">
                      <a16:colId xmlns:a16="http://schemas.microsoft.com/office/drawing/2014/main" val="20469649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시점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할 일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37989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2026-11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협약 조항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23353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2027-01·02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시범 전 기준 측정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093665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2027-03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회차 점검표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59929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2027-08~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시범 </a:t>
                      </a:r>
                      <a:r>
                        <a:rPr lang="en-US" altLang="ko-KR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년차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79365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2028-03</a:t>
                      </a:r>
                      <a:endParaRPr lang="ko-KR" altLang="en-US" sz="120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중간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70948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0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2029-03</a:t>
                      </a:r>
                      <a:endParaRPr lang="ko-KR" altLang="en-US" sz="1200" b="1">
                        <a:solidFill>
                          <a:srgbClr val="E63946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76719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8FEF923-18AF-3568-E9A6-D26636D3F5D8}"/>
              </a:ext>
            </a:extLst>
          </p:cNvPr>
          <p:cNvSpPr txBox="1"/>
          <p:nvPr/>
        </p:nvSpPr>
        <p:spPr>
          <a:xfrm>
            <a:off x="10744200" y="53149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2027-04~07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준비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정기 배달편 설계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화원읍 면제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·1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 메뉴 가게 모집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 면제 표시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9FF1279F-CDAB-FD8A-52E1-129405BE3BB4}"/>
              </a:ext>
            </a:extLst>
          </p:cNvPr>
          <p:cNvCxnSpPr/>
          <p:nvPr/>
        </p:nvCxnSpPr>
        <p:spPr>
          <a:xfrm>
            <a:off x="10744200" y="5867400"/>
            <a:ext cx="6934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9537BE-B934-6234-6E8C-E5DF027BF473}"/>
              </a:ext>
            </a:extLst>
          </p:cNvPr>
          <p:cNvSpPr txBox="1"/>
          <p:nvPr/>
        </p:nvSpPr>
        <p:spPr>
          <a:xfrm>
            <a:off x="10744200" y="607695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</a:t>
            </a: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· 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23DB3E-F5F0-41BD-20CE-0518E9D1816B}"/>
              </a:ext>
            </a:extLst>
          </p:cNvPr>
          <p:cNvSpPr txBox="1"/>
          <p:nvPr/>
        </p:nvSpPr>
        <p:spPr>
          <a:xfrm>
            <a:off x="12268200" y="6057900"/>
            <a:ext cx="541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북구 학정동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검단동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논공 금포리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C668884-229B-DD30-66DB-0541C8AB0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19760"/>
              </p:ext>
            </p:extLst>
          </p:nvPr>
        </p:nvGraphicFramePr>
        <p:xfrm>
          <a:off x="10744200" y="6477000"/>
          <a:ext cx="6934200" cy="1181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059176796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157217976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312693153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기간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구별 가능한 최소 증가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기대 증가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 </a:t>
                      </a:r>
                      <a:r>
                        <a:rPr lang="en-US" altLang="ko-KR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B)</a:t>
                      </a:r>
                      <a:endParaRPr lang="ko-KR" altLang="en-US" sz="1125" b="1">
                        <a:solidFill>
                          <a:srgbClr val="59524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8721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+75%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+47~95%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64914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+49%</a:t>
                      </a:r>
                      <a:endParaRPr lang="ko-KR" altLang="en-US" sz="127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+47~95%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26619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0DEB063-075B-F98C-860E-06BE54311121}"/>
              </a:ext>
            </a:extLst>
          </p:cNvPr>
          <p:cNvSpPr txBox="1"/>
          <p:nvPr/>
        </p:nvSpPr>
        <p:spPr>
          <a:xfrm>
            <a:off x="10744200" y="77533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자연 변동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반기 표준편차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0.200,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 → 처음부터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판정 설계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시범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B(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화원읍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배달형 본리리 포함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가격형 탐색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2F1AD4F-3DE3-D922-B2C6-0367AB303971}"/>
              </a:ext>
            </a:extLst>
          </p:cNvPr>
          <p:cNvCxnSpPr/>
          <p:nvPr/>
        </p:nvCxnSpPr>
        <p:spPr>
          <a:xfrm>
            <a:off x="10744200" y="8439150"/>
            <a:ext cx="69342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FEB80FF-37A4-ADB0-73C6-B7D1BF4C7190}"/>
              </a:ext>
            </a:extLst>
          </p:cNvPr>
          <p:cNvSpPr txBox="1"/>
          <p:nvPr/>
        </p:nvSpPr>
        <p:spPr>
          <a:xfrm>
            <a:off x="10744200" y="86296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EAE145-CE60-1144-46F6-88B95CE24D28}"/>
              </a:ext>
            </a:extLst>
          </p:cNvPr>
          <p:cNvSpPr txBox="1"/>
          <p:nvPr/>
        </p:nvSpPr>
        <p:spPr>
          <a:xfrm>
            <a:off x="10744200" y="8972550"/>
            <a:ext cx="6934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 자료 수집 없음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집계표 → 판정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 노트북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회차당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1~2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인일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추정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급식카드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공공배달앱을 쓰는 다른 지자체 </a:t>
            </a:r>
            <a:r>
              <a:rPr lang="en-US" altLang="ko-KR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매장 결제 결합 시 앱 밖 이용까지</a:t>
            </a:r>
          </a:p>
        </p:txBody>
      </p:sp>
    </p:spTree>
    <p:extLst>
      <p:ext uri="{BB962C8B-B14F-4D97-AF65-F5344CB8AC3E}">
        <p14:creationId xmlns:p14="http://schemas.microsoft.com/office/powerpoint/2010/main" val="2359802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D1C34DF-38D6-803B-3C31-6C4804C7B3C5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9A1E0C-3508-5D13-2811-0B021FC64876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C31D1-97B7-EFFE-A366-213810739636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6E233-0BDD-1C28-5583-44B12A14AFF9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CDE5E-DD4E-C989-0A78-BC2B8CD4CB4F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4F080-60D0-7756-8A6D-3F8C3FD95F78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CE9EA-2754-6BA8-CEF9-0F4711E8128F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1D1E1C-21F4-5E24-2DF1-DF3B34A8DFBF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A11E51-350E-F0A1-4A08-D0315BFD483B}"/>
              </a:ext>
            </a:extLst>
          </p:cNvPr>
          <p:cNvSpPr/>
          <p:nvPr/>
        </p:nvSpPr>
        <p:spPr>
          <a:xfrm>
            <a:off x="381000" y="76390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A2FEC-734A-E72B-EF57-1E1643DEFB9A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DDDE9-1EAB-B883-9D48-B85041547956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D94D6-B6C1-20B2-38C3-8A2E4143D75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DDD79E-D80C-2371-5E3F-4910C39AB7B3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07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한계와 대응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D90FF-19B0-5315-0B0E-EFFBA6C49A15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지표는 배달 경로 접근성의 하한이고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판단 불가와 사후 개정은 숨기지 않고 기록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ACBB91C-AF25-A0F8-4851-4578D2CB1290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4818644-02BC-8EBA-5F9E-73986908E862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B7EAB1-7442-0224-D1D9-F9517308DD78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§7.1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주장 범위 한정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D-019 · 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결함 처리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docs/topics/T2_export_1016_results.md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2D8D792-EDD3-D2E8-0049-C332D7CB8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609845"/>
              </p:ext>
            </p:extLst>
          </p:nvPr>
        </p:nvGraphicFramePr>
        <p:xfrm>
          <a:off x="3314700" y="2247900"/>
          <a:ext cx="14363700" cy="7296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905500">
                  <a:extLst>
                    <a:ext uri="{9D8B030D-6E8A-4147-A177-3AD203B41FA5}">
                      <a16:colId xmlns:a16="http://schemas.microsoft.com/office/drawing/2014/main" val="755784028"/>
                    </a:ext>
                  </a:extLst>
                </a:gridCol>
                <a:gridCol w="8458200">
                  <a:extLst>
                    <a:ext uri="{9D8B030D-6E8A-4147-A177-3AD203B41FA5}">
                      <a16:colId xmlns:a16="http://schemas.microsoft.com/office/drawing/2014/main" val="190090312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대응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54522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대구로는 사용처 중 하나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편의점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일반음식점 매장 결제는 미관측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경로 접근성의 하한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기대효과는 ‘식당 한 끼로 가는 경로 회복’으로 한정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 회차에서 시 보유 매장 결제 결합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8512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덜 쓰는 동의 편의점 대체 가능성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‘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경로’ 이유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지역아동센터 정원</a:t>
                      </a:r>
                      <a:r>
                        <a:rPr lang="en-US" altLang="ko-KR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350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미포착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‘다른 경로’는 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?’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유지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근거로 쓰지 않음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3211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위치는 아이 집이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 이용 판정으로 보정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4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이동표 결함 → 이웃 동 비교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약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대체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53074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성인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(30·40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소득 대리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‘간접’ 근거로 표시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 회차에서 동별 급식카드 대상 아동 수로 교체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1240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배달형 판정은 부분 설명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여건은 아동 수 대비 이용이 적은 이유만 설명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배달도 함께 줄어 급식 비중 지수는 설명 못 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시범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33844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점검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2026-10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단가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기준 ‘지금 남은 장벽’으로만 해석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0919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본인이 더 낸 돈은 안 보임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금액은 카드 승인액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주문 합계 분포로 간접 확인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원에서 끊김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운영 회차에서 ‘카드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결제’ 비율 확인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4179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이용자 수는 아동 수와 다름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효과 단위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한 달 이용자 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이용자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앱 회원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형제 카드 합산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보호자 명의 가능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8086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반출 결함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미리 정한 대체 규칙으로 판정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이유는 전부 판단 불가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재반출 시 수정 목록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약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보유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04745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결과 확인 후 바꾼 규칙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개정 전 판정 함께 공개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(9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쪽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1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20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282CC1B-8E7E-C62A-4B02-3D7912B94437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6044F2-6615-E7DA-7BF9-BBD385DCEE23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18433-A52A-BD84-B2E4-F72E96ADCAAC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6E370-91B2-58B8-22C0-A92F3FCEF5A7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0FA11-1EF5-AC9E-5A56-0DD22C8150C7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2EA8B-13D4-E51B-2D08-E3EC764931A0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13172-91D7-6661-54E6-532F26617474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6C6B6-B452-F172-35B6-5C1A00015B0C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5720C-A6B6-57C3-FEAF-60DD3DEFB77B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C7597F-5D4E-EF30-9515-6E248AD10AEF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05F774-C381-BF5C-C3A4-C206D6C5598D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68294-93F4-1C49-AF84-51614D85AF26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A697B-21A5-5CE7-8054-C9B13A59E5C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1: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활용 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9ADC2-972A-5AD4-846E-63E6E7CEED95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미개방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종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공개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종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현장 확인을 가맹점 법정동과 행정동으로 연결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A3F7C85-6A39-CFC2-BA0E-41874FAED736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801313-694F-087E-71E4-8A04D8A1A09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F832AC9-C57D-55E9-8042-852E5B785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82120"/>
              </p:ext>
            </p:extLst>
          </p:nvPr>
        </p:nvGraphicFramePr>
        <p:xfrm>
          <a:off x="3314700" y="2247900"/>
          <a:ext cx="14363700" cy="68389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76937946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8292168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81607780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05088123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05097833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097538980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제공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쓰임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36852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결제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2023-06~2025-06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 → 가게 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결제 집계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금액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833779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가맹점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현재 상태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급식카드 등록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영업 상태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주소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40437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배달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경북대 첨단정보통신융합산업기술원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2023-06~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이용자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시간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배달팁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이용자 연령대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2237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E63946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미개방 상호제공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KCB 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 소득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한국데이터산업진흥원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(KCB)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2023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연령대별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부모 세대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(30·40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저소득 비율 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필요의 대리 지표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2856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주민등록 연령별 인구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행정안전부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2023-06~2025-06</a:t>
                      </a:r>
                    </a:p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6~18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 아이 수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65377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 대응표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행정안전부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2025-06-30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대응 관계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와 가게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를 잇는 동네 묶음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50829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리 경계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국가공간정보포털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2026-09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지도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이웃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669397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현장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현장 확인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동구청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대구시청 복지과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앱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2026-10</a:t>
                      </a:r>
                      <a:endParaRPr lang="ko-KR" altLang="en-US" sz="127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 방식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2026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단가</a:t>
                      </a:r>
                      <a:r>
                        <a:rPr lang="en-US" altLang="ko-KR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1</a:t>
                      </a:r>
                      <a:r>
                        <a:rPr lang="ko-KR" altLang="en-US" sz="127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끼로 시킬 수 있는 가게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91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628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160D904-4E6C-FFDC-0DF3-EAB192A99085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75B8D03-3781-1D44-0D49-5EB529FD8D8B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471B5-9E4C-247A-541F-34E0158C9596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CF6FC-FEBC-3849-46E7-43B0A3A9F589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E3F53-F655-622D-3DD8-8EF8EF890BC3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972CF-E39E-4B51-55B1-45A693274794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72FB8-FE43-404F-37EA-8029D3DEBED4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64AC9-F626-A3C6-206B-6D6A91196750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8D67C-6F50-2B78-0D4F-BDABA1A4ACAA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A20D34-EFDC-F773-75FE-841ABF5E42AA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F24A5-68AF-FD50-F5F2-085EC14ED2A8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0E7AA-EEC2-6955-DA5B-3F5BA264F169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B1965-74E7-EA0F-90C4-9AD088372A0B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2: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방문과 반출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39DCC-98D8-5540-CC90-AD30A37B6A6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데이터안심구역 방문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회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반출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회의 기록과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4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차 결함 처리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A654CED-B99B-BA0F-0C12-7C3A60B9EC8E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6C00C8-8B13-DDBC-35B7-368365F13028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7EFBA6-3DAA-53DC-53CE-BEE9F06F05ED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가림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미만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역산 칸 보완 가림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전 자동 검사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0C2D5D28-7282-EAA7-79BE-C5553C9D0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280407"/>
              </p:ext>
            </p:extLst>
          </p:nvPr>
        </p:nvGraphicFramePr>
        <p:xfrm>
          <a:off x="3314700" y="2247900"/>
          <a:ext cx="14363700" cy="31813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87298153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8293692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340511284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39921256"/>
                    </a:ext>
                  </a:extLst>
                </a:gridCol>
                <a:gridCol w="4933950">
                  <a:extLst>
                    <a:ext uri="{9D8B030D-6E8A-4147-A177-3AD203B41FA5}">
                      <a16:colId xmlns:a16="http://schemas.microsoft.com/office/drawing/2014/main" val="110353208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회차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 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반출물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발견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99183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2026-09-11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급식카드 결제가 언제 있나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월별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요일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시간대별 집계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방학이 결제의 절반 이상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이용자는 학기의 약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27753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2026-09-18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 정의 확정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결제와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월별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시간대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가맹점 표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급식은 점심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오후가 두껍고 저녁 피크가 얇다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23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시에 끊긴다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11538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2026-10-02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단위로 나누기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시기별 결제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금액 분포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방학에 덜 쓰는 동네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37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아이 수로 봐도 적은 우선 점검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5589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현장 확인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2026-10-08 ~ 10-15</a:t>
                      </a:r>
                      <a:endParaRPr lang="ko-KR" altLang="en-US" sz="1125" b="0">
                        <a:solidFill>
                          <a:srgbClr val="59524F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구청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시청 문의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대구로 앱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 방식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2026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단가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인분 목록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결제는 하루 한도로만 막힌다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2026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년 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 원</a:t>
                      </a:r>
                      <a:r>
                        <a:rPr lang="en-US" altLang="ko-KR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 </a:t>
                      </a:r>
                      <a:r>
                        <a:rPr lang="ko-KR" altLang="en-US" sz="1125" b="0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최소주문 면제 가게가 있으나 목록에 안 보인다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16988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방문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2026-10-16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상태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소득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이동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결제 금액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집계표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(6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개는 일부 결함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판정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사각지대 아님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·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개선 대상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 · </a:t>
                      </a:r>
                      <a:r>
                        <a:rPr lang="ko-KR" altLang="en-US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확인 필요 </a:t>
                      </a:r>
                      <a:r>
                        <a:rPr lang="en-US" altLang="ko-KR" sz="1125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1125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34983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579B761-0308-CF25-A1C4-FD59E995C065}"/>
              </a:ext>
            </a:extLst>
          </p:cNvPr>
          <p:cNvSpPr txBox="1"/>
          <p:nvPr/>
        </p:nvSpPr>
        <p:spPr>
          <a:xfrm>
            <a:off x="3314700" y="5810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반출 결함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건과 처리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손입력 오류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미리 정한 대체 규칙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425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0F70955-5825-B62E-73DE-10CF875AA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76275"/>
              </p:ext>
            </p:extLst>
          </p:nvPr>
        </p:nvGraphicFramePr>
        <p:xfrm>
          <a:off x="3314700" y="6229350"/>
          <a:ext cx="14363700" cy="20764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1217031236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1897996534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3728440632"/>
                    </a:ext>
                  </a:extLst>
                </a:gridCol>
                <a:gridCol w="4552950">
                  <a:extLst>
                    <a:ext uri="{9D8B030D-6E8A-4147-A177-3AD203B41FA5}">
                      <a16:colId xmlns:a16="http://schemas.microsoft.com/office/drawing/2014/main" val="11277908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원인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영향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처리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49087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 결제 추출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반복문 안에 들어가야 할 한 줄이 밖으로 나가 마지막 덩어리만 담김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가게 현황의 급식 칸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집→가게 이동표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 대 나머지 비교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이유는 판단 불가로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 이유는 이웃 동네 비교로 대신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미리 정한 규칙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0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18818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여건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 조건과 취소 조건 오타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취소율을 쓸 수 없음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매달 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1~20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일만 집계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 시간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배달팁만 사용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45900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0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KCB </a:t>
                      </a:r>
                      <a:r>
                        <a:rPr lang="ko-KR" altLang="en-US" sz="10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소득 연결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KCB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 출장소 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논공 공단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다사 서재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을 본 읍에 합쳐 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논공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다사 동네 묶음의 필요 판정이 비었음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출장소를 본 읍에 연결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인구로 확인</a:t>
                      </a:r>
                      <a:r>
                        <a:rPr lang="en-US" altLang="ko-KR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). </a:t>
                      </a:r>
                      <a:r>
                        <a:rPr lang="ko-KR" altLang="en-US" sz="10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규칙 자체는 그대로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7832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1ADFC63-9038-B88C-A0BA-666362A40822}"/>
              </a:ext>
            </a:extLst>
          </p:cNvPr>
          <p:cNvSpPr txBox="1"/>
          <p:nvPr/>
        </p:nvSpPr>
        <p:spPr>
          <a:xfrm>
            <a:off x="3314700" y="85344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반출물 폴더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9_11 · 9_18 · 10_2 · 10_16: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회차별 반출 파일과 노트북</a:t>
            </a:r>
          </a:p>
        </p:txBody>
      </p:sp>
    </p:spTree>
    <p:extLst>
      <p:ext uri="{BB962C8B-B14F-4D97-AF65-F5344CB8AC3E}">
        <p14:creationId xmlns:p14="http://schemas.microsoft.com/office/powerpoint/2010/main" val="3373948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D4EF58D-A10A-BD4C-052B-0527AC7B757E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A70E49-585E-8636-9B3E-02DE21634CB9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00A29-D406-60C4-9383-4DBC96BA8EA2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FE467-4F88-EA8B-ECED-2C4DB8A9D56B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A0A8F-24EC-4C90-1D61-C5E2E09D7AD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FFF7E-D202-137E-0947-93C153FBECE3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819A1-F595-24CF-F1A5-341F0B973321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ADE85-C16A-7A38-1670-99C0A58E9D85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F224A-4F99-1385-963E-E88A33E29AD3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E6D396-F0F0-4FFA-25B4-01F041B6E2BD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9BA11-515D-CFED-5F1E-AEBD7A928190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42E8AC-43E0-628E-50DC-E4C69A7F983E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F1982-C5E2-6CD3-5768-58C7F0524D59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3: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센터 안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34BBD0-306C-C244-D98C-18ACEF7B2359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급식 정의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반출 전 가림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자동 검사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현장 손입력 오류도 점검 항목으로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34F4959-1CBE-8BC6-1732-DC82B6066B61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D42C29-C097-7158-7984-D36B0520E6B3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0B12CC-E172-9EC1-57F8-CF09065AD7AB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셀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방문 입력 코드 인쇄본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docs/report/T2_4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입력코드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.html 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노트북 함께 제출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3A539E-49BD-5048-909C-4126A6ACB0A1}"/>
              </a:ext>
            </a:extLst>
          </p:cNvPr>
          <p:cNvSpPr txBox="1"/>
          <p:nvPr/>
        </p:nvSpPr>
        <p:spPr>
          <a:xfrm>
            <a:off x="3314700" y="2247900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급식 결제 정의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3C25CC1-B458-2D13-2CD5-D3160092234B}"/>
              </a:ext>
            </a:extLst>
          </p:cNvPr>
          <p:cNvCxnSpPr/>
          <p:nvPr/>
        </p:nvCxnSpPr>
        <p:spPr>
          <a:xfrm>
            <a:off x="3314700" y="2686050"/>
            <a:ext cx="0" cy="221361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08891B-C1DE-CF5F-BA00-C514831EE36E}"/>
              </a:ext>
            </a:extLst>
          </p:cNvPr>
          <p:cNvSpPr txBox="1"/>
          <p:nvPr/>
        </p:nvSpPr>
        <p:spPr>
          <a:xfrm>
            <a:off x="3543300" y="2724150"/>
            <a:ext cx="681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for ch in pd.read_csv(PAY, usecols=[...], dtype=str,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                  chunksize=1_000_000):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ch = ch.apply(lambda s: s.str.strip())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mr.append(ch[(ch[C_GBN].isin(MEAL)) &amp;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             (ch[C_STAT] == DONE)])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m = pd.concat(mr)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m = m[(m.ym &gt;= "202306") &amp; (m.ym &lt;= "202506")]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# 4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차 현장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: mr.append 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줄이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for 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밖으로 →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11%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만 집계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71C828-C343-1674-53A9-8D1BBB617A01}"/>
              </a:ext>
            </a:extLst>
          </p:cNvPr>
          <p:cNvSpPr txBox="1"/>
          <p:nvPr/>
        </p:nvSpPr>
        <p:spPr>
          <a:xfrm>
            <a:off x="10934700" y="2247900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전 가림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 검사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46C9B1F-9C33-12BD-F1DA-52A8C8E0575E}"/>
              </a:ext>
            </a:extLst>
          </p:cNvPr>
          <p:cNvCxnSpPr/>
          <p:nvPr/>
        </p:nvCxnSpPr>
        <p:spPr>
          <a:xfrm>
            <a:off x="10934700" y="2686050"/>
            <a:ext cx="0" cy="1946434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873DFF4-D48C-F9D3-FD5F-B891140C3674}"/>
              </a:ext>
            </a:extLst>
          </p:cNvPr>
          <p:cNvSpPr txBox="1"/>
          <p:nvPr/>
        </p:nvSpPr>
        <p:spPr>
          <a:xfrm>
            <a:off x="11163300" y="2724150"/>
            <a:ext cx="6515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gd[gd &lt; 5] = np.nan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gd.loc[gd.isna().any(axis=1)] = np.nan   # 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한 칸 가리면 동 전체</a:t>
            </a:r>
          </a:p>
          <a:p>
            <a:pPr>
              <a:lnSpc>
                <a:spcPct val="132000"/>
              </a:lnSpc>
            </a:pPr>
            <a:endParaRPr lang="ko-KR" altLang="en-US" sz="1275">
              <a:solidFill>
                <a:srgbClr val="2B2320"/>
              </a:solidFill>
              <a:latin typeface="Consolas" panose="020B0609020204030204" pitchFamily="49" charset="0"/>
            </a:endParaRP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for f in sorted(glob.glob("EXPORT_v4_*.csv")):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e = pd.read_csv(f, encoding="utf-8-sig")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low = int((e[cols] &lt; lim).sum().sum())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print("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통과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 if low == 0 else "※ 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억제 누락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", low, f)</a:t>
            </a:r>
            <a:endParaRPr lang="ko-KR" altLang="en-US" sz="1275">
              <a:solidFill>
                <a:srgbClr val="2B232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B414B8-F97A-DA94-9089-476AC8C0394C}"/>
              </a:ext>
            </a:extLst>
          </p:cNvPr>
          <p:cNvSpPr txBox="1"/>
          <p:nvPr/>
        </p:nvSpPr>
        <p:spPr>
          <a:xfrm>
            <a:off x="11163300" y="4765834"/>
            <a:ext cx="6515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 검사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저장한 파일을 다시 읽어 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 </a:t>
            </a: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 칸을 셈 → ‘통과’ 파일만 반출 신청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618C07D-1145-C1E2-813D-056918AF5468}"/>
              </a:ext>
            </a:extLst>
          </p:cNvPr>
          <p:cNvCxnSpPr/>
          <p:nvPr/>
        </p:nvCxnSpPr>
        <p:spPr>
          <a:xfrm>
            <a:off x="10648950" y="2247900"/>
            <a:ext cx="0" cy="5280184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41C9E2B-D786-1AE9-F5D8-F3468C779617}"/>
              </a:ext>
            </a:extLst>
          </p:cNvPr>
          <p:cNvCxnSpPr/>
          <p:nvPr/>
        </p:nvCxnSpPr>
        <p:spPr>
          <a:xfrm>
            <a:off x="3314700" y="5623084"/>
            <a:ext cx="7048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AAE756F-CF9E-8F58-178D-0321C600EE3B}"/>
              </a:ext>
            </a:extLst>
          </p:cNvPr>
          <p:cNvSpPr txBox="1"/>
          <p:nvPr/>
        </p:nvSpPr>
        <p:spPr>
          <a:xfrm>
            <a:off x="3314700" y="5851684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현장 오류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B27CD3-6B8E-4074-34E9-1F3BC72FFB83}"/>
              </a:ext>
            </a:extLst>
          </p:cNvPr>
          <p:cNvSpPr txBox="1"/>
          <p:nvPr/>
        </p:nvSpPr>
        <p:spPr>
          <a:xfrm>
            <a:off x="3314700" y="6194584"/>
            <a:ext cx="704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2000"/>
              </a:lnSpc>
            </a:pP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mr.append(...)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밖으로 나가 마지막 덩어리만 집계 →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38,854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(11%)</a:t>
            </a:r>
          </a:p>
          <a:p>
            <a:pPr>
              <a:lnSpc>
                <a:spcPct val="142000"/>
              </a:lnSpc>
            </a:pP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점검표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‘급식 결제 합 </a:t>
            </a:r>
            <a:r>
              <a:rPr lang="en-US" altLang="ko-KR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75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원장 합’으로 차단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CAACF9-D507-8569-E5B3-3FCDC0F8CB25}"/>
              </a:ext>
            </a:extLst>
          </p:cNvPr>
          <p:cNvCxnSpPr/>
          <p:nvPr/>
        </p:nvCxnSpPr>
        <p:spPr>
          <a:xfrm>
            <a:off x="10934700" y="5623084"/>
            <a:ext cx="674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199E68-1351-5DD8-07AA-F4D6F6730294}"/>
              </a:ext>
            </a:extLst>
          </p:cNvPr>
          <p:cNvSpPr txBox="1"/>
          <p:nvPr/>
        </p:nvSpPr>
        <p:spPr>
          <a:xfrm>
            <a:off x="10934700" y="5851684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자동 검사 결과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C161C7-48C6-BAAD-5F4B-00A27476289E}"/>
              </a:ext>
            </a:extLst>
          </p:cNvPr>
          <p:cNvSpPr txBox="1"/>
          <p:nvPr/>
        </p:nvSpPr>
        <p:spPr>
          <a:xfrm>
            <a:off x="10934700" y="6213634"/>
            <a:ext cx="674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CSV 11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모두 ‘통과’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 칸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0)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노트북 출력의 가림 전 표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건은 반출됨 → 그 값은 인용하지 않음</a:t>
            </a:r>
          </a:p>
          <a:p>
            <a:pPr marL="209550" indent="-209550">
              <a:lnSpc>
                <a:spcPct val="130000"/>
              </a:lnSpc>
              <a:spcAft>
                <a:spcPts val="60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점검표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단계에 ‘출력에 가림 전 표 없음’ 추가</a:t>
            </a:r>
          </a:p>
        </p:txBody>
      </p:sp>
    </p:spTree>
    <p:extLst>
      <p:ext uri="{BB962C8B-B14F-4D97-AF65-F5344CB8AC3E}">
        <p14:creationId xmlns:p14="http://schemas.microsoft.com/office/powerpoint/2010/main" val="179179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DDD39B6-3B5A-F73C-B56E-BB4FFC41423C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93ECB8-B255-B31C-30D1-516EA1B63EEF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2D318-F11B-F960-CD41-76172F76AE5E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CF2A8-AB57-634B-CBF3-5B14FF21EF6C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729A4-2133-836D-F2EB-43388C3AA42A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A26C5-30A6-A1D2-8706-81555E675321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9F47F-1E2E-E1A7-58B9-D2A6585351C7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F6C73-D7ED-A546-13DB-F3183C56A1DE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D6AF2-BA04-422E-B868-7F914D528530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E33325-CD75-ABB1-9929-939287DE39CF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417E6-CFDC-A8E4-4507-A1BF382C6685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2BE49-AD6F-E6ED-7E9F-32FBC2BE63E5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BE8767-24FE-63BC-872C-723A32B0E643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4: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센터 밖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2748B1-BA1B-3EA8-7DC8-7875EB34AF20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반출 집계에서 판정표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시나리오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지도까지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노트북에서 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분 안에 다시 계산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677C1CD-9404-2B79-2A5F-4B9D5D8A02CB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F4DDF2-94CF-6978-83B6-D8122760E5BE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6FD4E-A53D-49A6-3C40-5CB93E1D3B70}"/>
              </a:ext>
            </a:extLst>
          </p:cNvPr>
          <p:cNvSpPr txBox="1"/>
          <p:nvPr/>
        </p:nvSpPr>
        <p:spPr>
          <a:xfrm>
            <a:off x="3314700" y="9772650"/>
            <a:ext cx="12839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가짜 자료로 전 과정 회귀 점검 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코드와 결정은 버전 기록</a:t>
            </a:r>
            <a:r>
              <a:rPr lang="en-US" altLang="ko-KR" sz="11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(git)</a:t>
            </a:r>
            <a:endParaRPr lang="ko-KR" altLang="en-US" sz="1125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47884EC-3B23-8361-0067-FDA960C3B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806142"/>
              </p:ext>
            </p:extLst>
          </p:nvPr>
        </p:nvGraphicFramePr>
        <p:xfrm>
          <a:off x="3314700" y="2247900"/>
          <a:ext cx="6896100" cy="39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216451175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013017237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33752719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94986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10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군구 아동 대비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구별 이용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16838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20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 아동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144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25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개월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475666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30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묶음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35599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40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지표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진단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37 · 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우선 점검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endParaRPr lang="ko-KR" altLang="en-US" sz="1350" b="0">
                        <a:solidFill>
                          <a:srgbClr val="8883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29904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50·55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지도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Moran’s I · LISA</a:t>
                      </a:r>
                      <a:endParaRPr lang="ko-KR" altLang="en-US" sz="1350" b="0">
                        <a:solidFill>
                          <a:srgbClr val="8883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33376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70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이웃 점검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 판정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574288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DEB95E4-A722-7192-E84D-7AE4C31D4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894122"/>
              </p:ext>
            </p:extLst>
          </p:nvPr>
        </p:nvGraphicFramePr>
        <p:xfrm>
          <a:off x="10782300" y="2247900"/>
          <a:ext cx="6896100" cy="39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750">
                  <a:extLst>
                    <a:ext uri="{9D8B030D-6E8A-4147-A177-3AD203B41FA5}">
                      <a16:colId xmlns:a16="http://schemas.microsoft.com/office/drawing/2014/main" val="414010599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13994414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3735123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코드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4496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80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점검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(MCLP)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기준선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9584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85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 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대 이용 회복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940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E63946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90</a:t>
                      </a:r>
                      <a:endParaRPr lang="ko-KR" altLang="en-US" sz="1800" b="0">
                        <a:solidFill>
                          <a:srgbClr val="E63946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이유 </a:t>
                      </a: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가지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782677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95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 점검 기록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가능 가게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26805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97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점검표 지도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첫 회 시안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780448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800" b="0">
                          <a:solidFill>
                            <a:srgbClr val="2B2320"/>
                          </a:solidFill>
                          <a:latin typeface="Suseong Dotum" panose="02000600000000000000" pitchFamily="2" charset="-127"/>
                          <a:ea typeface="Suseong Dotum" panose="02000600000000000000" pitchFamily="2" charset="-127"/>
                        </a:rPr>
                        <a:t>98</a:t>
                      </a:r>
                      <a:endParaRPr lang="ko-KR" altLang="en-US" sz="1800" b="0">
                        <a:solidFill>
                          <a:srgbClr val="2B2320"/>
                        </a:solidFill>
                        <a:latin typeface="Suseong Dotum" panose="02000600000000000000" pitchFamily="2" charset="-127"/>
                        <a:ea typeface="Suseong Dotum" panose="02000600000000000000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팀 대시보드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88838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공유 자료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11097"/>
                  </a:ext>
                </a:extLst>
              </a:tr>
            </a:tbl>
          </a:graphicData>
        </a:graphic>
      </p:graphicFrame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4B62DD9-BE6D-8640-287F-A4CB71F30547}"/>
              </a:ext>
            </a:extLst>
          </p:cNvPr>
          <p:cNvCxnSpPr/>
          <p:nvPr/>
        </p:nvCxnSpPr>
        <p:spPr>
          <a:xfrm>
            <a:off x="10496550" y="2247900"/>
            <a:ext cx="0" cy="3962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03B02D2-815F-6B84-754E-AE64AD7FA8DC}"/>
              </a:ext>
            </a:extLst>
          </p:cNvPr>
          <p:cNvCxnSpPr/>
          <p:nvPr/>
        </p:nvCxnSpPr>
        <p:spPr>
          <a:xfrm>
            <a:off x="3314700" y="67246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84A6F05-1E10-3718-1847-10F3B237C40B}"/>
              </a:ext>
            </a:extLst>
          </p:cNvPr>
          <p:cNvSpPr txBox="1"/>
          <p:nvPr/>
        </p:nvSpPr>
        <p:spPr>
          <a:xfrm>
            <a:off x="3314700" y="6953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입력과 출력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E3A448-70C9-60B2-33E1-2CDE2F0A6DDF}"/>
              </a:ext>
            </a:extLst>
          </p:cNvPr>
          <p:cNvSpPr txBox="1"/>
          <p:nvPr/>
        </p:nvSpPr>
        <p:spPr>
          <a:xfrm>
            <a:off x="3314700" y="73152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집계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CSV(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가림 적용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+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 인구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대응표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점검 기록 → 출력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공개본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기호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유형만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대시보드 자료</a:t>
            </a:r>
            <a:b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 시간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노트북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PC):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공급 점검 약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시나리오 약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analysis/outside/10~98</a:t>
            </a:r>
            <a:endParaRPr lang="ko-KR" altLang="en-US" sz="127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C9F1314-8E66-CBCA-E30C-A66E21AA4F99}"/>
              </a:ext>
            </a:extLst>
          </p:cNvPr>
          <p:cNvCxnSpPr/>
          <p:nvPr/>
        </p:nvCxnSpPr>
        <p:spPr>
          <a:xfrm>
            <a:off x="3314700" y="82486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BFA2D32-0A29-020E-3437-1C2CA9AB52F3}"/>
              </a:ext>
            </a:extLst>
          </p:cNvPr>
          <p:cNvSpPr txBox="1"/>
          <p:nvPr/>
        </p:nvSpPr>
        <p:spPr>
          <a:xfrm>
            <a:off x="3314700" y="84772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 과정 공개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0458CE-F18A-1506-27A0-5C98A1CB62F6}"/>
              </a:ext>
            </a:extLst>
          </p:cNvPr>
          <p:cNvSpPr txBox="1"/>
          <p:nvPr/>
        </p:nvSpPr>
        <p:spPr>
          <a:xfrm>
            <a:off x="3314700" y="88201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코드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 입력 코드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결과 문서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기록 전체를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저장소에 공개</a:t>
            </a:r>
            <a:b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github.com/HongDoonK/2026-data-safe-zone-contest-team-namu</a:t>
            </a:r>
            <a:endParaRPr lang="ko-KR" altLang="en-US" sz="1425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5082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7271505-EE68-8BA2-A470-3F3E6913B7E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116701-83EE-8DE2-B973-5C14651E9975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1ACAB-F538-652D-A2D3-D3A4BC890BA0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637C4-3096-53E4-70D8-C7B0B1546B5E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3926A-4A41-108F-7D14-E0982AEC29DB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BED19-E8C9-E446-6B16-F13750B31ED7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E5779-BD05-59A3-0D5E-4260381FC3B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F06AC-A6F7-659A-A9E1-BAB95AE5AE6A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C4A9D1-D6A5-5334-5E0A-BE17EBD9A191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8A85C3-5BBB-0D5A-CA0B-71638AD428E5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365DB-17AC-4BB7-E7E9-2945CA701FF4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EF6A2F-C882-F686-A2C9-45540055A9E4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6CE38-96DC-7B75-3F6A-541E3DFCCC6D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5: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판정 코드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687559-8392-01E2-6633-4C5314E946BD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가려진 칸은 최솟값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최댓값으로 두 번 판정해 같을 때만 확정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C9DFE5C-C18A-2499-4E17-E9BB0687BC39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8A465C-E912-28B0-2235-DF3873E32F06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741DA-376E-C8BF-3CBD-CDE54620E415}"/>
              </a:ext>
            </a:extLst>
          </p:cNvPr>
          <p:cNvSpPr txBox="1"/>
          <p:nvPr/>
        </p:nvSpPr>
        <p:spPr>
          <a:xfrm>
            <a:off x="3314700" y="2247900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핵심 함수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analysis/outside/90_reason_table.py 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 규칙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D-019</a:t>
            </a:r>
            <a:endParaRPr lang="ko-KR" altLang="en-US" sz="1425" b="1">
              <a:solidFill>
                <a:srgbClr val="2B232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772A5A3-8FD2-2BCA-DEE4-6B0AC5CAC080}"/>
              </a:ext>
            </a:extLst>
          </p:cNvPr>
          <p:cNvCxnSpPr/>
          <p:nvPr/>
        </p:nvCxnSpPr>
        <p:spPr>
          <a:xfrm>
            <a:off x="3314700" y="2686050"/>
            <a:ext cx="0" cy="2747963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EA717AF-9172-8AE7-9520-BA37D6EC3989}"/>
              </a:ext>
            </a:extLst>
          </p:cNvPr>
          <p:cNvSpPr txBox="1"/>
          <p:nvPr/>
        </p:nvSpPr>
        <p:spPr>
          <a:xfrm>
            <a:off x="3543300" y="2724150"/>
            <a:ext cx="7962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def judge_one(x, hit, ok, bad):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if pd.isna(x):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    return "?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자료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if bad == "low":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    return "●" if x &lt;= hit else ("○" if x &gt;= ok else "?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경계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return "●" if x &gt;= hit else ("○" if x &lt;= ok else "?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경계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32000"/>
              </a:lnSpc>
            </a:pPr>
            <a:endParaRPr lang="en-US" altLang="ko-KR" sz="1275">
              <a:solidFill>
                <a:srgbClr val="2B2320"/>
              </a:solidFill>
              <a:latin typeface="Consolas" panose="020B0609020204030204" pitchFamily="49" charset="0"/>
            </a:endParaRP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def merge2(a, b, conflict="?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억제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"):</a:t>
            </a:r>
          </a:p>
          <a:p>
            <a:pPr>
              <a:lnSpc>
                <a:spcPct val="132000"/>
              </a:lnSpc>
            </a:pP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    # 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가린 칸을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0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과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가림 문턱 −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1)</a:t>
            </a: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로 채운 두 판정</a:t>
            </a:r>
          </a:p>
          <a:p>
            <a:pPr>
              <a:lnSpc>
                <a:spcPct val="132000"/>
              </a:lnSpc>
            </a:pPr>
            <a:r>
              <a:rPr lang="ko-KR" altLang="en-US" sz="1275">
                <a:solidFill>
                  <a:srgbClr val="2B232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275">
                <a:solidFill>
                  <a:srgbClr val="2B2320"/>
                </a:solidFill>
                <a:latin typeface="Consolas" panose="020B0609020204030204" pitchFamily="49" charset="0"/>
              </a:rPr>
              <a:t>return a if a == b else conflict</a:t>
            </a:r>
            <a:endParaRPr lang="ko-KR" altLang="en-US" sz="1275">
              <a:solidFill>
                <a:srgbClr val="2B2320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31B11CA-281E-CA15-C573-E938420C288E}"/>
              </a:ext>
            </a:extLst>
          </p:cNvPr>
          <p:cNvCxnSpPr/>
          <p:nvPr/>
        </p:nvCxnSpPr>
        <p:spPr>
          <a:xfrm>
            <a:off x="3314700" y="5719763"/>
            <a:ext cx="81915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396192-EB71-61B1-13A7-AA53BC119212}"/>
              </a:ext>
            </a:extLst>
          </p:cNvPr>
          <p:cNvSpPr txBox="1"/>
          <p:nvPr/>
        </p:nvSpPr>
        <p:spPr>
          <a:xfrm>
            <a:off x="3314700" y="5948363"/>
            <a:ext cx="819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이번 분석 결과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우선 점검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곳 </a:t>
            </a:r>
            <a:r>
              <a:rPr lang="en-US" altLang="ko-KR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이유별 판정 수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DCE646B-8243-F7AE-4F89-2C590478D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863176"/>
              </p:ext>
            </p:extLst>
          </p:nvPr>
        </p:nvGraphicFramePr>
        <p:xfrm>
          <a:off x="3314700" y="6367463"/>
          <a:ext cx="8191500" cy="2667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01878296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00178758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54427601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2314842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8387802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9121305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35098637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02493217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다른 경로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끼 값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배달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안내</a:t>
                      </a:r>
                      <a:r>
                        <a:rPr lang="en-US" altLang="ko-KR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신청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ko-KR" altLang="en-US" sz="105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옆 동네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7763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 해당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2625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 아님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3108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경계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5375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면제 미확인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20067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가림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218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 </a:t>
                      </a:r>
                      <a:r>
                        <a:rPr lang="ko-KR" altLang="en-US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자료 없음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endParaRPr lang="ko-KR" altLang="en-US" sz="1125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</a:pPr>
                      <a:r>
                        <a:rPr lang="en-US" altLang="ko-KR" sz="1125" b="0">
                          <a:solidFill>
                            <a:srgbClr val="BFBDBC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endParaRPr lang="ko-KR" altLang="en-US" sz="1125" b="0">
                        <a:solidFill>
                          <a:srgbClr val="BFBDBC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95652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1E75C2-A529-6DB2-D468-D2F8E0FFF12C}"/>
              </a:ext>
            </a:extLst>
          </p:cNvPr>
          <p:cNvCxnSpPr/>
          <p:nvPr/>
        </p:nvCxnSpPr>
        <p:spPr>
          <a:xfrm>
            <a:off x="11791950" y="2247900"/>
            <a:ext cx="0" cy="73914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2AF6D98-5F7B-0073-37E9-75CE298B58C2}"/>
              </a:ext>
            </a:extLst>
          </p:cNvPr>
          <p:cNvSpPr txBox="1"/>
          <p:nvPr/>
        </p:nvSpPr>
        <p:spPr>
          <a:xfrm>
            <a:off x="12077700" y="2247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문턱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191AB4-5660-F3B4-732D-2FDA7D6C5B47}"/>
              </a:ext>
            </a:extLst>
          </p:cNvPr>
          <p:cNvSpPr txBox="1"/>
          <p:nvPr/>
        </p:nvSpPr>
        <p:spPr>
          <a:xfrm>
            <a:off x="12077700" y="26860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분포 하위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25%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해당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중앙값 반대편이면 아님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사이는 경계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(?)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64E84F4-5F5B-9E9C-F079-1D108D0C6FA1}"/>
              </a:ext>
            </a:extLst>
          </p:cNvPr>
          <p:cNvCxnSpPr/>
          <p:nvPr/>
        </p:nvCxnSpPr>
        <p:spPr>
          <a:xfrm>
            <a:off x="12077700" y="39052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CC5BFE1-4234-15AD-21E7-D0247B9682DD}"/>
              </a:ext>
            </a:extLst>
          </p:cNvPr>
          <p:cNvSpPr txBox="1"/>
          <p:nvPr/>
        </p:nvSpPr>
        <p:spPr>
          <a:xfrm>
            <a:off x="12077700" y="4095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가린 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8799E8-43DE-652F-9D1F-02528AF7ACDD}"/>
              </a:ext>
            </a:extLst>
          </p:cNvPr>
          <p:cNvSpPr txBox="1"/>
          <p:nvPr/>
        </p:nvSpPr>
        <p:spPr>
          <a:xfrm>
            <a:off x="12077700" y="45339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가림 문턱 −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채워 두 번 판정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68BDD49-38CA-38C2-1A66-1CCE1B355CF3}"/>
              </a:ext>
            </a:extLst>
          </p:cNvPr>
          <p:cNvCxnSpPr/>
          <p:nvPr/>
        </p:nvCxnSpPr>
        <p:spPr>
          <a:xfrm>
            <a:off x="12077700" y="575310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EA64F4F-5326-913A-DF8F-32D7886E3ACA}"/>
              </a:ext>
            </a:extLst>
          </p:cNvPr>
          <p:cNvSpPr txBox="1"/>
          <p:nvPr/>
        </p:nvSpPr>
        <p:spPr>
          <a:xfrm>
            <a:off x="12077700" y="5943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73EB2B-99D3-06D5-42E8-62DFDB59E207}"/>
              </a:ext>
            </a:extLst>
          </p:cNvPr>
          <p:cNvSpPr txBox="1"/>
          <p:nvPr/>
        </p:nvSpPr>
        <p:spPr>
          <a:xfrm>
            <a:off x="12077700" y="63817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판정이 같을 때만 확정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다르면 판단 불가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(?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가림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699859-D208-B6E6-D025-4DDBA1DB8AC9}"/>
              </a:ext>
            </a:extLst>
          </p:cNvPr>
          <p:cNvCxnSpPr/>
          <p:nvPr/>
        </p:nvCxnSpPr>
        <p:spPr>
          <a:xfrm>
            <a:off x="12077700" y="7600950"/>
            <a:ext cx="5600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F3D3B22-6DC1-9852-A43C-184B3496319B}"/>
              </a:ext>
            </a:extLst>
          </p:cNvPr>
          <p:cNvSpPr txBox="1"/>
          <p:nvPr/>
        </p:nvSpPr>
        <p:spPr>
          <a:xfrm>
            <a:off x="12077700" y="779145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650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en-US" altLang="ko-KR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1650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묶기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08841D-2490-697E-593B-8A2D2F13A85F}"/>
              </a:ext>
            </a:extLst>
          </p:cNvPr>
          <p:cNvSpPr txBox="1"/>
          <p:nvPr/>
        </p:nvSpPr>
        <p:spPr>
          <a:xfrm>
            <a:off x="12077700" y="8229600"/>
            <a:ext cx="5600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제외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옆 동네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 적음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개선 대상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값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남은 이유 추정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안내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→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2073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AB431DE-0F09-78A1-626C-11B31B2C4D76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635F86-193F-E14B-78D7-3B4189A4FC91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06DD7-A6AC-0FDF-FC68-60E573277437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41766-E9D7-96FB-11F9-760E94906F0E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E61EF-9EB0-F4B0-A3F2-D4DF307950E8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00884-A26D-97C3-5768-5F6FB87D1B99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29163F-49EE-6CF4-7B26-25A979AD5B7F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F7630-D6D7-9679-9DB6-AF446500D920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CAFCB8-FE1C-E483-0A00-B0ED130E5377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2CE81-3238-CE7E-C7E1-B710E81DC8B2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AE3E0-2768-C60A-3297-866929CD6D0E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AFB2D-7B55-AB0E-05B4-9172638A4D0F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EA65A-D821-B3C0-CFED-9E69FED7EAF4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6: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분석 기술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BA797-0559-2E31-F512-F6AA9B077C73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모든 출력은 가림을 적용한 집계에서 계산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0F9D286-20D5-E0C9-673D-186FE8CBF770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9E7598-0510-7A82-A89D-E47D25052957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393620-D1B8-8418-7096-3543ED2E0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07646"/>
              </p:ext>
            </p:extLst>
          </p:nvPr>
        </p:nvGraphicFramePr>
        <p:xfrm>
          <a:off x="3314700" y="2247900"/>
          <a:ext cx="14363700" cy="68389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187832987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04435485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154011959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59524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설정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9D989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2580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입지계수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급식 비중 지수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LQ)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배달 대비 급식 비중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기준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대구 평균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1,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분모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 4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 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시기별 일반 결제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9D989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8217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Moran’s I · LISA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공간 군집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뭉침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KNN 6 / Queen, 9,999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 순열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36147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퍼지 인접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이웃 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닿는 범위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경계 틈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5m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허용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7454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MCLP 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부분 커버 탐욕 선택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점검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가게 활성화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모집 위치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(1 − 1/e)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보장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문턱 격자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1~50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9745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로그 선형 기대 모형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비슷한 조건 동의 기대 이용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시나리오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자기 단위 빼고 예측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묶음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R² 0.746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5537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가린 칸 두 번 판정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가림이 있어도 판정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가림 문턱 −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1)</a:t>
                      </a:r>
                      <a:endParaRPr lang="ko-KR" altLang="en-US" sz="1350" b="0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469929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반기 자연 변동</a:t>
                      </a: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시범 효과의 최소 구별 크기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방학 앞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뒤 반기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 표준편차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양측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5%·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검정력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80% → 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표준편차의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2.8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7927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결합 단위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동네 묶음</a:t>
                      </a:r>
                      <a:r>
                        <a:rPr lang="en-US" altLang="ko-KR" sz="1350" b="1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350" b="1">
                        <a:solidFill>
                          <a:srgbClr val="2B232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행정동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법정동 불일치 해결</a:t>
                      </a:r>
                    </a:p>
                  </a:txBody>
                  <a:tcPr marL="133350" marR="13335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15000"/>
                        </a:lnSpc>
                      </a:pP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연결 성분 </a:t>
                      </a:r>
                      <a:r>
                        <a:rPr lang="en-US" altLang="ko-KR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71</a:t>
                      </a:r>
                      <a:r>
                        <a:rPr lang="ko-KR" altLang="en-US" sz="1350" b="0">
                          <a:solidFill>
                            <a:srgbClr val="2B232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곳</a:t>
                      </a:r>
                    </a:p>
                  </a:txBody>
                  <a:tcPr marL="133350" marR="0" marT="38100" marB="38100" anchor="ctr">
                    <a:lnT w="9525">
                      <a:solidFill>
                        <a:srgbClr val="DBD8D5"/>
                      </a:solidFill>
                    </a:lnT>
                    <a:lnB w="9525">
                      <a:solidFill>
                        <a:srgbClr val="DBD8D5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88222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2A0793C-0F23-8337-8AC3-6D7D2EA2FB86}"/>
              </a:ext>
            </a:extLst>
          </p:cNvPr>
          <p:cNvSpPr txBox="1"/>
          <p:nvPr/>
        </p:nvSpPr>
        <p:spPr>
          <a:xfrm>
            <a:off x="3314700" y="92773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</a:t>
            </a: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Python(pandas, geopandas, libpysal, esda)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644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57EAD50-3761-75B1-4479-3346A3B09A02}"/>
              </a:ext>
            </a:extLst>
          </p:cNvPr>
          <p:cNvCxnSpPr/>
          <p:nvPr/>
        </p:nvCxnSpPr>
        <p:spPr>
          <a:xfrm>
            <a:off x="2857500" y="457200"/>
            <a:ext cx="0" cy="93726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476F97C-FCA8-AB1C-C85E-C582BDD7022C}"/>
              </a:ext>
            </a:extLst>
          </p:cNvPr>
          <p:cNvSpPr txBox="1"/>
          <p:nvPr/>
        </p:nvSpPr>
        <p:spPr>
          <a:xfrm>
            <a:off x="609600" y="87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F8912-DBC8-C123-4AC7-71380EE44AC9}"/>
              </a:ext>
            </a:extLst>
          </p:cNvPr>
          <p:cNvSpPr txBox="1"/>
          <p:nvPr/>
        </p:nvSpPr>
        <p:spPr>
          <a:xfrm>
            <a:off x="609600" y="182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E2E6C-8470-096E-90EC-1AEB3577A7E4}"/>
              </a:ext>
            </a:extLst>
          </p:cNvPr>
          <p:cNvSpPr txBox="1"/>
          <p:nvPr/>
        </p:nvSpPr>
        <p:spPr>
          <a:xfrm>
            <a:off x="609600" y="278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데이터와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D02B0-8429-9704-0808-712A29DDF3D5}"/>
              </a:ext>
            </a:extLst>
          </p:cNvPr>
          <p:cNvSpPr txBox="1"/>
          <p:nvPr/>
        </p:nvSpPr>
        <p:spPr>
          <a:xfrm>
            <a:off x="609600" y="373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6DBF4-DC3C-5542-7BF6-7B9841B7AD8C}"/>
              </a:ext>
            </a:extLst>
          </p:cNvPr>
          <p:cNvSpPr txBox="1"/>
          <p:nvPr/>
        </p:nvSpPr>
        <p:spPr>
          <a:xfrm>
            <a:off x="609600" y="468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E5152-BF22-A600-6FB7-3724D91A152A}"/>
              </a:ext>
            </a:extLst>
          </p:cNvPr>
          <p:cNvSpPr txBox="1"/>
          <p:nvPr/>
        </p:nvSpPr>
        <p:spPr>
          <a:xfrm>
            <a:off x="609600" y="5638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</a:t>
            </a: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31926-7CC5-C6FF-0304-2E2A9D12B39B}"/>
              </a:ext>
            </a:extLst>
          </p:cNvPr>
          <p:cNvSpPr txBox="1"/>
          <p:nvPr/>
        </p:nvSpPr>
        <p:spPr>
          <a:xfrm>
            <a:off x="609600" y="6591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해결방안과 효과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54AAF-3BD2-C74F-550F-2D9D5F5A5E86}"/>
              </a:ext>
            </a:extLst>
          </p:cNvPr>
          <p:cNvSpPr txBox="1"/>
          <p:nvPr/>
        </p:nvSpPr>
        <p:spPr>
          <a:xfrm>
            <a:off x="609600" y="75438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07  </a:t>
            </a:r>
            <a:r>
              <a:rPr lang="ko-KR" altLang="en-US" sz="1425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9E86EF-3BA1-84C0-79D5-F42979B1D531}"/>
              </a:ext>
            </a:extLst>
          </p:cNvPr>
          <p:cNvSpPr/>
          <p:nvPr/>
        </p:nvSpPr>
        <p:spPr>
          <a:xfrm>
            <a:off x="381000" y="8591550"/>
            <a:ext cx="95250" cy="95250"/>
          </a:xfrm>
          <a:prstGeom prst="rect">
            <a:avLst/>
          </a:prstGeom>
          <a:solidFill>
            <a:srgbClr val="E639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86E49-5A36-8DC3-EA79-86AC6C800AEB}"/>
              </a:ext>
            </a:extLst>
          </p:cNvPr>
          <p:cNvSpPr txBox="1"/>
          <p:nvPr/>
        </p:nvSpPr>
        <p:spPr>
          <a:xfrm>
            <a:off x="609600" y="8496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  </a:t>
            </a:r>
            <a:r>
              <a:rPr lang="ko-KR" altLang="en-US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6102A-2531-903E-7037-CD8E2071A74E}"/>
              </a:ext>
            </a:extLst>
          </p:cNvPr>
          <p:cNvSpPr txBox="1"/>
          <p:nvPr/>
        </p:nvSpPr>
        <p:spPr>
          <a:xfrm>
            <a:off x="609600" y="95250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나무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5BC18-43F3-3B5F-21CA-575DA88E97B0}"/>
              </a:ext>
            </a:extLst>
          </p:cNvPr>
          <p:cNvSpPr txBox="1"/>
          <p:nvPr/>
        </p:nvSpPr>
        <p:spPr>
          <a:xfrm>
            <a:off x="3314700" y="3810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altLang="ko-KR" sz="4500">
                <a:solidFill>
                  <a:srgbClr val="E63946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08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 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부록 </a:t>
            </a:r>
            <a:r>
              <a:rPr lang="en-US" altLang="ko-KR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7: </a:t>
            </a:r>
            <a:r>
              <a:rPr lang="ko-KR" altLang="en-US" sz="4500">
                <a:solidFill>
                  <a:srgbClr val="2B2320"/>
                </a:solidFill>
                <a:latin typeface="Suseong Dotum" panose="02000600000000000000" pitchFamily="2" charset="-127"/>
                <a:ea typeface="Suseong Dotum" panose="02000600000000000000" pitchFamily="2" charset="-127"/>
              </a:rPr>
              <a:t>출처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6163EB-5635-942C-C4CA-74BAD07C3DBD}"/>
              </a:ext>
            </a:extLst>
          </p:cNvPr>
          <p:cNvSpPr txBox="1"/>
          <p:nvPr/>
        </p:nvSpPr>
        <p:spPr>
          <a:xfrm>
            <a:off x="3314700" y="118110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모든 숫자와 확인 사항의 출처를 부서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매체</a:t>
            </a:r>
            <a:r>
              <a:rPr lang="en-US" altLang="ko-KR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550">
                <a:solidFill>
                  <a:srgbClr val="2B232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날짜까지 기록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514D840-9BB3-9859-19ED-6769EB56F5EB}"/>
              </a:ext>
            </a:extLst>
          </p:cNvPr>
          <p:cNvCxnSpPr/>
          <p:nvPr/>
        </p:nvCxnSpPr>
        <p:spPr>
          <a:xfrm>
            <a:off x="3314700" y="18478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B47D82-1E13-D2A1-BD5D-E44DD66384B9}"/>
              </a:ext>
            </a:extLst>
          </p:cNvPr>
          <p:cNvSpPr txBox="1"/>
          <p:nvPr/>
        </p:nvSpPr>
        <p:spPr>
          <a:xfrm>
            <a:off x="16535400" y="977265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200">
                <a:solidFill>
                  <a:srgbClr val="8883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 / 30</a:t>
            </a:r>
            <a:endParaRPr lang="ko-KR" altLang="en-US" sz="1200">
              <a:solidFill>
                <a:srgbClr val="88838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855FA-868E-8838-6CFF-C49B8D02C483}"/>
              </a:ext>
            </a:extLst>
          </p:cNvPr>
          <p:cNvSpPr txBox="1"/>
          <p:nvPr/>
        </p:nvSpPr>
        <p:spPr>
          <a:xfrm>
            <a:off x="3314700" y="22479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BCB6D3-893B-7543-7E15-D5DB7C42BD7D}"/>
              </a:ext>
            </a:extLst>
          </p:cNvPr>
          <p:cNvSpPr txBox="1"/>
          <p:nvPr/>
        </p:nvSpPr>
        <p:spPr>
          <a:xfrm>
            <a:off x="3314700" y="27432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플랫폼 데이터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가맹점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배달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</a:t>
            </a:r>
            <a:b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경북대 첨단정보통신융합산업기술원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상호제공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단위 소득 관련 통계</a:t>
            </a:r>
            <a:b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한국데이터산업진흥원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·KCB,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상호제공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주민등록 연령별 인구현황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행정안전부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2023-06~2025-06)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 대응표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행정안전부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2025-06-30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법정동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 경계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국가공간정보포털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2026-09)</a:t>
            </a:r>
            <a:endParaRPr lang="ko-KR" altLang="en-US" sz="1350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416B4E2-4868-C209-D3EA-24ED4B658368}"/>
              </a:ext>
            </a:extLst>
          </p:cNvPr>
          <p:cNvCxnSpPr/>
          <p:nvPr/>
        </p:nvCxnSpPr>
        <p:spPr>
          <a:xfrm>
            <a:off x="8743950" y="224790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9200C9-724C-D0D2-3879-415917BFFEEF}"/>
              </a:ext>
            </a:extLst>
          </p:cNvPr>
          <p:cNvSpPr txBox="1"/>
          <p:nvPr/>
        </p:nvSpPr>
        <p:spPr>
          <a:xfrm>
            <a:off x="9029700" y="22479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기록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705FB-F924-E987-AD63-255D35739F71}"/>
              </a:ext>
            </a:extLst>
          </p:cNvPr>
          <p:cNvSpPr txBox="1"/>
          <p:nvPr/>
        </p:nvSpPr>
        <p:spPr>
          <a:xfrm>
            <a:off x="9029700" y="274320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동구청 아동청소년과 전화 확인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(2026-10-08)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신청 유형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하루 한도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대구시청 복지과 문의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(2026-10-15)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원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 공통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앱 점검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2026-10-15)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인분 목록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가게 상세 화면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기록 시각 보존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938CA7C-D0A8-5E8A-2F1F-5BF7EE2E2856}"/>
              </a:ext>
            </a:extLst>
          </p:cNvPr>
          <p:cNvCxnSpPr/>
          <p:nvPr/>
        </p:nvCxnSpPr>
        <p:spPr>
          <a:xfrm>
            <a:off x="13411200" y="2247900"/>
            <a:ext cx="0" cy="342900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A20EF2A-A6C5-4058-0340-78E46957D6F4}"/>
              </a:ext>
            </a:extLst>
          </p:cNvPr>
          <p:cNvSpPr txBox="1"/>
          <p:nvPr/>
        </p:nvSpPr>
        <p:spPr>
          <a:xfrm>
            <a:off x="13696950" y="22479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72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22AC5-522D-9CE7-733B-9765F7DA6B30}"/>
              </a:ext>
            </a:extLst>
          </p:cNvPr>
          <p:cNvSpPr txBox="1"/>
          <p:nvPr/>
        </p:nvSpPr>
        <p:spPr>
          <a:xfrm>
            <a:off x="13696950" y="2743200"/>
            <a:ext cx="398145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경북매일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(2023-05-31)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급식카드 배달 결제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시행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매일신문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(2024-02-29)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급식 배달비 지원 누적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경북매일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아주경제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(2024-08-01)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달성군 여름방학 아동급식 지원</a:t>
            </a:r>
          </a:p>
          <a:p>
            <a:pPr marL="209550" indent="-209550">
              <a:lnSpc>
                <a:spcPct val="140000"/>
              </a:lnSpc>
              <a:spcAft>
                <a:spcPts val="1050"/>
              </a:spcAft>
              <a:buClr>
                <a:srgbClr val="888380"/>
              </a:buClr>
              <a:buFont typeface="+mj-lt"/>
              <a:buChar char="•"/>
            </a:pP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아이뉴스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 (2026-10-11)</a:t>
            </a:r>
            <a:b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대구로 운영사 재공모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2027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년부터 </a:t>
            </a:r>
            <a:r>
              <a:rPr lang="en-US" altLang="ko-KR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350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B87506C-882D-3636-AC7C-486D2694EFB6}"/>
              </a:ext>
            </a:extLst>
          </p:cNvPr>
          <p:cNvCxnSpPr/>
          <p:nvPr/>
        </p:nvCxnSpPr>
        <p:spPr>
          <a:xfrm>
            <a:off x="3314700" y="6153150"/>
            <a:ext cx="14363700" cy="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93A1EE-E9B2-791D-E10D-45481CAAD727}"/>
              </a:ext>
            </a:extLst>
          </p:cNvPr>
          <p:cNvSpPr txBox="1"/>
          <p:nvPr/>
        </p:nvSpPr>
        <p:spPr>
          <a:xfrm>
            <a:off x="3314700" y="638175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재현 자료 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 과정 </a:t>
            </a:r>
            <a:r>
              <a:rPr lang="en-US" altLang="ko-KR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 </a:t>
            </a:r>
            <a:r>
              <a:rPr lang="ko-KR" altLang="en-US" sz="15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F81963-65D9-CC8C-5059-7A6193B993BD}"/>
              </a:ext>
            </a:extLst>
          </p:cNvPr>
          <p:cNvSpPr txBox="1"/>
          <p:nvPr/>
        </p:nvSpPr>
        <p:spPr>
          <a:xfrm>
            <a:off x="9105900" y="6419850"/>
            <a:ext cx="8572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25" b="1">
                <a:solidFill>
                  <a:srgbClr val="E6394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github.com/HongDoonK/2026-data-safe-zone-contest-team-namu</a:t>
            </a:r>
            <a:endParaRPr lang="ko-KR" altLang="en-US" sz="1425" b="1">
              <a:solidFill>
                <a:srgbClr val="E6394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6BA206-1F9F-9C82-FA1C-34A815D7F6D0}"/>
              </a:ext>
            </a:extLst>
          </p:cNvPr>
          <p:cNvSpPr txBox="1"/>
          <p:nvPr/>
        </p:nvSpPr>
        <p:spPr>
          <a:xfrm>
            <a:off x="33147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코드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69338D-51E7-0BA8-9701-6C1254C53914}"/>
              </a:ext>
            </a:extLst>
          </p:cNvPr>
          <p:cNvSpPr txBox="1"/>
          <p:nvPr/>
        </p:nvSpPr>
        <p:spPr>
          <a:xfrm>
            <a:off x="33147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analysis/outside/10~98 (Python)</a:t>
            </a:r>
            <a:endParaRPr lang="ko-KR" altLang="en-US" sz="11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BE5683-EB56-AB59-6914-C8F584557879}"/>
              </a:ext>
            </a:extLst>
          </p:cNvPr>
          <p:cNvCxnSpPr/>
          <p:nvPr/>
        </p:nvCxnSpPr>
        <p:spPr>
          <a:xfrm>
            <a:off x="67627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0E911E2-CE8B-11F9-8284-EA1F3C32D035}"/>
              </a:ext>
            </a:extLst>
          </p:cNvPr>
          <p:cNvSpPr txBox="1"/>
          <p:nvPr/>
        </p:nvSpPr>
        <p:spPr>
          <a:xfrm>
            <a:off x="70485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 입력 코드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42799C-31A7-B736-2825-E22FE8B106A5}"/>
              </a:ext>
            </a:extLst>
          </p:cNvPr>
          <p:cNvSpPr txBox="1"/>
          <p:nvPr/>
        </p:nvSpPr>
        <p:spPr>
          <a:xfrm>
            <a:off x="70485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docs/report/T2_4</a:t>
            </a:r>
            <a:r>
              <a:rPr lang="ko-KR" altLang="en-US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ko-KR" altLang="en-US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입력코드</a:t>
            </a: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.html</a:t>
            </a:r>
            <a:endParaRPr lang="ko-KR" altLang="en-US" sz="11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84BB300-7451-D82A-EFA4-6FF7D977E6C4}"/>
              </a:ext>
            </a:extLst>
          </p:cNvPr>
          <p:cNvCxnSpPr/>
          <p:nvPr/>
        </p:nvCxnSpPr>
        <p:spPr>
          <a:xfrm>
            <a:off x="104965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E266F3E-B86E-2984-75E0-BDEDFE09A3F7}"/>
              </a:ext>
            </a:extLst>
          </p:cNvPr>
          <p:cNvSpPr txBox="1"/>
          <p:nvPr/>
        </p:nvSpPr>
        <p:spPr>
          <a:xfrm>
            <a:off x="107823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37063D-451D-3DF3-37DD-106707298744}"/>
              </a:ext>
            </a:extLst>
          </p:cNvPr>
          <p:cNvSpPr txBox="1"/>
          <p:nvPr/>
        </p:nvSpPr>
        <p:spPr>
          <a:xfrm>
            <a:off x="107823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docs/DECISIONS.md (D-012~D-020)</a:t>
            </a:r>
            <a:endParaRPr lang="ko-KR" altLang="en-US" sz="11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4A949583-7CEB-235E-EF9E-7E67DC59AD42}"/>
              </a:ext>
            </a:extLst>
          </p:cNvPr>
          <p:cNvCxnSpPr/>
          <p:nvPr/>
        </p:nvCxnSpPr>
        <p:spPr>
          <a:xfrm>
            <a:off x="14230350" y="6915150"/>
            <a:ext cx="0" cy="857250"/>
          </a:xfrm>
          <a:prstGeom prst="line">
            <a:avLst/>
          </a:prstGeom>
          <a:ln w="9525">
            <a:solidFill>
              <a:srgbClr val="DBD8D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6EF1D64-2261-99E9-BACD-395047FF270E}"/>
              </a:ext>
            </a:extLst>
          </p:cNvPr>
          <p:cNvSpPr txBox="1"/>
          <p:nvPr/>
        </p:nvSpPr>
        <p:spPr>
          <a:xfrm>
            <a:off x="14516100" y="695325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 b="1">
                <a:solidFill>
                  <a:srgbClr val="2B232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결과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69D643-6CD9-675B-CD84-7F722B929C59}"/>
              </a:ext>
            </a:extLst>
          </p:cNvPr>
          <p:cNvSpPr txBox="1"/>
          <p:nvPr/>
        </p:nvSpPr>
        <p:spPr>
          <a:xfrm>
            <a:off x="14516100" y="7277100"/>
            <a:ext cx="3162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docs/topics/T2_export_*_results.md (1~4</a:t>
            </a:r>
            <a:r>
              <a:rPr lang="ko-KR" altLang="en-US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</a:t>
            </a:r>
            <a:r>
              <a:rPr lang="en-US" altLang="ko-KR" sz="112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125">
              <a:solidFill>
                <a:srgbClr val="59524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CF066-E0D9-12E7-FB87-CAB0109C3C1E}"/>
              </a:ext>
            </a:extLst>
          </p:cNvPr>
          <p:cNvSpPr txBox="1"/>
          <p:nvPr/>
        </p:nvSpPr>
        <p:spPr>
          <a:xfrm>
            <a:off x="3314700" y="8058150"/>
            <a:ext cx="14363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코드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 입력 코드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 기록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반출 결과 문서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기록</a:t>
            </a:r>
            <a:r>
              <a:rPr lang="en-US" altLang="ko-KR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(git) </a:t>
            </a:r>
            <a:r>
              <a:rPr lang="ko-KR" altLang="en-US" sz="1275">
                <a:solidFill>
                  <a:srgbClr val="59524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전체를 같은 저장소에 공개</a:t>
            </a:r>
          </a:p>
        </p:txBody>
      </p:sp>
    </p:spTree>
    <p:extLst>
      <p:ext uri="{BB962C8B-B14F-4D97-AF65-F5344CB8AC3E}">
        <p14:creationId xmlns:p14="http://schemas.microsoft.com/office/powerpoint/2010/main" val="189787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2B2320"/>
      </a:dk1>
      <a:lt1>
        <a:srgbClr val="FFFFFF"/>
      </a:lt1>
      <a:dk2>
        <a:srgbClr val="2B2320"/>
      </a:dk2>
      <a:lt2>
        <a:srgbClr val="FAF8F5"/>
      </a:lt2>
      <a:accent1>
        <a:srgbClr val="E63946"/>
      </a:accent1>
      <a:accent2>
        <a:srgbClr val="F4A261"/>
      </a:accent2>
      <a:accent3>
        <a:srgbClr val="A09C9B"/>
      </a:accent3>
      <a:accent4>
        <a:srgbClr val="F29CA2"/>
      </a:accent4>
      <a:accent5>
        <a:srgbClr val="FAD0B0"/>
      </a:accent5>
      <a:accent6>
        <a:srgbClr val="CAC8C7"/>
      </a:accent6>
      <a:hlink>
        <a:srgbClr val="E63946"/>
      </a:hlink>
      <a:folHlink>
        <a:srgbClr val="2B232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B232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2B2320"/>
      </a:dk1>
      <a:lt1>
        <a:srgbClr val="FFFFFF"/>
      </a:lt1>
      <a:dk2>
        <a:srgbClr val="2B2320"/>
      </a:dk2>
      <a:lt2>
        <a:srgbClr val="FAF8F5"/>
      </a:lt2>
      <a:accent1>
        <a:srgbClr val="E63946"/>
      </a:accent1>
      <a:accent2>
        <a:srgbClr val="F4A261"/>
      </a:accent2>
      <a:accent3>
        <a:srgbClr val="A09C9B"/>
      </a:accent3>
      <a:accent4>
        <a:srgbClr val="F29CA2"/>
      </a:accent4>
      <a:accent5>
        <a:srgbClr val="FAD0B0"/>
      </a:accent5>
      <a:accent6>
        <a:srgbClr val="CAC8C7"/>
      </a:accent6>
      <a:hlink>
        <a:srgbClr val="E63946"/>
      </a:hlink>
      <a:folHlink>
        <a:srgbClr val="2B232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B232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10407</Words>
  <Application>Microsoft Office PowerPoint</Application>
  <PresentationFormat>사용자 지정</PresentationFormat>
  <Paragraphs>1711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Pretendard</vt:lpstr>
      <vt:lpstr>Pretendard Medium</vt:lpstr>
      <vt:lpstr>맑은 고딕</vt:lpstr>
      <vt:lpstr>Suseong Dotum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김동훈(학부생-AI빅데이터융합경영학과)</dc:creator>
  <cp:lastModifiedBy>김동훈(학부생-AI빅데이터융합경영학과)</cp:lastModifiedBy>
  <cp:revision>1</cp:revision>
  <dcterms:created xsi:type="dcterms:W3CDTF">2026-10-21T02:41:59Z</dcterms:created>
  <dcterms:modified xsi:type="dcterms:W3CDTF">2026-10-21T02:41:59Z</dcterms:modified>
</cp:coreProperties>
</file>